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48"/>
  </p:notesMasterIdLst>
  <p:sldIdLst>
    <p:sldId id="256" r:id="rId2"/>
    <p:sldId id="257" r:id="rId3"/>
    <p:sldId id="446" r:id="rId4"/>
    <p:sldId id="484" r:id="rId5"/>
    <p:sldId id="450" r:id="rId6"/>
    <p:sldId id="451" r:id="rId7"/>
    <p:sldId id="447" r:id="rId8"/>
    <p:sldId id="387" r:id="rId9"/>
    <p:sldId id="449" r:id="rId10"/>
    <p:sldId id="496" r:id="rId11"/>
    <p:sldId id="448" r:id="rId12"/>
    <p:sldId id="469" r:id="rId13"/>
    <p:sldId id="486" r:id="rId14"/>
    <p:sldId id="452" r:id="rId15"/>
    <p:sldId id="487" r:id="rId16"/>
    <p:sldId id="455" r:id="rId17"/>
    <p:sldId id="453" r:id="rId18"/>
    <p:sldId id="457" r:id="rId19"/>
    <p:sldId id="456" r:id="rId20"/>
    <p:sldId id="458" r:id="rId21"/>
    <p:sldId id="459" r:id="rId22"/>
    <p:sldId id="454" r:id="rId23"/>
    <p:sldId id="460" r:id="rId24"/>
    <p:sldId id="461" r:id="rId25"/>
    <p:sldId id="462" r:id="rId26"/>
    <p:sldId id="338" r:id="rId27"/>
    <p:sldId id="463" r:id="rId28"/>
    <p:sldId id="464" r:id="rId29"/>
    <p:sldId id="465" r:id="rId30"/>
    <p:sldId id="466" r:id="rId31"/>
    <p:sldId id="467" r:id="rId32"/>
    <p:sldId id="468" r:id="rId33"/>
    <p:sldId id="470" r:id="rId34"/>
    <p:sldId id="471" r:id="rId35"/>
    <p:sldId id="472" r:id="rId36"/>
    <p:sldId id="473" r:id="rId37"/>
    <p:sldId id="474" r:id="rId38"/>
    <p:sldId id="475" r:id="rId39"/>
    <p:sldId id="490" r:id="rId40"/>
    <p:sldId id="489" r:id="rId41"/>
    <p:sldId id="493" r:id="rId42"/>
    <p:sldId id="492" r:id="rId43"/>
    <p:sldId id="491" r:id="rId44"/>
    <p:sldId id="488" r:id="rId45"/>
    <p:sldId id="495" r:id="rId46"/>
    <p:sldId id="476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1418" autoAdjust="0"/>
  </p:normalViewPr>
  <p:slideViewPr>
    <p:cSldViewPr snapToGrid="0">
      <p:cViewPr varScale="1">
        <p:scale>
          <a:sx n="60" d="100"/>
          <a:sy n="60" d="100"/>
        </p:scale>
        <p:origin x="10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28.36565" units="1/cm"/>
          <inkml:channelProperty channel="Y" name="resolution" value="28.33948" units="1/cm"/>
        </inkml:channelProperties>
      </inkml:inkSource>
      <inkml:timestamp xml:id="ts0" timeString="2013-12-10T10:33:24.946"/>
    </inkml:context>
    <inkml:brush xml:id="br0">
      <inkml:brushProperty name="width" value="0.09701" units="cm"/>
      <inkml:brushProperty name="height" value="0.09701" units="cm"/>
      <inkml:brushProperty name="color" value="#008000"/>
      <inkml:brushProperty name="fitToCurve" value="1"/>
    </inkml:brush>
  </inkml:definitions>
  <inkml:trace contextRef="#ctx0" brushRef="#br0">0 124,'0'-24</inkml:trace>
  <inkml:trace contextRef="#ctx0" brushRef="#br0" timeOffset="390">1017 0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FC571F9-F8FD-417F-A9F3-A00B709E23E6}" type="datetimeFigureOut">
              <a:rPr lang="ar-SA" smtClean="0"/>
              <a:t>21/03/1448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943545C-7784-4C51-82AE-F075CA67E9A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9235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12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54775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D48AE-ED95-5340-C6A2-E6EBEC94B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1B56F8C9-0B5D-07E4-286C-5F57BD56B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23DCEA72-C9AE-FF2F-3304-AD47AC4A3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62D8424B-B926-BF44-4A10-7B8DFA87D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13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6402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14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80843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F5581-1249-C6DC-866C-83A6113D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A1147123-614B-8920-40D0-EB5C63963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73DB5E10-0470-1D41-1E08-5A326728D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7EEC968-12F3-804A-3972-4CF275764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15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61190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24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70798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C2FFA-2768-1CF2-DBC2-370630472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C0FC3864-C036-16BA-BB39-1A2984EC9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E6EB50DE-4F9C-4E94-4144-7ED8FA78F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CF7A052-AA6B-E3F5-40AA-C496EDC90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46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79564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392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4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63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8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8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0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7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D5BD1E-1131-49F5-94FE-55EDE838440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0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8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52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D5BD1E-1131-49F5-94FE-55EDE838440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42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21.wmf"/><Relationship Id="rId18" Type="http://schemas.openxmlformats.org/officeDocument/2006/relationships/image" Target="../media/image23.wmf"/><Relationship Id="rId26" Type="http://schemas.openxmlformats.org/officeDocument/2006/relationships/oleObject" Target="../embeddings/oleObject16.bin"/><Relationship Id="rId3" Type="http://schemas.openxmlformats.org/officeDocument/2006/relationships/image" Target="../media/image16.wmf"/><Relationship Id="rId21" Type="http://schemas.openxmlformats.org/officeDocument/2006/relationships/oleObject" Target="../embeddings/oleObject13.bin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7.bin"/><Relationship Id="rId17" Type="http://schemas.openxmlformats.org/officeDocument/2006/relationships/oleObject" Target="../embeddings/oleObject10.bin"/><Relationship Id="rId25" Type="http://schemas.openxmlformats.org/officeDocument/2006/relationships/image" Target="../media/image25.wmf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20" Type="http://schemas.openxmlformats.org/officeDocument/2006/relationships/oleObject" Target="../embeddings/oleObject12.bin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0.wmf"/><Relationship Id="rId24" Type="http://schemas.openxmlformats.org/officeDocument/2006/relationships/oleObject" Target="../embeddings/oleObject15.bin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23" Type="http://schemas.openxmlformats.org/officeDocument/2006/relationships/image" Target="../media/image24.wmf"/><Relationship Id="rId28" Type="http://schemas.openxmlformats.org/officeDocument/2006/relationships/customXml" Target="../ink/ink1.xml"/><Relationship Id="rId10" Type="http://schemas.openxmlformats.org/officeDocument/2006/relationships/oleObject" Target="../embeddings/oleObject6.bin"/><Relationship Id="rId19" Type="http://schemas.openxmlformats.org/officeDocument/2006/relationships/oleObject" Target="../embeddings/oleObject11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8.bin"/><Relationship Id="rId22" Type="http://schemas.openxmlformats.org/officeDocument/2006/relationships/oleObject" Target="../embeddings/oleObject14.bin"/><Relationship Id="rId27" Type="http://schemas.openxmlformats.org/officeDocument/2006/relationships/image" Target="../media/image26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B18A021-7845-E218-30C7-8328AEFE0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145" y="1605065"/>
            <a:ext cx="10927572" cy="263947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Pushdown Automata</a:t>
            </a:r>
            <a:b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PDAs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24693244-8064-CBC4-79A3-34C08CF421BD}"/>
              </a:ext>
            </a:extLst>
          </p:cNvPr>
          <p:cNvSpPr txBox="1"/>
          <p:nvPr/>
        </p:nvSpPr>
        <p:spPr>
          <a:xfrm>
            <a:off x="4860086" y="6312309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Rowaida</a:t>
            </a:r>
            <a:r>
              <a:rPr lang="en-US" sz="2400" b="1" dirty="0"/>
              <a:t> AL-Amri 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A0842748-48A6-7631-2E2C-5CCBEF0E0E48}"/>
              </a:ext>
            </a:extLst>
          </p:cNvPr>
          <p:cNvSpPr txBox="1"/>
          <p:nvPr/>
        </p:nvSpPr>
        <p:spPr>
          <a:xfrm>
            <a:off x="2878282" y="4724424"/>
            <a:ext cx="6213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7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9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5AC3CF1-7734-1385-72F8-845D4F25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Syllabus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52C0AC1-90A6-28F4-0125-775C09A23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pushdown automata(PDA)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Difference between pushdown automata and finite state </a:t>
            </a:r>
            <a:r>
              <a:rPr lang="ar-SA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Stack in pushdown automata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Push and pop operations in stack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Components of pushdown automata. 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23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11B90E8-E301-4685-9144-A8771068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47635"/>
            <a:ext cx="10058400" cy="838812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064D5EB-7B62-467B-B89A-76754F89E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26" y="1235242"/>
            <a:ext cx="11289764" cy="507512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Pushdown Automaton?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PDA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is a mathematical model of computation similar to a finite automaton, but it also has a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S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Pushdown Automaton</a:t>
            </a:r>
            <a:r>
              <a:rPr lang="ar-SA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way to implement a context free grammar in a similar way we design finite automata for regular grammar</a:t>
            </a:r>
          </a:p>
          <a:p>
            <a:pPr marL="546100" indent="-369888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it is more powerful than FA </a:t>
            </a:r>
          </a:p>
          <a:p>
            <a:pPr marL="546100" indent="-369888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FA has a very limited memory but PDA has more memory </a:t>
            </a:r>
          </a:p>
          <a:p>
            <a:pPr marL="546100" indent="-369888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PDA = FA+A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97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76C59-F141-11DF-3E97-9266B132D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3903345-8B37-C647-D205-E778FD6E2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47635"/>
            <a:ext cx="10058400" cy="838812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D496534-926F-640A-ADBF-E1C4345C4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26" y="1728317"/>
            <a:ext cx="11289764" cy="458204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stack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way we arrange elements one on top of another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stack </a:t>
            </a:r>
            <a:r>
              <a:rPr lang="ar-S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used to store an unlimited number of symbols. Consequently, a PDA can handle languages that require a stack, specifically</a:t>
            </a:r>
            <a:r>
              <a:rPr lang="ar-SA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Context-Free Languages (CFLs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6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stack does two basic operation 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PUSH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a new element is added at the top of the stack 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POP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top element of the stack is read and removed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Operation: No changes were made to the stack.</a:t>
            </a:r>
          </a:p>
          <a:p>
            <a:pPr>
              <a:lnSpc>
                <a:spcPct val="150000"/>
              </a:lnSpc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مجموعة 11">
            <a:extLst>
              <a:ext uri="{FF2B5EF4-FFF2-40B4-BE49-F238E27FC236}">
                <a16:creationId xmlns:a16="http://schemas.microsoft.com/office/drawing/2014/main" id="{870A242C-4416-CDDD-E516-AAC568639E82}"/>
              </a:ext>
            </a:extLst>
          </p:cNvPr>
          <p:cNvGrpSpPr/>
          <p:nvPr/>
        </p:nvGrpSpPr>
        <p:grpSpPr>
          <a:xfrm>
            <a:off x="9388510" y="4006413"/>
            <a:ext cx="1616374" cy="1838626"/>
            <a:chOff x="244510" y="4903995"/>
            <a:chExt cx="1616374" cy="1838626"/>
          </a:xfrm>
        </p:grpSpPr>
        <p:grpSp>
          <p:nvGrpSpPr>
            <p:cNvPr id="9" name="مجموعة 8">
              <a:extLst>
                <a:ext uri="{FF2B5EF4-FFF2-40B4-BE49-F238E27FC236}">
                  <a16:creationId xmlns:a16="http://schemas.microsoft.com/office/drawing/2014/main" id="{DB9BD275-7AA3-13DC-3033-5B88422930FB}"/>
                </a:ext>
              </a:extLst>
            </p:cNvPr>
            <p:cNvGrpSpPr/>
            <p:nvPr/>
          </p:nvGrpSpPr>
          <p:grpSpPr>
            <a:xfrm>
              <a:off x="1066800" y="4940968"/>
              <a:ext cx="625642" cy="1369397"/>
              <a:chOff x="1066800" y="4940968"/>
              <a:chExt cx="625642" cy="1369397"/>
            </a:xfrm>
          </p:grpSpPr>
          <p:sp>
            <p:nvSpPr>
              <p:cNvPr id="4" name="مستطيل 3">
                <a:extLst>
                  <a:ext uri="{FF2B5EF4-FFF2-40B4-BE49-F238E27FC236}">
                    <a16:creationId xmlns:a16="http://schemas.microsoft.com/office/drawing/2014/main" id="{DD5D5A7D-BAFC-8162-1BF4-57F75539CA2D}"/>
                  </a:ext>
                </a:extLst>
              </p:cNvPr>
              <p:cNvSpPr/>
              <p:nvPr/>
            </p:nvSpPr>
            <p:spPr>
              <a:xfrm>
                <a:off x="1066800" y="4940968"/>
                <a:ext cx="625642" cy="1369397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/>
                  <a:t>C</a:t>
                </a:r>
              </a:p>
              <a:p>
                <a:pPr algn="ctr"/>
                <a:endParaRPr lang="en-US" sz="2000" b="1" dirty="0"/>
              </a:p>
              <a:p>
                <a:pPr algn="ctr"/>
                <a:r>
                  <a:rPr lang="en-US" sz="2000" b="1" dirty="0"/>
                  <a:t>b</a:t>
                </a:r>
              </a:p>
              <a:p>
                <a:pPr algn="ctr"/>
                <a:endParaRPr lang="en-US" sz="2000" b="1" dirty="0"/>
              </a:p>
              <a:p>
                <a:pPr algn="ctr"/>
                <a:r>
                  <a:rPr lang="en-US" sz="2000" b="1" dirty="0"/>
                  <a:t>a</a:t>
                </a:r>
              </a:p>
            </p:txBody>
          </p:sp>
          <p:cxnSp>
            <p:nvCxnSpPr>
              <p:cNvPr id="7" name="رابط مستقيم 6">
                <a:extLst>
                  <a:ext uri="{FF2B5EF4-FFF2-40B4-BE49-F238E27FC236}">
                    <a16:creationId xmlns:a16="http://schemas.microsoft.com/office/drawing/2014/main" id="{7922B624-B88E-A037-02C3-18694588A160}"/>
                  </a:ext>
                </a:extLst>
              </p:cNvPr>
              <p:cNvCxnSpPr/>
              <p:nvPr/>
            </p:nvCxnSpPr>
            <p:spPr>
              <a:xfrm>
                <a:off x="1066800" y="5293895"/>
                <a:ext cx="56949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رابط مستقيم 7">
                <a:extLst>
                  <a:ext uri="{FF2B5EF4-FFF2-40B4-BE49-F238E27FC236}">
                    <a16:creationId xmlns:a16="http://schemas.microsoft.com/office/drawing/2014/main" id="{A62D1825-7A92-FBCB-5C1D-B187266D8EE9}"/>
                  </a:ext>
                </a:extLst>
              </p:cNvPr>
              <p:cNvCxnSpPr/>
              <p:nvPr/>
            </p:nvCxnSpPr>
            <p:spPr>
              <a:xfrm>
                <a:off x="1066800" y="5887453"/>
                <a:ext cx="56949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" name="مربع نص 9">
              <a:extLst>
                <a:ext uri="{FF2B5EF4-FFF2-40B4-BE49-F238E27FC236}">
                  <a16:creationId xmlns:a16="http://schemas.microsoft.com/office/drawing/2014/main" id="{2756FEFB-D304-54D5-2A91-4542CD52848A}"/>
                </a:ext>
              </a:extLst>
            </p:cNvPr>
            <p:cNvSpPr txBox="1"/>
            <p:nvPr/>
          </p:nvSpPr>
          <p:spPr>
            <a:xfrm>
              <a:off x="898358" y="6280956"/>
              <a:ext cx="9625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stack</a:t>
              </a:r>
              <a:endParaRPr lang="en-US" b="1" dirty="0"/>
            </a:p>
          </p:txBody>
        </p:sp>
        <p:sp>
          <p:nvSpPr>
            <p:cNvPr id="11" name="مربع نص 10">
              <a:extLst>
                <a:ext uri="{FF2B5EF4-FFF2-40B4-BE49-F238E27FC236}">
                  <a16:creationId xmlns:a16="http://schemas.microsoft.com/office/drawing/2014/main" id="{07CA5EE9-359D-99A6-59D2-21CF3988D14D}"/>
                </a:ext>
              </a:extLst>
            </p:cNvPr>
            <p:cNvSpPr txBox="1"/>
            <p:nvPr/>
          </p:nvSpPr>
          <p:spPr>
            <a:xfrm>
              <a:off x="244510" y="4903995"/>
              <a:ext cx="9625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Top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6090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D7E35-989D-5505-D283-C889BDD2C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370F6F4-0903-26D4-8A79-FC0E91C90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8229"/>
            <a:ext cx="10058400" cy="838812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stack?</a:t>
            </a:r>
            <a:endParaRPr 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448D032-D226-FED5-AB3B-75260C523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26" y="1132114"/>
            <a:ext cx="11289764" cy="517825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stack is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 structure that operates according to the principle : 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LIFO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 In, First Out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is : </a:t>
            </a:r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last element to be added is the first element to be remove</a:t>
            </a:r>
            <a:endParaRPr lang="ar-SA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basic operations in Stack.</a:t>
            </a:r>
            <a:endParaRPr lang="ar-S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Push: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a token to the stack. </a:t>
            </a:r>
          </a:p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pop: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the token at the top of the stack.</a:t>
            </a:r>
          </a:p>
          <a:p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Exp:</a:t>
            </a:r>
            <a:r>
              <a:rPr lang="ar-SA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we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SA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ar-SA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  <a:r>
              <a:rPr lang="ar-SA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= ABC</a:t>
            </a:r>
            <a:r>
              <a:rPr lang="ar-SA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and</a:t>
            </a:r>
            <a:endParaRPr lang="ar-SA" sz="2400" dirty="0"/>
          </a:p>
          <a:p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top element is: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ar-SA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a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operation, the following will be removed: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first.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657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54BC75E8-E4D0-D333-DA88-389809038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577931"/>
            <a:ext cx="7283734" cy="3861586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5A65A6C6-F754-4883-975C-7A8A278C42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760" r="42671" b="5364"/>
          <a:stretch>
            <a:fillRect/>
          </a:stretch>
        </p:blipFill>
        <p:spPr>
          <a:xfrm>
            <a:off x="6850597" y="1842826"/>
            <a:ext cx="5116813" cy="2665898"/>
          </a:xfrm>
          <a:prstGeom prst="rect">
            <a:avLst/>
          </a:prstGeom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B7898CB4-B74C-BD09-F246-A7EB9F451126}"/>
              </a:ext>
            </a:extLst>
          </p:cNvPr>
          <p:cNvSpPr txBox="1"/>
          <p:nvPr/>
        </p:nvSpPr>
        <p:spPr>
          <a:xfrm>
            <a:off x="417095" y="0"/>
            <a:ext cx="6866640" cy="2334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Pushdown Automaton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three component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an input tape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a finite control unit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 a stack with infinite size </a:t>
            </a:r>
          </a:p>
        </p:txBody>
      </p:sp>
    </p:spTree>
    <p:extLst>
      <p:ext uri="{BB962C8B-B14F-4D97-AF65-F5344CB8AC3E}">
        <p14:creationId xmlns:p14="http://schemas.microsoft.com/office/powerpoint/2010/main" val="2982032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782C2-E484-3F13-9BB3-8CACD90F5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B1B73FA-F3F7-08AA-6CFE-A0D9DF062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a PDA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015D4AF-F3C5-7E63-1D1D-BA0275579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26" y="1728317"/>
            <a:ext cx="11289764" cy="45820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PDA is mathematically defined using seven elements:</a:t>
            </a:r>
            <a:endParaRPr lang="ar-SA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ar-S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l-GR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M=(Q,Σ,Γ,δ,q0​,Z0​,F)</a:t>
            </a:r>
            <a:endParaRPr lang="ar-SA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41300">
              <a:buFont typeface="+mj-lt"/>
              <a:buAutoNum type="arabicPeriod"/>
            </a:pPr>
            <a:r>
              <a:rPr lang="el-G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ar-S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 of States</a:t>
            </a:r>
            <a:r>
              <a:rPr lang="ar-S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41300">
              <a:buFont typeface="+mj-lt"/>
              <a:buAutoNum type="arabicPeriod"/>
            </a:pPr>
            <a:r>
              <a:rPr lang="el-G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ar-S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Alphabet</a:t>
            </a:r>
            <a:endParaRPr lang="ar-S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41300">
              <a:buFont typeface="+mj-lt"/>
              <a:buAutoNum type="arabicPeriod"/>
            </a:pPr>
            <a:r>
              <a:rPr lang="el-G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ar-S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Stack Alphabet</a:t>
            </a:r>
            <a:r>
              <a:rPr lang="ar-S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241300">
              <a:buFont typeface="+mj-lt"/>
              <a:buAutoNum type="arabicPeriod"/>
            </a:pPr>
            <a:r>
              <a:rPr lang="el-G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ar-S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Transition Function</a:t>
            </a:r>
            <a:r>
              <a:rPr lang="ar-S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Symbol</a:t>
            </a:r>
            <a:endParaRPr lang="ar-S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41300">
              <a:buFont typeface="+mj-lt"/>
              <a:buAutoNum type="arabicPeriod"/>
            </a:pPr>
            <a:r>
              <a:rPr lang="el-G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q0​</a:t>
            </a:r>
            <a:r>
              <a:rPr lang="ar-S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Initial State</a:t>
            </a:r>
            <a:r>
              <a:rPr lang="ar-S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241300">
              <a:buFont typeface="+mj-lt"/>
              <a:buAutoNum type="arabicPeriod"/>
            </a:pPr>
            <a:r>
              <a:rPr lang="el-G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Z0</a:t>
            </a:r>
            <a:r>
              <a:rPr lang="ar-S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Initial Stack </a:t>
            </a:r>
          </a:p>
          <a:p>
            <a:pPr marL="514350" indent="-241300">
              <a:buFont typeface="+mj-lt"/>
              <a:buAutoNum type="arabicPeriod"/>
            </a:pPr>
            <a:endParaRPr lang="ar-S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41300">
              <a:buFont typeface="+mj-lt"/>
              <a:buAutoNum type="arabicPeriod"/>
            </a:pPr>
            <a:r>
              <a:rPr lang="el-G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ar-S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 of Acceptance States</a:t>
            </a:r>
            <a:endParaRPr lang="ar-S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ar-SA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215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عنصر نائب لرقم الشريحة 4">
            <a:extLst>
              <a:ext uri="{FF2B5EF4-FFF2-40B4-BE49-F238E27FC236}">
                <a16:creationId xmlns:a16="http://schemas.microsoft.com/office/drawing/2014/main" id="{FC5C8C46-9005-9044-A883-0616C0A8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D2EE5592-5D0E-43A4-8647-398A52780B18}" type="slidenum">
              <a:rPr lang="ar-SA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FA0BC891-F7F5-45A1-B41F-A1431B8407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677011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chemeClr val="accent2"/>
                </a:solidFill>
              </a:rPr>
              <a:t>Formal Definition</a:t>
            </a:r>
          </a:p>
        </p:txBody>
      </p:sp>
      <p:sp>
        <p:nvSpPr>
          <p:cNvPr id="98308" name="Text Box 3">
            <a:extLst>
              <a:ext uri="{FF2B5EF4-FFF2-40B4-BE49-F238E27FC236}">
                <a16:creationId xmlns:a16="http://schemas.microsoft.com/office/drawing/2014/main" id="{63A1BE8E-5A6C-C9CB-A7C4-A950CF856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140456"/>
            <a:ext cx="5384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dirty="0"/>
              <a:t>Pushdown Automaton (PDA)</a:t>
            </a:r>
          </a:p>
        </p:txBody>
      </p:sp>
      <p:graphicFrame>
        <p:nvGraphicFramePr>
          <p:cNvPr id="98309" name="Object 4">
            <a:extLst>
              <a:ext uri="{FF2B5EF4-FFF2-40B4-BE49-F238E27FC236}">
                <a16:creationId xmlns:a16="http://schemas.microsoft.com/office/drawing/2014/main" id="{452A7984-49FB-FFA2-0913-B0DE8ED0DB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2286001"/>
          <a:ext cx="51308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30800" imgH="584200" progId="Equation.3">
                  <p:embed/>
                </p:oleObj>
              </mc:Choice>
              <mc:Fallback>
                <p:oleObj name="Equation" r:id="rId2" imgW="5130800" imgH="584200" progId="Equation.3">
                  <p:embed/>
                  <p:pic>
                    <p:nvPicPr>
                      <p:cNvPr id="98309" name="Object 4">
                        <a:extLst>
                          <a:ext uri="{FF2B5EF4-FFF2-40B4-BE49-F238E27FC236}">
                            <a16:creationId xmlns:a16="http://schemas.microsoft.com/office/drawing/2014/main" id="{452A7984-49FB-FFA2-0913-B0DE8ED0DB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286001"/>
                        <a:ext cx="51308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0" name="Line 5">
            <a:extLst>
              <a:ext uri="{FF2B5EF4-FFF2-40B4-BE49-F238E27FC236}">
                <a16:creationId xmlns:a16="http://schemas.microsoft.com/office/drawing/2014/main" id="{C3DB44B2-759C-C5CA-2BDB-1D48FBB6C0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2895600"/>
            <a:ext cx="10668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8311" name="Line 6">
            <a:extLst>
              <a:ext uri="{FF2B5EF4-FFF2-40B4-BE49-F238E27FC236}">
                <a16:creationId xmlns:a16="http://schemas.microsoft.com/office/drawing/2014/main" id="{874821A2-7930-CF2F-D5BE-20BEECF955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2819400"/>
            <a:ext cx="2057400" cy="1676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8312" name="Line 7">
            <a:extLst>
              <a:ext uri="{FF2B5EF4-FFF2-40B4-BE49-F238E27FC236}">
                <a16:creationId xmlns:a16="http://schemas.microsoft.com/office/drawing/2014/main" id="{82EFDC17-E3E5-BE66-BE49-53F407F4C2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2819400"/>
            <a:ext cx="1600200" cy="2438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8313" name="Line 8">
            <a:extLst>
              <a:ext uri="{FF2B5EF4-FFF2-40B4-BE49-F238E27FC236}">
                <a16:creationId xmlns:a16="http://schemas.microsoft.com/office/drawing/2014/main" id="{4E46EB05-7351-2DBC-A484-C93B9E9B2A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819400"/>
            <a:ext cx="152400" cy="2286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8314" name="Line 9">
            <a:extLst>
              <a:ext uri="{FF2B5EF4-FFF2-40B4-BE49-F238E27FC236}">
                <a16:creationId xmlns:a16="http://schemas.microsoft.com/office/drawing/2014/main" id="{89108CEB-D7F3-599E-F542-55CE31AC73A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48600" y="2743200"/>
            <a:ext cx="1676400" cy="1600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8315" name="Line 10">
            <a:extLst>
              <a:ext uri="{FF2B5EF4-FFF2-40B4-BE49-F238E27FC236}">
                <a16:creationId xmlns:a16="http://schemas.microsoft.com/office/drawing/2014/main" id="{9AD6030B-69C1-6674-6F9B-A7C7FBB4527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82000" y="2743200"/>
            <a:ext cx="9144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8316" name="Text Box 11">
            <a:extLst>
              <a:ext uri="{FF2B5EF4-FFF2-40B4-BE49-F238E27FC236}">
                <a16:creationId xmlns:a16="http://schemas.microsoft.com/office/drawing/2014/main" id="{A5E5533B-1604-351F-9E49-63BFF213D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276600"/>
            <a:ext cx="1479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States</a:t>
            </a:r>
          </a:p>
        </p:txBody>
      </p:sp>
      <p:sp>
        <p:nvSpPr>
          <p:cNvPr id="98317" name="Text Box 12">
            <a:extLst>
              <a:ext uri="{FF2B5EF4-FFF2-40B4-BE49-F238E27FC236}">
                <a16:creationId xmlns:a16="http://schemas.microsoft.com/office/drawing/2014/main" id="{4A40691C-1928-9E30-C672-191382B8C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4267200"/>
            <a:ext cx="1835759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Input</a:t>
            </a:r>
          </a:p>
          <a:p>
            <a:r>
              <a:rPr lang="en-US" altLang="en-US"/>
              <a:t>alphabet</a:t>
            </a:r>
          </a:p>
        </p:txBody>
      </p:sp>
      <p:sp>
        <p:nvSpPr>
          <p:cNvPr id="98318" name="Text Box 13">
            <a:extLst>
              <a:ext uri="{FF2B5EF4-FFF2-40B4-BE49-F238E27FC236}">
                <a16:creationId xmlns:a16="http://schemas.microsoft.com/office/drawing/2014/main" id="{90745D57-4401-8FAA-082C-0A5B5F300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1" y="5334000"/>
            <a:ext cx="1835759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Stack</a:t>
            </a:r>
          </a:p>
          <a:p>
            <a:r>
              <a:rPr lang="en-US" altLang="en-US"/>
              <a:t>alphabet</a:t>
            </a:r>
          </a:p>
        </p:txBody>
      </p:sp>
      <p:sp>
        <p:nvSpPr>
          <p:cNvPr id="98319" name="Text Box 14">
            <a:extLst>
              <a:ext uri="{FF2B5EF4-FFF2-40B4-BE49-F238E27FC236}">
                <a16:creationId xmlns:a16="http://schemas.microsoft.com/office/drawing/2014/main" id="{D538EC0A-8E21-038A-F6B6-F88131740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1" y="5029200"/>
            <a:ext cx="2141933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Transition</a:t>
            </a:r>
          </a:p>
          <a:p>
            <a:r>
              <a:rPr lang="en-US" altLang="en-US"/>
              <a:t>function</a:t>
            </a:r>
          </a:p>
        </p:txBody>
      </p:sp>
      <p:sp>
        <p:nvSpPr>
          <p:cNvPr id="98320" name="Text Box 15">
            <a:extLst>
              <a:ext uri="{FF2B5EF4-FFF2-40B4-BE49-F238E27FC236}">
                <a16:creationId xmlns:a16="http://schemas.microsoft.com/office/drawing/2014/main" id="{153E3987-FAD4-4F5F-E928-6EA52C990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2588" y="2514600"/>
            <a:ext cx="1407758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Final</a:t>
            </a:r>
          </a:p>
          <a:p>
            <a:r>
              <a:rPr lang="en-US" altLang="en-US"/>
              <a:t>states</a:t>
            </a:r>
          </a:p>
        </p:txBody>
      </p:sp>
      <p:sp>
        <p:nvSpPr>
          <p:cNvPr id="98321" name="Text Box 16">
            <a:extLst>
              <a:ext uri="{FF2B5EF4-FFF2-40B4-BE49-F238E27FC236}">
                <a16:creationId xmlns:a16="http://schemas.microsoft.com/office/drawing/2014/main" id="{DA84A75A-5F11-59C2-347B-738C5AC77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4325" y="4445001"/>
            <a:ext cx="1489510" cy="176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Stack</a:t>
            </a:r>
          </a:p>
          <a:p>
            <a:r>
              <a:rPr lang="en-US" altLang="en-US"/>
              <a:t>start</a:t>
            </a:r>
          </a:p>
          <a:p>
            <a:r>
              <a:rPr lang="en-US" altLang="en-US"/>
              <a:t>symbol</a:t>
            </a:r>
          </a:p>
        </p:txBody>
      </p:sp>
      <p:sp>
        <p:nvSpPr>
          <p:cNvPr id="98322" name="Text Box 17">
            <a:extLst>
              <a:ext uri="{FF2B5EF4-FFF2-40B4-BE49-F238E27FC236}">
                <a16:creationId xmlns:a16="http://schemas.microsoft.com/office/drawing/2014/main" id="{965DB022-D64C-D5D4-B735-DCC6F4F1E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5105400"/>
            <a:ext cx="1370888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Initial</a:t>
            </a:r>
          </a:p>
          <a:p>
            <a:r>
              <a:rPr lang="en-US" altLang="en-US"/>
              <a:t>state</a:t>
            </a:r>
          </a:p>
        </p:txBody>
      </p:sp>
      <p:sp>
        <p:nvSpPr>
          <p:cNvPr id="98323" name="Line 18">
            <a:extLst>
              <a:ext uri="{FF2B5EF4-FFF2-40B4-BE49-F238E27FC236}">
                <a16:creationId xmlns:a16="http://schemas.microsoft.com/office/drawing/2014/main" id="{ADC45AA0-D7E7-EA7E-BDDC-E9FA365D52D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62800" y="2895600"/>
            <a:ext cx="990600" cy="2209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55304-4872-FB61-2BA0-BEBB6AF70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4A67424-978F-CD3E-6D08-054AFA69B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01118"/>
            <a:ext cx="10058400" cy="7003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an FA and a PDA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88865CC-E06A-3C4B-A3EF-8B8AA4147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26" y="2220685"/>
            <a:ext cx="11289764" cy="40896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DFA, the transition depends on:</a:t>
            </a:r>
          </a:p>
          <a:p>
            <a:pPr algn="ctr"/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 State + Input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Whereas in a PDA:</a:t>
            </a:r>
          </a:p>
          <a:p>
            <a:pPr algn="ctr"/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 State + Input + Stack Top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is the main reason for the PDA’s power compared to DFAs and NFAs.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849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ABBCD-D93D-64D2-5B44-0D05A62F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30443DE-76A3-1BBD-C69F-D7D40706A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01118"/>
            <a:ext cx="10058400" cy="7003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PDAs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C15AC80-6439-7A1C-0ED5-506D923B2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16" y="1716505"/>
            <a:ext cx="11674774" cy="459385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main types: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Deterministic PDA (DPDA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state, there is a single, well-defined transition.</a:t>
            </a:r>
          </a:p>
          <a:p>
            <a:pPr>
              <a:lnSpc>
                <a:spcPct val="160000"/>
              </a:lnSpc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Non-Deterministic PDA (NPDA)</a:t>
            </a:r>
          </a:p>
          <a:p>
            <a:pPr>
              <a:lnSpc>
                <a:spcPct val="16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may be more than one possible transition from the same state.</a:t>
            </a:r>
          </a:p>
          <a:p>
            <a:pPr>
              <a:lnSpc>
                <a:spcPct val="16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NPDA is more powerful than the DPDA in recognizing certain 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context-free languages.</a:t>
            </a:r>
          </a:p>
        </p:txBody>
      </p:sp>
    </p:spTree>
    <p:extLst>
      <p:ext uri="{BB962C8B-B14F-4D97-AF65-F5344CB8AC3E}">
        <p14:creationId xmlns:p14="http://schemas.microsoft.com/office/powerpoint/2010/main" val="2328826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8C89A-308E-48CF-4A16-9EE69F5C3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1332169-742B-C326-7241-784C36A0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a PDA?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9DF4BFF-0A10-42B8-1C95-4103BEA96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26" y="1728317"/>
            <a:ext cx="11289764" cy="4582048"/>
          </a:xfrm>
        </p:spPr>
        <p:txBody>
          <a:bodyPr>
            <a:normAutofit/>
          </a:bodyPr>
          <a:lstStyle/>
          <a:p>
            <a:r>
              <a:rPr 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L={a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∣ n≥1}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as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aaabbb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endParaRPr lang="ar-SA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need to make sure that the number of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a's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equals the number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b’s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DFA cannot keep track of the number of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a's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has read.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a PDA can : 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reading an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places each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SA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676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72847-A785-22EC-D3CD-800B5D4A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6290BA8-955C-EED8-DC55-BAA8792D9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 in a PDA</a:t>
            </a:r>
            <a:r>
              <a:rPr lang="ar-SA" sz="5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3EBBA00-0E6F-AA22-4B87-884BD5F38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31" y="1125416"/>
            <a:ext cx="11525459" cy="532351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PDA transition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represented as follows:</a:t>
            </a:r>
            <a:endParaRPr lang="ar-S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δ(q,a,X)=(p,γ)</a:t>
            </a:r>
            <a:endParaRPr lang="ar-SA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means:</a:t>
            </a:r>
            <a:r>
              <a:rPr lang="ar-SA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machine is in state q, reads the symbol a, and the top of the stack is X, then transition to state p and replace X with the string gamma.</a:t>
            </a:r>
            <a:endParaRPr lang="ar-S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r-SA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SA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l-PL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δ(q0​,a,Z0​)=(q0​,AZ0​)</a:t>
            </a:r>
            <a:r>
              <a:rPr lang="ar-SA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Z0​→AZ0​</a:t>
            </a:r>
            <a:r>
              <a:rPr lang="ar-SA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state: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q0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read: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of the stack: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Z0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move to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q0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push A onto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Z0</a:t>
            </a:r>
            <a:r>
              <a:rPr lang="ar-SA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9571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042EB-9E36-2BDB-E732-494E5C3D0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EAC35F6-55FC-E764-7937-FAADF4029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 in a PDA</a:t>
            </a:r>
            <a:r>
              <a:rPr lang="ar-SA" sz="5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91A3F19-7BF7-1203-2D3A-99F7ED603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31" y="1125416"/>
            <a:ext cx="11525459" cy="532351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PDA transition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represented as follows:</a:t>
            </a:r>
            <a:endParaRPr lang="ar-S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δ(q,a,X)=(p,γ)</a:t>
            </a:r>
          </a:p>
          <a:p>
            <a:r>
              <a:rPr lang="pt-BR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stste in </a:t>
            </a:r>
            <a:r>
              <a:rPr lang="pt-BR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  <a:p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pt-B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either an input symbol in </a:t>
            </a:r>
            <a:r>
              <a:rPr lang="el-GR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a=</a:t>
            </a:r>
            <a:r>
              <a:rPr lang="pt-BR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empety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pt-B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stake symbol that is a member of </a:t>
            </a:r>
            <a:r>
              <a:rPr lang="el-GR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endParaRPr 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δ is finite set of pairs</a:t>
            </a:r>
            <a:r>
              <a:rPr lang="pt-B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(p,γ)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:</a:t>
            </a:r>
          </a:p>
          <a:p>
            <a:pPr marL="352425" indent="-352425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s new state </a:t>
            </a:r>
          </a:p>
          <a:p>
            <a:pPr marL="352425" indent="-352425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straing of saack symbols that replaces X at the top of the stack </a:t>
            </a:r>
          </a:p>
          <a:p>
            <a:pPr marL="801688" indent="-801688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pt-BR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 = ɛ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the sack is popped </a:t>
            </a:r>
          </a:p>
          <a:p>
            <a:pPr marL="801688" indent="-801688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pt-BR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 = X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the sack is unchanged </a:t>
            </a:r>
          </a:p>
          <a:p>
            <a:pPr marL="801688" indent="-801688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pt-BR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 = yZ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pt-BR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repllacced by </a:t>
            </a:r>
            <a:r>
              <a:rPr lang="pt-BR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pt-BR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push onto the stack</a:t>
            </a:r>
            <a:endParaRPr lang="ar-S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6873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3F53D70B-E634-47CE-6DE3-618677037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057" y="130628"/>
            <a:ext cx="10305143" cy="608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88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5D589-CE96-1024-D68C-F1F3F0AB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3E84A51-BB2F-1E55-9954-83D220414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Graphical notation </a:t>
            </a:r>
            <a:endParaRPr lang="ar-SA" sz="5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B0FF5E4-3BDC-80CB-B6B9-C25F16A9B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31" y="1125416"/>
            <a:ext cx="11525459" cy="5323510"/>
          </a:xfrm>
        </p:spPr>
        <p:txBody>
          <a:bodyPr>
            <a:normAutofit/>
          </a:bodyPr>
          <a:lstStyle/>
          <a:p>
            <a:r>
              <a:rPr lang="pt-BR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atomata </a:t>
            </a:r>
          </a:p>
          <a:p>
            <a:pPr marL="0" indent="0">
              <a:buNone/>
            </a:pPr>
            <a:endParaRPr lang="pt-BR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Pushdown Automata</a:t>
            </a:r>
          </a:p>
          <a:p>
            <a:endParaRPr lang="pt-BR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grpSp>
        <p:nvGrpSpPr>
          <p:cNvPr id="16" name="مجموعة 15">
            <a:extLst>
              <a:ext uri="{FF2B5EF4-FFF2-40B4-BE49-F238E27FC236}">
                <a16:creationId xmlns:a16="http://schemas.microsoft.com/office/drawing/2014/main" id="{07C44298-F12A-30EA-D180-64890E7FCCDE}"/>
              </a:ext>
            </a:extLst>
          </p:cNvPr>
          <p:cNvGrpSpPr/>
          <p:nvPr/>
        </p:nvGrpSpPr>
        <p:grpSpPr>
          <a:xfrm>
            <a:off x="505325" y="1380499"/>
            <a:ext cx="2245894" cy="609964"/>
            <a:chOff x="689811" y="3127847"/>
            <a:chExt cx="2245894" cy="609964"/>
          </a:xfrm>
        </p:grpSpPr>
        <p:cxnSp>
          <p:nvCxnSpPr>
            <p:cNvPr id="9" name="رابط كسهم مستقيم 8">
              <a:extLst>
                <a:ext uri="{FF2B5EF4-FFF2-40B4-BE49-F238E27FC236}">
                  <a16:creationId xmlns:a16="http://schemas.microsoft.com/office/drawing/2014/main" id="{4DD0A850-7A08-9632-9EA5-1AA04DCAC5A0}"/>
                </a:ext>
              </a:extLst>
            </p:cNvPr>
            <p:cNvCxnSpPr>
              <a:endCxn id="7" idx="2"/>
            </p:cNvCxnSpPr>
            <p:nvPr/>
          </p:nvCxnSpPr>
          <p:spPr>
            <a:xfrm>
              <a:off x="1251284" y="3481137"/>
              <a:ext cx="11229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" name="مجموعة 10">
              <a:extLst>
                <a:ext uri="{FF2B5EF4-FFF2-40B4-BE49-F238E27FC236}">
                  <a16:creationId xmlns:a16="http://schemas.microsoft.com/office/drawing/2014/main" id="{713F3B42-99FB-E089-CDC8-328F9215E2C0}"/>
                </a:ext>
              </a:extLst>
            </p:cNvPr>
            <p:cNvGrpSpPr/>
            <p:nvPr/>
          </p:nvGrpSpPr>
          <p:grpSpPr>
            <a:xfrm>
              <a:off x="689811" y="3127847"/>
              <a:ext cx="2245894" cy="609964"/>
              <a:chOff x="689811" y="3127847"/>
              <a:chExt cx="2245894" cy="609964"/>
            </a:xfrm>
          </p:grpSpPr>
          <p:sp>
            <p:nvSpPr>
              <p:cNvPr id="6" name="شكل بيضاوي 5">
                <a:extLst>
                  <a:ext uri="{FF2B5EF4-FFF2-40B4-BE49-F238E27FC236}">
                    <a16:creationId xmlns:a16="http://schemas.microsoft.com/office/drawing/2014/main" id="{4A1D952D-6ABE-B9D8-3980-BE8C90248D2E}"/>
                  </a:ext>
                </a:extLst>
              </p:cNvPr>
              <p:cNvSpPr/>
              <p:nvPr/>
            </p:nvSpPr>
            <p:spPr>
              <a:xfrm>
                <a:off x="689811" y="3224463"/>
                <a:ext cx="561473" cy="513348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7" name="شكل بيضاوي 6">
                <a:extLst>
                  <a:ext uri="{FF2B5EF4-FFF2-40B4-BE49-F238E27FC236}">
                    <a16:creationId xmlns:a16="http://schemas.microsoft.com/office/drawing/2014/main" id="{33377507-79AD-CCE3-652A-F14F8747AEA4}"/>
                  </a:ext>
                </a:extLst>
              </p:cNvPr>
              <p:cNvSpPr/>
              <p:nvPr/>
            </p:nvSpPr>
            <p:spPr>
              <a:xfrm>
                <a:off x="2374232" y="3224463"/>
                <a:ext cx="561473" cy="513348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10" name="مربع نص 9">
                <a:extLst>
                  <a:ext uri="{FF2B5EF4-FFF2-40B4-BE49-F238E27FC236}">
                    <a16:creationId xmlns:a16="http://schemas.microsoft.com/office/drawing/2014/main" id="{2452611E-46DF-485E-009B-20E1FAAADB5F}"/>
                  </a:ext>
                </a:extLst>
              </p:cNvPr>
              <p:cNvSpPr txBox="1"/>
              <p:nvPr/>
            </p:nvSpPr>
            <p:spPr>
              <a:xfrm>
                <a:off x="1379621" y="3127847"/>
                <a:ext cx="2727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</p:grpSp>
      </p:grpSp>
      <p:grpSp>
        <p:nvGrpSpPr>
          <p:cNvPr id="64" name="مجموعة 63">
            <a:extLst>
              <a:ext uri="{FF2B5EF4-FFF2-40B4-BE49-F238E27FC236}">
                <a16:creationId xmlns:a16="http://schemas.microsoft.com/office/drawing/2014/main" id="{585DF191-A753-BA0A-948D-5F33D34D5E0A}"/>
              </a:ext>
            </a:extLst>
          </p:cNvPr>
          <p:cNvGrpSpPr/>
          <p:nvPr/>
        </p:nvGrpSpPr>
        <p:grpSpPr>
          <a:xfrm>
            <a:off x="0" y="2836637"/>
            <a:ext cx="6239279" cy="3865791"/>
            <a:chOff x="0" y="2836637"/>
            <a:chExt cx="6239279" cy="3865791"/>
          </a:xfrm>
        </p:grpSpPr>
        <p:grpSp>
          <p:nvGrpSpPr>
            <p:cNvPr id="57" name="مجموعة 56">
              <a:extLst>
                <a:ext uri="{FF2B5EF4-FFF2-40B4-BE49-F238E27FC236}">
                  <a16:creationId xmlns:a16="http://schemas.microsoft.com/office/drawing/2014/main" id="{FEBE9DEC-04C8-35F8-7935-C07879258A83}"/>
                </a:ext>
              </a:extLst>
            </p:cNvPr>
            <p:cNvGrpSpPr/>
            <p:nvPr/>
          </p:nvGrpSpPr>
          <p:grpSpPr>
            <a:xfrm>
              <a:off x="0" y="2836637"/>
              <a:ext cx="6239279" cy="3865791"/>
              <a:chOff x="-14942" y="3544061"/>
              <a:chExt cx="6239279" cy="3865791"/>
            </a:xfrm>
          </p:grpSpPr>
          <p:grpSp>
            <p:nvGrpSpPr>
              <p:cNvPr id="32" name="مجموعة 31">
                <a:extLst>
                  <a:ext uri="{FF2B5EF4-FFF2-40B4-BE49-F238E27FC236}">
                    <a16:creationId xmlns:a16="http://schemas.microsoft.com/office/drawing/2014/main" id="{0766EF97-0732-6724-7429-5F482163BC19}"/>
                  </a:ext>
                </a:extLst>
              </p:cNvPr>
              <p:cNvGrpSpPr/>
              <p:nvPr/>
            </p:nvGrpSpPr>
            <p:grpSpPr>
              <a:xfrm>
                <a:off x="762000" y="3544061"/>
                <a:ext cx="2245894" cy="609964"/>
                <a:chOff x="770022" y="4889646"/>
                <a:chExt cx="2245894" cy="609964"/>
              </a:xfrm>
            </p:grpSpPr>
            <p:grpSp>
              <p:nvGrpSpPr>
                <p:cNvPr id="17" name="مجموعة 16">
                  <a:extLst>
                    <a:ext uri="{FF2B5EF4-FFF2-40B4-BE49-F238E27FC236}">
                      <a16:creationId xmlns:a16="http://schemas.microsoft.com/office/drawing/2014/main" id="{4A213C60-FD4B-199E-6C80-478D312D26CF}"/>
                    </a:ext>
                  </a:extLst>
                </p:cNvPr>
                <p:cNvGrpSpPr/>
                <p:nvPr/>
              </p:nvGrpSpPr>
              <p:grpSpPr>
                <a:xfrm>
                  <a:off x="770022" y="4889646"/>
                  <a:ext cx="2245894" cy="609964"/>
                  <a:chOff x="689811" y="3127847"/>
                  <a:chExt cx="2245894" cy="609964"/>
                </a:xfrm>
              </p:grpSpPr>
              <p:cxnSp>
                <p:nvCxnSpPr>
                  <p:cNvPr id="18" name="رابط كسهم مستقيم 17">
                    <a:extLst>
                      <a:ext uri="{FF2B5EF4-FFF2-40B4-BE49-F238E27FC236}">
                        <a16:creationId xmlns:a16="http://schemas.microsoft.com/office/drawing/2014/main" id="{1328BAC8-7AC2-588B-1CEE-1F1F73F8B823}"/>
                      </a:ext>
                    </a:extLst>
                  </p:cNvPr>
                  <p:cNvCxnSpPr>
                    <a:endCxn id="21" idx="2"/>
                  </p:cNvCxnSpPr>
                  <p:nvPr/>
                </p:nvCxnSpPr>
                <p:spPr>
                  <a:xfrm>
                    <a:off x="1251284" y="3481137"/>
                    <a:ext cx="1122948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9" name="مجموعة 18">
                    <a:extLst>
                      <a:ext uri="{FF2B5EF4-FFF2-40B4-BE49-F238E27FC236}">
                        <a16:creationId xmlns:a16="http://schemas.microsoft.com/office/drawing/2014/main" id="{9EA2AB79-2238-27B8-E705-765008B00D45}"/>
                      </a:ext>
                    </a:extLst>
                  </p:cNvPr>
                  <p:cNvGrpSpPr/>
                  <p:nvPr/>
                </p:nvGrpSpPr>
                <p:grpSpPr>
                  <a:xfrm>
                    <a:off x="689811" y="3127847"/>
                    <a:ext cx="2245894" cy="609964"/>
                    <a:chOff x="689811" y="3127847"/>
                    <a:chExt cx="2245894" cy="609964"/>
                  </a:xfrm>
                </p:grpSpPr>
                <p:sp>
                  <p:nvSpPr>
                    <p:cNvPr id="20" name="شكل بيضاوي 19">
                      <a:extLst>
                        <a:ext uri="{FF2B5EF4-FFF2-40B4-BE49-F238E27FC236}">
                          <a16:creationId xmlns:a16="http://schemas.microsoft.com/office/drawing/2014/main" id="{40482BCB-9993-6139-4D00-3933A5EF40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9811" y="3224463"/>
                      <a:ext cx="561473" cy="51334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p:txBody>
                </p:sp>
                <p:sp>
                  <p:nvSpPr>
                    <p:cNvPr id="21" name="شكل بيضاوي 20">
                      <a:extLst>
                        <a:ext uri="{FF2B5EF4-FFF2-40B4-BE49-F238E27FC236}">
                          <a16:creationId xmlns:a16="http://schemas.microsoft.com/office/drawing/2014/main" id="{96D0A368-8C98-13F5-D609-A9EEE58CA1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74232" y="3224463"/>
                      <a:ext cx="561473" cy="51334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p:txBody>
                </p:sp>
                <p:sp>
                  <p:nvSpPr>
                    <p:cNvPr id="22" name="مربع نص 21">
                      <a:extLst>
                        <a:ext uri="{FF2B5EF4-FFF2-40B4-BE49-F238E27FC236}">
                          <a16:creationId xmlns:a16="http://schemas.microsoft.com/office/drawing/2014/main" id="{0D4D96CB-64F3-B2DA-A52C-ED8CAC939E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79620" y="3127847"/>
                      <a:ext cx="99461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a , b     c </a:t>
                      </a:r>
                    </a:p>
                  </p:txBody>
                </p:sp>
              </p:grpSp>
            </p:grpSp>
            <p:cxnSp>
              <p:nvCxnSpPr>
                <p:cNvPr id="30" name="رابط كسهم مستقيم 29">
                  <a:extLst>
                    <a:ext uri="{FF2B5EF4-FFF2-40B4-BE49-F238E27FC236}">
                      <a16:creationId xmlns:a16="http://schemas.microsoft.com/office/drawing/2014/main" id="{0201FE58-EDF9-7BB2-9CB1-E37AF7D4DC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73179" y="5082514"/>
                  <a:ext cx="20854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شكل بيضاوي 32">
                <a:extLst>
                  <a:ext uri="{FF2B5EF4-FFF2-40B4-BE49-F238E27FC236}">
                    <a16:creationId xmlns:a16="http://schemas.microsoft.com/office/drawing/2014/main" id="{369A7BD7-1EDE-8144-F5E5-194C7D466137}"/>
                  </a:ext>
                </a:extLst>
              </p:cNvPr>
              <p:cNvSpPr/>
              <p:nvPr/>
            </p:nvSpPr>
            <p:spPr>
              <a:xfrm>
                <a:off x="-14942" y="4981080"/>
                <a:ext cx="1997243" cy="64168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Input symbol </a:t>
                </a:r>
              </a:p>
            </p:txBody>
          </p:sp>
          <p:cxnSp>
            <p:nvCxnSpPr>
              <p:cNvPr id="37" name="موصل: على شكل مرفق 36">
                <a:extLst>
                  <a:ext uri="{FF2B5EF4-FFF2-40B4-BE49-F238E27FC236}">
                    <a16:creationId xmlns:a16="http://schemas.microsoft.com/office/drawing/2014/main" id="{C501F0C5-7BD0-163C-7B9E-29E1AE9CAC6E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rot="5400000">
                <a:off x="752082" y="4128950"/>
                <a:ext cx="1083728" cy="620532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شكل بيضاوي 38">
                <a:extLst>
                  <a:ext uri="{FF2B5EF4-FFF2-40B4-BE49-F238E27FC236}">
                    <a16:creationId xmlns:a16="http://schemas.microsoft.com/office/drawing/2014/main" id="{C4BFAF33-FD4B-F4BF-328B-10DA0BDAE738}"/>
                  </a:ext>
                </a:extLst>
              </p:cNvPr>
              <p:cNvSpPr/>
              <p:nvPr/>
            </p:nvSpPr>
            <p:spPr>
              <a:xfrm>
                <a:off x="3840145" y="4389870"/>
                <a:ext cx="2384192" cy="869108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This symbol is pushed onto the stack </a:t>
                </a:r>
              </a:p>
            </p:txBody>
          </p:sp>
          <p:sp>
            <p:nvSpPr>
              <p:cNvPr id="40" name="شكل بيضاوي 39">
                <a:extLst>
                  <a:ext uri="{FF2B5EF4-FFF2-40B4-BE49-F238E27FC236}">
                    <a16:creationId xmlns:a16="http://schemas.microsoft.com/office/drawing/2014/main" id="{751E42E3-927E-C39F-4358-6AB64265456D}"/>
                  </a:ext>
                </a:extLst>
              </p:cNvPr>
              <p:cNvSpPr/>
              <p:nvPr/>
            </p:nvSpPr>
            <p:spPr>
              <a:xfrm>
                <a:off x="1965157" y="4507832"/>
                <a:ext cx="1752601" cy="1668369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Symbol an top of the stack this symbol is popped </a:t>
                </a:r>
              </a:p>
            </p:txBody>
          </p:sp>
          <p:cxnSp>
            <p:nvCxnSpPr>
              <p:cNvPr id="42" name="موصل: على شكل مرفق 41">
                <a:extLst>
                  <a:ext uri="{FF2B5EF4-FFF2-40B4-BE49-F238E27FC236}">
                    <a16:creationId xmlns:a16="http://schemas.microsoft.com/office/drawing/2014/main" id="{3F6FD64B-1A16-C50E-60AE-985FDBFAA7D9}"/>
                  </a:ext>
                </a:extLst>
              </p:cNvPr>
              <p:cNvCxnSpPr>
                <a:cxnSpLocks/>
                <a:endCxn id="39" idx="0"/>
              </p:cNvCxnSpPr>
              <p:nvPr/>
            </p:nvCxnSpPr>
            <p:spPr>
              <a:xfrm>
                <a:off x="2173704" y="3640677"/>
                <a:ext cx="2858537" cy="749193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موصل: على شكل مرفق 46">
                <a:extLst>
                  <a:ext uri="{FF2B5EF4-FFF2-40B4-BE49-F238E27FC236}">
                    <a16:creationId xmlns:a16="http://schemas.microsoft.com/office/drawing/2014/main" id="{F139BA75-9401-E194-266C-D53AA877B7D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839413" y="3820615"/>
                <a:ext cx="869108" cy="826167"/>
              </a:xfrm>
              <a:prstGeom prst="bentConnector3">
                <a:avLst>
                  <a:gd name="adj1" fmla="val 62921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مربع نص 52">
                <a:extLst>
                  <a:ext uri="{FF2B5EF4-FFF2-40B4-BE49-F238E27FC236}">
                    <a16:creationId xmlns:a16="http://schemas.microsoft.com/office/drawing/2014/main" id="{0C37858B-232E-E920-9A27-04742D372670}"/>
                  </a:ext>
                </a:extLst>
              </p:cNvPr>
              <p:cNvSpPr txBox="1"/>
              <p:nvPr/>
            </p:nvSpPr>
            <p:spPr>
              <a:xfrm>
                <a:off x="201623" y="5984122"/>
                <a:ext cx="1411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Maybe </a:t>
                </a:r>
                <a:r>
                  <a:rPr lang="pt-BR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ɛ</a:t>
                </a:r>
                <a:r>
                  <a:rPr lang="en-US" dirty="0"/>
                  <a:t> </a:t>
                </a:r>
              </a:p>
            </p:txBody>
          </p:sp>
          <p:sp>
            <p:nvSpPr>
              <p:cNvPr id="54" name="مربع نص 53">
                <a:extLst>
                  <a:ext uri="{FF2B5EF4-FFF2-40B4-BE49-F238E27FC236}">
                    <a16:creationId xmlns:a16="http://schemas.microsoft.com/office/drawing/2014/main" id="{FE72ADA3-5AD0-BFF2-4669-66DCBC5E8554}"/>
                  </a:ext>
                </a:extLst>
              </p:cNvPr>
              <p:cNvSpPr txBox="1"/>
              <p:nvPr/>
            </p:nvSpPr>
            <p:spPr>
              <a:xfrm>
                <a:off x="2273967" y="6486522"/>
                <a:ext cx="17526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‘</a:t>
                </a:r>
                <a:r>
                  <a:rPr lang="pt-BR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ɛ</a:t>
                </a:r>
                <a:r>
                  <a:rPr lang="en-US" dirty="0"/>
                  <a:t>’ means the stack is neither read no popped   </a:t>
                </a:r>
              </a:p>
            </p:txBody>
          </p:sp>
        </p:grpSp>
        <p:cxnSp>
          <p:nvCxnSpPr>
            <p:cNvPr id="59" name="رابط كسهم مستقيم 58">
              <a:extLst>
                <a:ext uri="{FF2B5EF4-FFF2-40B4-BE49-F238E27FC236}">
                  <a16:creationId xmlns:a16="http://schemas.microsoft.com/office/drawing/2014/main" id="{01C4ACE6-371E-22E2-786E-F3F98C6B32C0}"/>
                </a:ext>
              </a:extLst>
            </p:cNvPr>
            <p:cNvCxnSpPr/>
            <p:nvPr/>
          </p:nvCxnSpPr>
          <p:spPr>
            <a:xfrm>
              <a:off x="3022836" y="5468777"/>
              <a:ext cx="0" cy="3545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رابط كسهم مستقيم 59">
              <a:extLst>
                <a:ext uri="{FF2B5EF4-FFF2-40B4-BE49-F238E27FC236}">
                  <a16:creationId xmlns:a16="http://schemas.microsoft.com/office/drawing/2014/main" id="{B6A178C7-B082-7028-2170-B9F96A6C8415}"/>
                </a:ext>
              </a:extLst>
            </p:cNvPr>
            <p:cNvCxnSpPr/>
            <p:nvPr/>
          </p:nvCxnSpPr>
          <p:spPr>
            <a:xfrm>
              <a:off x="751778" y="4915336"/>
              <a:ext cx="0" cy="3545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مربع نص 61">
              <a:extLst>
                <a:ext uri="{FF2B5EF4-FFF2-40B4-BE49-F238E27FC236}">
                  <a16:creationId xmlns:a16="http://schemas.microsoft.com/office/drawing/2014/main" id="{17B65204-436C-5EEA-C678-7EC7B7C58C0E}"/>
                </a:ext>
              </a:extLst>
            </p:cNvPr>
            <p:cNvSpPr txBox="1"/>
            <p:nvPr/>
          </p:nvSpPr>
          <p:spPr>
            <a:xfrm>
              <a:off x="4691324" y="4915336"/>
              <a:ext cx="133347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‘</a:t>
              </a:r>
              <a:r>
                <a:rPr lang="pt-BR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ɛ</a:t>
              </a:r>
              <a:r>
                <a:rPr lang="en-US" dirty="0"/>
                <a:t>’ means nothing  is pushed</a:t>
              </a:r>
            </a:p>
          </p:txBody>
        </p:sp>
        <p:cxnSp>
          <p:nvCxnSpPr>
            <p:cNvPr id="63" name="رابط كسهم مستقيم 62">
              <a:extLst>
                <a:ext uri="{FF2B5EF4-FFF2-40B4-BE49-F238E27FC236}">
                  <a16:creationId xmlns:a16="http://schemas.microsoft.com/office/drawing/2014/main" id="{4C454304-3ADF-950F-B5BE-F64956B5B1B4}"/>
                </a:ext>
              </a:extLst>
            </p:cNvPr>
            <p:cNvCxnSpPr/>
            <p:nvPr/>
          </p:nvCxnSpPr>
          <p:spPr>
            <a:xfrm>
              <a:off x="5235546" y="4576871"/>
              <a:ext cx="0" cy="3545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1726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6B1BC-1171-C7C2-3D01-D9C2B74E3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0D38DDE5-1D3D-5EED-69FC-984C2B679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971" y="116114"/>
            <a:ext cx="8128000" cy="590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536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E8BC7-73AF-1739-0BD6-9EDE1CE30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C0C4CECA-DDD4-2DA2-1C53-ACC7D3775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362856"/>
            <a:ext cx="10348686" cy="57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30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B3CC6-71DB-8B90-300A-A56CE1B4B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98DBAA1D-AD21-E230-C049-DDCB9ABA0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3534"/>
            <a:ext cx="10247086" cy="589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79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1C88-FDE3-9EC5-483C-6B2CB17F1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0A3D98B5-8ADD-060F-0406-5D95B6C7C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822" y="182880"/>
            <a:ext cx="10325686" cy="575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52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2AAE3-1E97-76DF-7700-003B411C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D5A0874B-9101-EFD0-9895-B426D57EF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686" y="520505"/>
            <a:ext cx="10227212" cy="541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90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C7908-85B9-A2F0-8A6E-EE53FEF1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B31A30D7-6A25-F178-86A4-E10F4B7A8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823" y="323557"/>
            <a:ext cx="10072466" cy="565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68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EEA77-D529-EABE-D71B-2749836E4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D848705D-65BA-D9F6-28B9-589BA56A8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05" y="675250"/>
            <a:ext cx="10396025" cy="540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35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CAC9-E911-72F2-4A8E-EA343592D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B13EBC82-D003-9D4A-A79C-135FDD3ED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4" y="436097"/>
            <a:ext cx="10466363" cy="545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5839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B91FD-8E37-068D-03E9-43275B203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FFED06CC-3F6E-7152-2C85-C7EAACE5D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618" y="182880"/>
            <a:ext cx="10339754" cy="56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87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80AE2-7BFA-AD06-D8E0-4BEA4C4D8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89F98C8C-EDD2-FED4-2C3A-68E0DB5E4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989" y="191201"/>
            <a:ext cx="10186737" cy="612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129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عنصر نائب لرقم الشريحة 3">
            <a:extLst>
              <a:ext uri="{FF2B5EF4-FFF2-40B4-BE49-F238E27FC236}">
                <a16:creationId xmlns:a16="http://schemas.microsoft.com/office/drawing/2014/main" id="{4E494876-DBD2-0745-64FA-E2030F472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2313F850-8BD2-4E29-B29C-94F2529FE85B}" type="slidenum">
              <a:rPr lang="ar-SA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3" name="Oval 2">
            <a:extLst>
              <a:ext uri="{FF2B5EF4-FFF2-40B4-BE49-F238E27FC236}">
                <a16:creationId xmlns:a16="http://schemas.microsoft.com/office/drawing/2014/main" id="{F2EA4A9D-E6E1-371C-2C90-01DA3EAB5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456249"/>
            <a:ext cx="609600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24" name="Line 3">
            <a:extLst>
              <a:ext uri="{FF2B5EF4-FFF2-40B4-BE49-F238E27FC236}">
                <a16:creationId xmlns:a16="http://schemas.microsoft.com/office/drawing/2014/main" id="{97CE8774-C461-3E3C-D1B4-B2B1D1531C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25" name="Line 4">
            <a:extLst>
              <a:ext uri="{FF2B5EF4-FFF2-40B4-BE49-F238E27FC236}">
                <a16:creationId xmlns:a16="http://schemas.microsoft.com/office/drawing/2014/main" id="{64EEDBDF-1D2D-0B21-3132-ED01A4A35F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26" name="Line 5">
            <a:extLst>
              <a:ext uri="{FF2B5EF4-FFF2-40B4-BE49-F238E27FC236}">
                <a16:creationId xmlns:a16="http://schemas.microsoft.com/office/drawing/2014/main" id="{FB86E5D5-53EC-3224-156A-AE9BDD3EA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27" name="Freeform 6">
            <a:extLst>
              <a:ext uri="{FF2B5EF4-FFF2-40B4-BE49-F238E27FC236}">
                <a16:creationId xmlns:a16="http://schemas.microsoft.com/office/drawing/2014/main" id="{8A414AA7-AE6D-01BB-4D68-BAF947CC78D2}"/>
              </a:ext>
            </a:extLst>
          </p:cNvPr>
          <p:cNvSpPr>
            <a:spLocks/>
          </p:cNvSpPr>
          <p:nvPr/>
        </p:nvSpPr>
        <p:spPr bwMode="auto">
          <a:xfrm>
            <a:off x="4511216" y="5145945"/>
            <a:ext cx="977900" cy="369332"/>
          </a:xfrm>
          <a:custGeom>
            <a:avLst/>
            <a:gdLst>
              <a:gd name="T0" fmla="*/ 330200 w 616"/>
              <a:gd name="T1" fmla="*/ 1066800 h 528"/>
              <a:gd name="T2" fmla="*/ 25400 w 616"/>
              <a:gd name="T3" fmla="*/ 290945 h 528"/>
              <a:gd name="T4" fmla="*/ 482600 w 616"/>
              <a:gd name="T5" fmla="*/ 0 h 528"/>
              <a:gd name="T6" fmla="*/ 939800 w 616"/>
              <a:gd name="T7" fmla="*/ 290945 h 528"/>
              <a:gd name="T8" fmla="*/ 711200 w 616"/>
              <a:gd name="T9" fmla="*/ 1066800 h 5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28" name="Freeform 7">
            <a:extLst>
              <a:ext uri="{FF2B5EF4-FFF2-40B4-BE49-F238E27FC236}">
                <a16:creationId xmlns:a16="http://schemas.microsoft.com/office/drawing/2014/main" id="{0366E6FC-F6BD-5754-B910-DA61C7ADF16E}"/>
              </a:ext>
            </a:extLst>
          </p:cNvPr>
          <p:cNvSpPr>
            <a:spLocks/>
          </p:cNvSpPr>
          <p:nvPr/>
        </p:nvSpPr>
        <p:spPr bwMode="auto">
          <a:xfrm>
            <a:off x="7097713" y="5145945"/>
            <a:ext cx="977900" cy="369332"/>
          </a:xfrm>
          <a:custGeom>
            <a:avLst/>
            <a:gdLst>
              <a:gd name="T0" fmla="*/ 330200 w 616"/>
              <a:gd name="T1" fmla="*/ 1066800 h 528"/>
              <a:gd name="T2" fmla="*/ 25400 w 616"/>
              <a:gd name="T3" fmla="*/ 290945 h 528"/>
              <a:gd name="T4" fmla="*/ 482600 w 616"/>
              <a:gd name="T5" fmla="*/ 0 h 528"/>
              <a:gd name="T6" fmla="*/ 939800 w 616"/>
              <a:gd name="T7" fmla="*/ 290945 h 528"/>
              <a:gd name="T8" fmla="*/ 711200 w 616"/>
              <a:gd name="T9" fmla="*/ 1066800 h 5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29" name="Line 8">
            <a:extLst>
              <a:ext uri="{FF2B5EF4-FFF2-40B4-BE49-F238E27FC236}">
                <a16:creationId xmlns:a16="http://schemas.microsoft.com/office/drawing/2014/main" id="{6FE96916-6E0A-E126-36C6-F5DE169AA4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586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30" name="Text Box 9">
            <a:extLst>
              <a:ext uri="{FF2B5EF4-FFF2-40B4-BE49-F238E27FC236}">
                <a16:creationId xmlns:a16="http://schemas.microsoft.com/office/drawing/2014/main" id="{364D1D7E-6278-9442-AADF-2E68C26AD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326" y="5221289"/>
            <a:ext cx="1847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31" name="Oval 10">
            <a:extLst>
              <a:ext uri="{FF2B5EF4-FFF2-40B4-BE49-F238E27FC236}">
                <a16:creationId xmlns:a16="http://schemas.microsoft.com/office/drawing/2014/main" id="{07074D8E-E19A-A425-45BC-DC8596E99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456249"/>
            <a:ext cx="609600" cy="822305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32" name="Oval 11">
            <a:extLst>
              <a:ext uri="{FF2B5EF4-FFF2-40B4-BE49-F238E27FC236}">
                <a16:creationId xmlns:a16="http://schemas.microsoft.com/office/drawing/2014/main" id="{5335F210-08FE-F450-C4C5-B91743A98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456249"/>
            <a:ext cx="762000" cy="82230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33" name="Oval 12">
            <a:extLst>
              <a:ext uri="{FF2B5EF4-FFF2-40B4-BE49-F238E27FC236}">
                <a16:creationId xmlns:a16="http://schemas.microsoft.com/office/drawing/2014/main" id="{24427BF0-4E2F-0C16-9C89-EE9020B63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456249"/>
            <a:ext cx="609600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34" name="Oval 13">
            <a:extLst>
              <a:ext uri="{FF2B5EF4-FFF2-40B4-BE49-F238E27FC236}">
                <a16:creationId xmlns:a16="http://schemas.microsoft.com/office/drawing/2014/main" id="{7A9E6DF5-8180-C5D6-CE0E-42BCAFBBE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2200" y="5456249"/>
            <a:ext cx="609600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35" name="Oval 14">
            <a:extLst>
              <a:ext uri="{FF2B5EF4-FFF2-40B4-BE49-F238E27FC236}">
                <a16:creationId xmlns:a16="http://schemas.microsoft.com/office/drawing/2014/main" id="{E9C4B881-D155-C2A8-2159-86F7BEE4E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0" y="5456249"/>
            <a:ext cx="762000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36" name="Object 15">
            <a:extLst>
              <a:ext uri="{FF2B5EF4-FFF2-40B4-BE49-F238E27FC236}">
                <a16:creationId xmlns:a16="http://schemas.microsoft.com/office/drawing/2014/main" id="{52928528-31A9-9F10-B52F-5F43504EDF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5763" y="4114800"/>
          <a:ext cx="1612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900" imgH="469900" progId="Equation.3">
                  <p:embed/>
                </p:oleObj>
              </mc:Choice>
              <mc:Fallback>
                <p:oleObj name="Equation" r:id="rId2" imgW="1612900" imgH="469900" progId="Equation.3">
                  <p:embed/>
                  <p:pic>
                    <p:nvPicPr>
                      <p:cNvPr id="30736" name="Object 15">
                        <a:extLst>
                          <a:ext uri="{FF2B5EF4-FFF2-40B4-BE49-F238E27FC236}">
                            <a16:creationId xmlns:a16="http://schemas.microsoft.com/office/drawing/2014/main" id="{52928528-31A9-9F10-B52F-5F43504EDF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763" y="4114800"/>
                        <a:ext cx="1612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7" name="Object 16">
            <a:extLst>
              <a:ext uri="{FF2B5EF4-FFF2-40B4-BE49-F238E27FC236}">
                <a16:creationId xmlns:a16="http://schemas.microsoft.com/office/drawing/2014/main" id="{38C91DA0-AE96-FB48-485B-995FB3C07A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4963" y="5410200"/>
          <a:ext cx="1612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900" imgH="469900" progId="Equation.3">
                  <p:embed/>
                </p:oleObj>
              </mc:Choice>
              <mc:Fallback>
                <p:oleObj name="Equation" r:id="rId4" imgW="1612900" imgH="469900" progId="Equation.3">
                  <p:embed/>
                  <p:pic>
                    <p:nvPicPr>
                      <p:cNvPr id="30737" name="Object 16">
                        <a:extLst>
                          <a:ext uri="{FF2B5EF4-FFF2-40B4-BE49-F238E27FC236}">
                            <a16:creationId xmlns:a16="http://schemas.microsoft.com/office/drawing/2014/main" id="{38C91DA0-AE96-FB48-485B-995FB3C07A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963" y="5410200"/>
                        <a:ext cx="1612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17">
            <a:extLst>
              <a:ext uri="{FF2B5EF4-FFF2-40B4-BE49-F238E27FC236}">
                <a16:creationId xmlns:a16="http://schemas.microsoft.com/office/drawing/2014/main" id="{9620CBAF-D24C-15A8-14AD-9E9ED1568C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9313" y="558165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30738" name="Object 17">
                        <a:extLst>
                          <a:ext uri="{FF2B5EF4-FFF2-40B4-BE49-F238E27FC236}">
                            <a16:creationId xmlns:a16="http://schemas.microsoft.com/office/drawing/2014/main" id="{9620CBAF-D24C-15A8-14AD-9E9ED1568C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13" y="558165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9" name="Object 18">
            <a:extLst>
              <a:ext uri="{FF2B5EF4-FFF2-40B4-BE49-F238E27FC236}">
                <a16:creationId xmlns:a16="http://schemas.microsoft.com/office/drawing/2014/main" id="{8EE5942B-4F1F-51E2-D927-81D97E2EAB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7113" y="5645150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1000" imgH="457200" progId="Equation.3">
                  <p:embed/>
                </p:oleObj>
              </mc:Choice>
              <mc:Fallback>
                <p:oleObj name="Equation" r:id="rId8" imgW="381000" imgH="457200" progId="Equation.3">
                  <p:embed/>
                  <p:pic>
                    <p:nvPicPr>
                      <p:cNvPr id="30739" name="Object 18">
                        <a:extLst>
                          <a:ext uri="{FF2B5EF4-FFF2-40B4-BE49-F238E27FC236}">
                            <a16:creationId xmlns:a16="http://schemas.microsoft.com/office/drawing/2014/main" id="{8EE5942B-4F1F-51E2-D927-81D97E2EAB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3" y="5645150"/>
                        <a:ext cx="38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0" name="Object 19">
            <a:extLst>
              <a:ext uri="{FF2B5EF4-FFF2-40B4-BE49-F238E27FC236}">
                <a16:creationId xmlns:a16="http://schemas.microsoft.com/office/drawing/2014/main" id="{F45D338A-5BF6-68E4-3E56-4A16311C51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70763" y="5638800"/>
          <a:ext cx="431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1800" imgH="457200" progId="Equation.3">
                  <p:embed/>
                </p:oleObj>
              </mc:Choice>
              <mc:Fallback>
                <p:oleObj name="Equation" r:id="rId10" imgW="431800" imgH="457200" progId="Equation.3">
                  <p:embed/>
                  <p:pic>
                    <p:nvPicPr>
                      <p:cNvPr id="30740" name="Object 19">
                        <a:extLst>
                          <a:ext uri="{FF2B5EF4-FFF2-40B4-BE49-F238E27FC236}">
                            <a16:creationId xmlns:a16="http://schemas.microsoft.com/office/drawing/2014/main" id="{F45D338A-5BF6-68E4-3E56-4A16311C51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0763" y="5638800"/>
                        <a:ext cx="431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1" name="Object 20">
            <a:extLst>
              <a:ext uri="{FF2B5EF4-FFF2-40B4-BE49-F238E27FC236}">
                <a16:creationId xmlns:a16="http://schemas.microsoft.com/office/drawing/2014/main" id="{D5C918F3-1A45-3F44-1D26-C54818F0D3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44113" y="563245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100" imgH="469900" progId="Equation.3">
                  <p:embed/>
                </p:oleObj>
              </mc:Choice>
              <mc:Fallback>
                <p:oleObj name="Equation" r:id="rId12" imgW="419100" imgH="469900" progId="Equation.3">
                  <p:embed/>
                  <p:pic>
                    <p:nvPicPr>
                      <p:cNvPr id="30741" name="Object 20">
                        <a:extLst>
                          <a:ext uri="{FF2B5EF4-FFF2-40B4-BE49-F238E27FC236}">
                            <a16:creationId xmlns:a16="http://schemas.microsoft.com/office/drawing/2014/main" id="{D5C918F3-1A45-3F44-1D26-C54818F0D3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4113" y="563245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2" name="Text Box 21">
            <a:extLst>
              <a:ext uri="{FF2B5EF4-FFF2-40B4-BE49-F238E27FC236}">
                <a16:creationId xmlns:a16="http://schemas.microsoft.com/office/drawing/2014/main" id="{07394042-424D-7376-39F6-D6330B654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3867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Execution Example:</a:t>
            </a:r>
          </a:p>
        </p:txBody>
      </p:sp>
      <p:sp>
        <p:nvSpPr>
          <p:cNvPr id="30743" name="Rectangle 22">
            <a:extLst>
              <a:ext uri="{FF2B5EF4-FFF2-40B4-BE49-F238E27FC236}">
                <a16:creationId xmlns:a16="http://schemas.microsoft.com/office/drawing/2014/main" id="{0C71ECE6-508F-EBFE-67EB-807FEB430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460213"/>
            <a:ext cx="4114800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44" name="Line 23">
            <a:extLst>
              <a:ext uri="{FF2B5EF4-FFF2-40B4-BE49-F238E27FC236}">
                <a16:creationId xmlns:a16="http://schemas.microsoft.com/office/drawing/2014/main" id="{3E686C1E-CAB1-757A-B665-7C905D9249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45" name="Line 24">
            <a:extLst>
              <a:ext uri="{FF2B5EF4-FFF2-40B4-BE49-F238E27FC236}">
                <a16:creationId xmlns:a16="http://schemas.microsoft.com/office/drawing/2014/main" id="{544C7A31-7BA7-F2D7-F797-9295CE90D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46" name="Line 25">
            <a:extLst>
              <a:ext uri="{FF2B5EF4-FFF2-40B4-BE49-F238E27FC236}">
                <a16:creationId xmlns:a16="http://schemas.microsoft.com/office/drawing/2014/main" id="{94359290-22AD-1A4C-9943-0BE8DC4F19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47" name="Line 26">
            <a:extLst>
              <a:ext uri="{FF2B5EF4-FFF2-40B4-BE49-F238E27FC236}">
                <a16:creationId xmlns:a16="http://schemas.microsoft.com/office/drawing/2014/main" id="{E9B9650E-54B9-7E44-90F3-916B4E5FEB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48" name="Line 27">
            <a:extLst>
              <a:ext uri="{FF2B5EF4-FFF2-40B4-BE49-F238E27FC236}">
                <a16:creationId xmlns:a16="http://schemas.microsoft.com/office/drawing/2014/main" id="{A76380EA-84BE-DA0A-E290-C3FFBA6272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49" name="Text Box 28">
            <a:extLst>
              <a:ext uri="{FF2B5EF4-FFF2-40B4-BE49-F238E27FC236}">
                <a16:creationId xmlns:a16="http://schemas.microsoft.com/office/drawing/2014/main" id="{5CEE97DB-ED34-2DFA-6417-6FE6168CF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685801"/>
            <a:ext cx="125066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Input</a:t>
            </a:r>
          </a:p>
        </p:txBody>
      </p:sp>
      <p:graphicFrame>
        <p:nvGraphicFramePr>
          <p:cNvPr id="30750" name="Object 29">
            <a:extLst>
              <a:ext uri="{FF2B5EF4-FFF2-40B4-BE49-F238E27FC236}">
                <a16:creationId xmlns:a16="http://schemas.microsoft.com/office/drawing/2014/main" id="{825021D8-24E2-46B8-D1E2-0AE4D3165D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1676400"/>
          <a:ext cx="254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4000" imgH="254000" progId="Equation.3">
                  <p:embed/>
                </p:oleObj>
              </mc:Choice>
              <mc:Fallback>
                <p:oleObj name="Equation" r:id="rId14" imgW="254000" imgH="254000" progId="Equation.3">
                  <p:embed/>
                  <p:pic>
                    <p:nvPicPr>
                      <p:cNvPr id="30750" name="Object 29">
                        <a:extLst>
                          <a:ext uri="{FF2B5EF4-FFF2-40B4-BE49-F238E27FC236}">
                            <a16:creationId xmlns:a16="http://schemas.microsoft.com/office/drawing/2014/main" id="{825021D8-24E2-46B8-D1E2-0AE4D3165D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676400"/>
                        <a:ext cx="2540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1" name="Object 30">
            <a:extLst>
              <a:ext uri="{FF2B5EF4-FFF2-40B4-BE49-F238E27FC236}">
                <a16:creationId xmlns:a16="http://schemas.microsoft.com/office/drawing/2014/main" id="{E6462125-8DA2-D835-E5D4-B2912C1723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1676400"/>
          <a:ext cx="254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4000" imgH="254000" progId="Equation.3">
                  <p:embed/>
                </p:oleObj>
              </mc:Choice>
              <mc:Fallback>
                <p:oleObj name="Equation" r:id="rId16" imgW="254000" imgH="254000" progId="Equation.3">
                  <p:embed/>
                  <p:pic>
                    <p:nvPicPr>
                      <p:cNvPr id="30751" name="Object 30">
                        <a:extLst>
                          <a:ext uri="{FF2B5EF4-FFF2-40B4-BE49-F238E27FC236}">
                            <a16:creationId xmlns:a16="http://schemas.microsoft.com/office/drawing/2014/main" id="{E6462125-8DA2-D835-E5D4-B2912C1723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676400"/>
                        <a:ext cx="2540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2" name="Object 31">
            <a:extLst>
              <a:ext uri="{FF2B5EF4-FFF2-40B4-BE49-F238E27FC236}">
                <a16:creationId xmlns:a16="http://schemas.microsoft.com/office/drawing/2014/main" id="{BD0D766A-6BD7-4FB0-1FE0-4B5195FDC3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1676400"/>
          <a:ext cx="254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4000" imgH="254000" progId="Equation.3">
                  <p:embed/>
                </p:oleObj>
              </mc:Choice>
              <mc:Fallback>
                <p:oleObj name="Equation" r:id="rId16" imgW="254000" imgH="254000" progId="Equation.3">
                  <p:embed/>
                  <p:pic>
                    <p:nvPicPr>
                      <p:cNvPr id="30752" name="Object 31">
                        <a:extLst>
                          <a:ext uri="{FF2B5EF4-FFF2-40B4-BE49-F238E27FC236}">
                            <a16:creationId xmlns:a16="http://schemas.microsoft.com/office/drawing/2014/main" id="{BD0D766A-6BD7-4FB0-1FE0-4B5195FDC3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676400"/>
                        <a:ext cx="2540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3" name="Object 32">
            <a:extLst>
              <a:ext uri="{FF2B5EF4-FFF2-40B4-BE49-F238E27FC236}">
                <a16:creationId xmlns:a16="http://schemas.microsoft.com/office/drawing/2014/main" id="{C3F4C151-F73D-3A30-40F1-DFF83556A0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1625600"/>
          <a:ext cx="254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54000" imgH="355600" progId="Equation.3">
                  <p:embed/>
                </p:oleObj>
              </mc:Choice>
              <mc:Fallback>
                <p:oleObj name="Equation" r:id="rId17" imgW="254000" imgH="355600" progId="Equation.3">
                  <p:embed/>
                  <p:pic>
                    <p:nvPicPr>
                      <p:cNvPr id="30753" name="Object 32">
                        <a:extLst>
                          <a:ext uri="{FF2B5EF4-FFF2-40B4-BE49-F238E27FC236}">
                            <a16:creationId xmlns:a16="http://schemas.microsoft.com/office/drawing/2014/main" id="{C3F4C151-F73D-3A30-40F1-DFF83556A0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625600"/>
                        <a:ext cx="254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4" name="Object 33">
            <a:extLst>
              <a:ext uri="{FF2B5EF4-FFF2-40B4-BE49-F238E27FC236}">
                <a16:creationId xmlns:a16="http://schemas.microsoft.com/office/drawing/2014/main" id="{BDF6491A-BA4F-5FAD-3DEF-FD03D35549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1625600"/>
          <a:ext cx="254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4000" imgH="355600" progId="Equation.3">
                  <p:embed/>
                </p:oleObj>
              </mc:Choice>
              <mc:Fallback>
                <p:oleObj name="Equation" r:id="rId19" imgW="254000" imgH="355600" progId="Equation.3">
                  <p:embed/>
                  <p:pic>
                    <p:nvPicPr>
                      <p:cNvPr id="30754" name="Object 33">
                        <a:extLst>
                          <a:ext uri="{FF2B5EF4-FFF2-40B4-BE49-F238E27FC236}">
                            <a16:creationId xmlns:a16="http://schemas.microsoft.com/office/drawing/2014/main" id="{BDF6491A-BA4F-5FAD-3DEF-FD03D35549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625600"/>
                        <a:ext cx="254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5" name="Object 34">
            <a:extLst>
              <a:ext uri="{FF2B5EF4-FFF2-40B4-BE49-F238E27FC236}">
                <a16:creationId xmlns:a16="http://schemas.microsoft.com/office/drawing/2014/main" id="{C6418AA9-64D9-CA1D-035F-355982E9C9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1625600"/>
          <a:ext cx="254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4000" imgH="355600" progId="Equation.3">
                  <p:embed/>
                </p:oleObj>
              </mc:Choice>
              <mc:Fallback>
                <p:oleObj name="Equation" r:id="rId20" imgW="254000" imgH="355600" progId="Equation.3">
                  <p:embed/>
                  <p:pic>
                    <p:nvPicPr>
                      <p:cNvPr id="30755" name="Object 34">
                        <a:extLst>
                          <a:ext uri="{FF2B5EF4-FFF2-40B4-BE49-F238E27FC236}">
                            <a16:creationId xmlns:a16="http://schemas.microsoft.com/office/drawing/2014/main" id="{C6418AA9-64D9-CA1D-035F-355982E9C9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625600"/>
                        <a:ext cx="254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6" name="Line 35">
            <a:extLst>
              <a:ext uri="{FF2B5EF4-FFF2-40B4-BE49-F238E27FC236}">
                <a16:creationId xmlns:a16="http://schemas.microsoft.com/office/drawing/2014/main" id="{C0ECE038-15BE-AD14-9923-AFA77DC46D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57" name="Text Box 36">
            <a:extLst>
              <a:ext uri="{FF2B5EF4-FFF2-40B4-BE49-F238E27FC236}">
                <a16:creationId xmlns:a16="http://schemas.microsoft.com/office/drawing/2014/main" id="{7BE2B481-69D3-8D00-3810-C5911328F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4038600"/>
            <a:ext cx="1636987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current</a:t>
            </a:r>
          </a:p>
          <a:p>
            <a:r>
              <a:rPr lang="en-US" altLang="en-US"/>
              <a:t>state</a:t>
            </a:r>
          </a:p>
        </p:txBody>
      </p:sp>
      <p:graphicFrame>
        <p:nvGraphicFramePr>
          <p:cNvPr id="30758" name="Object 37">
            <a:extLst>
              <a:ext uri="{FF2B5EF4-FFF2-40B4-BE49-F238E27FC236}">
                <a16:creationId xmlns:a16="http://schemas.microsoft.com/office/drawing/2014/main" id="{CFC19111-588D-C5CA-1335-3855705D75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4114800"/>
          <a:ext cx="1612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612900" imgH="469900" progId="Equation.3">
                  <p:embed/>
                </p:oleObj>
              </mc:Choice>
              <mc:Fallback>
                <p:oleObj name="Equation" r:id="rId21" imgW="1612900" imgH="469900" progId="Equation.3">
                  <p:embed/>
                  <p:pic>
                    <p:nvPicPr>
                      <p:cNvPr id="30758" name="Object 37">
                        <a:extLst>
                          <a:ext uri="{FF2B5EF4-FFF2-40B4-BE49-F238E27FC236}">
                            <a16:creationId xmlns:a16="http://schemas.microsoft.com/office/drawing/2014/main" id="{CFC19111-588D-C5CA-1335-3855705D75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114800"/>
                        <a:ext cx="1612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9" name="Text Box 38">
            <a:extLst>
              <a:ext uri="{FF2B5EF4-FFF2-40B4-BE49-F238E27FC236}">
                <a16:creationId xmlns:a16="http://schemas.microsoft.com/office/drawing/2014/main" id="{3F483767-D3E2-DDD2-E331-75550F35C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Time 0</a:t>
            </a:r>
          </a:p>
        </p:txBody>
      </p:sp>
      <p:graphicFrame>
        <p:nvGraphicFramePr>
          <p:cNvPr id="30760" name="Object 39">
            <a:extLst>
              <a:ext uri="{FF2B5EF4-FFF2-40B4-BE49-F238E27FC236}">
                <a16:creationId xmlns:a16="http://schemas.microsoft.com/office/drawing/2014/main" id="{DD2DBC28-D2C1-02DF-4035-1A1C60F1CC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5410200"/>
          <a:ext cx="1701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01800" imgH="469900" progId="Equation.3">
                  <p:embed/>
                </p:oleObj>
              </mc:Choice>
              <mc:Fallback>
                <p:oleObj name="Equation" r:id="rId22" imgW="1701800" imgH="469900" progId="Equation.3">
                  <p:embed/>
                  <p:pic>
                    <p:nvPicPr>
                      <p:cNvPr id="30760" name="Object 39">
                        <a:extLst>
                          <a:ext uri="{FF2B5EF4-FFF2-40B4-BE49-F238E27FC236}">
                            <a16:creationId xmlns:a16="http://schemas.microsoft.com/office/drawing/2014/main" id="{DD2DBC28-D2C1-02DF-4035-1A1C60F1CC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410200"/>
                        <a:ext cx="1701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1" name="Object 40">
            <a:extLst>
              <a:ext uri="{FF2B5EF4-FFF2-40B4-BE49-F238E27FC236}">
                <a16:creationId xmlns:a16="http://schemas.microsoft.com/office/drawing/2014/main" id="{2B85892D-D88F-7450-64A5-F7BEBADC7B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0" y="5410200"/>
          <a:ext cx="1574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74800" imgH="469900" progId="Equation.3">
                  <p:embed/>
                </p:oleObj>
              </mc:Choice>
              <mc:Fallback>
                <p:oleObj name="Equation" r:id="rId24" imgW="1574800" imgH="469900" progId="Equation.3">
                  <p:embed/>
                  <p:pic>
                    <p:nvPicPr>
                      <p:cNvPr id="30761" name="Object 40">
                        <a:extLst>
                          <a:ext uri="{FF2B5EF4-FFF2-40B4-BE49-F238E27FC236}">
                            <a16:creationId xmlns:a16="http://schemas.microsoft.com/office/drawing/2014/main" id="{2B85892D-D88F-7450-64A5-F7BEBADC7B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5410200"/>
                        <a:ext cx="1574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2" name="Rectangle 41">
            <a:extLst>
              <a:ext uri="{FF2B5EF4-FFF2-40B4-BE49-F238E27FC236}">
                <a16:creationId xmlns:a16="http://schemas.microsoft.com/office/drawing/2014/main" id="{B444F115-6E05-77CE-C162-1CD9EE65B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0" y="1917413"/>
            <a:ext cx="914400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63" name="Text Box 42">
            <a:extLst>
              <a:ext uri="{FF2B5EF4-FFF2-40B4-BE49-F238E27FC236}">
                <a16:creationId xmlns:a16="http://schemas.microsoft.com/office/drawing/2014/main" id="{9E76B0FB-8FD3-55E2-4C84-5E590DE2E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2667000"/>
            <a:ext cx="129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Stack</a:t>
            </a:r>
          </a:p>
        </p:txBody>
      </p:sp>
      <p:graphicFrame>
        <p:nvGraphicFramePr>
          <p:cNvPr id="30764" name="Object 43">
            <a:extLst>
              <a:ext uri="{FF2B5EF4-FFF2-40B4-BE49-F238E27FC236}">
                <a16:creationId xmlns:a16="http://schemas.microsoft.com/office/drawing/2014/main" id="{7B6D8095-617D-77B3-B9B3-5177FDCE38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20200" y="2057400"/>
          <a:ext cx="228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28600" imgH="419100" progId="Equation.3">
                  <p:embed/>
                </p:oleObj>
              </mc:Choice>
              <mc:Fallback>
                <p:oleObj name="Equation" r:id="rId26" imgW="228600" imgH="419100" progId="Equation.3">
                  <p:embed/>
                  <p:pic>
                    <p:nvPicPr>
                      <p:cNvPr id="30764" name="Object 43">
                        <a:extLst>
                          <a:ext uri="{FF2B5EF4-FFF2-40B4-BE49-F238E27FC236}">
                            <a16:creationId xmlns:a16="http://schemas.microsoft.com/office/drawing/2014/main" id="{7B6D8095-617D-77B3-B9B3-5177FDCE38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2057400"/>
                        <a:ext cx="228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5" name="Line 44">
            <a:extLst>
              <a:ext uri="{FF2B5EF4-FFF2-40B4-BE49-F238E27FC236}">
                <a16:creationId xmlns:a16="http://schemas.microsoft.com/office/drawing/2014/main" id="{21540804-7105-1854-E0E3-5785710517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53600" y="2133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22286" name="Ink 46">
                <a:extLst>
                  <a:ext uri="{FF2B5EF4-FFF2-40B4-BE49-F238E27FC236}">
                    <a16:creationId xmlns:a16="http://schemas.microsoft.com/office/drawing/2014/main" id="{B7382302-A398-3ABE-99DC-98E75B4487F8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19526" y="5973763"/>
              <a:ext cx="366713" cy="44450"/>
            </p14:xfrm>
          </p:contentPart>
        </mc:Choice>
        <mc:Fallback xmlns="">
          <p:pic>
            <p:nvPicPr>
              <p:cNvPr id="522286" name="Ink 46">
                <a:extLst>
                  <a:ext uri="{FF2B5EF4-FFF2-40B4-BE49-F238E27FC236}">
                    <a16:creationId xmlns:a16="http://schemas.microsoft.com/office/drawing/2014/main" id="{B7382302-A398-3ABE-99DC-98E75B4487F8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01875" y="5956339"/>
                <a:ext cx="401295" cy="7858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ED8B6-842E-2019-090A-3FB9A9C28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60177E1A-21BB-9EED-910D-1563D92C5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57" y="252819"/>
            <a:ext cx="10780295" cy="603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29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CCC4-BE58-9BD7-DAD4-826FD0FD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831B18FC-B68B-0CE2-57C8-1169DF79F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47" y="468101"/>
            <a:ext cx="10250906" cy="580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25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C871B-0406-B694-4CFE-66A529C5B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C3A548BF-3956-9D58-E21D-6A0B32E04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83" y="256675"/>
            <a:ext cx="10860505" cy="613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1430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90E0D-1F98-60D5-0270-58AC7D4D8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6DDF7D4A-A6AE-7AC0-9261-4442AB1BC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42" y="160421"/>
            <a:ext cx="11101137" cy="612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55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9FDAB-A049-7D32-3936-4D78F19BE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1FB7F1D6-ACFB-6228-BD23-56FF5BDF9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79" y="336883"/>
            <a:ext cx="10282989" cy="596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31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2299D-8767-FD29-3439-9C688F06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3A5BE0AE-7AAC-D386-4B53-608BD3C05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37" y="449179"/>
            <a:ext cx="10651958" cy="586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736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3D46B-4E26-72B8-A683-CD22354DA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8853FA6-3800-F87C-43E6-1C442D538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88" y="385011"/>
            <a:ext cx="10491537" cy="594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088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8AB89-EEE6-F7DF-4CB8-7DE9EAB09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3C7C5E31-1A58-54B0-4A45-E7D576BF5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905" y="107358"/>
            <a:ext cx="10218821" cy="608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067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E5779-2BE4-BF9E-8074-2EEBE5654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AB24D808-E3D3-BE36-4396-ECE70C5A1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84" y="143765"/>
            <a:ext cx="10299032" cy="614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1518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87854-01F7-249D-DE94-57B9B555A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3DEF10EB-5CE3-A5D3-527E-E12A0C19D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0"/>
            <a:ext cx="11582400" cy="632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523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592A7-33B0-0EC8-33FD-719DB409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BB9BA044-574C-C230-DF05-B971762BB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79" y="262958"/>
            <a:ext cx="11325726" cy="604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264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5A12E-BD70-AEC8-FEA2-6E535967D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7216E037-24B2-DA9C-EBCF-0EF7E5F8D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95" y="256674"/>
            <a:ext cx="11598442" cy="608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01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50C7E-6F83-7A06-7584-36AD28D03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D44E45D6-A6E4-E4CA-17DF-AE0D41809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9" y="224589"/>
            <a:ext cx="11566358" cy="602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9425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1B030-A8DC-B5E1-58AF-264484634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6661884B-79D8-E00B-EEFF-AAB7D36B3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33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177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90C1A-68CD-8E4A-9344-9AF5B6178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AD4B45A1-434D-D596-E428-6CC4DF0A1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33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049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E0563-51B0-54D6-A8BC-5FAB237C1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1321D2E7-EAC7-822B-EF04-F3243047E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42" y="1"/>
            <a:ext cx="11871158" cy="624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392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2B6ED-0268-5DEE-0A49-E9E7AE55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17301632-7CE8-56F1-3813-8914FC768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4379"/>
            <a:ext cx="12192000" cy="619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929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F2A23-BC94-64A3-9D62-C09F87ED8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055E7AD1-509C-9876-2925-384980934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5" y="-84221"/>
            <a:ext cx="11999495" cy="631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277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66E3E-55DC-B112-6E33-C01FD92D4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5F06EC8B-3E17-756E-57D4-7635081C7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53" y="185782"/>
            <a:ext cx="11438021" cy="60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122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AAA6A-DCB4-C4B9-E649-15D593729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EDBDC5E-7D00-FE64-83CB-CA498D972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526154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Between FA, PDA, and the Turing Machine</a:t>
            </a:r>
            <a:endParaRPr lang="ar-SA" sz="5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5E28AFE-50FE-EBDA-FC9B-BAABF79F7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31" y="1812758"/>
            <a:ext cx="11525459" cy="4497607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</a:t>
            </a:r>
            <a:r>
              <a:rPr lang="ar-SA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---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Pushdown Automata</a:t>
            </a:r>
            <a:r>
              <a:rPr lang="ar-SA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Turing Machine</a:t>
            </a:r>
            <a:endParaRPr lang="ar-SA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spc="-50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Finite</a:t>
            </a:r>
            <a:r>
              <a:rPr lang="en-US" sz="1100" dirty="0">
                <a:cs typeface="+mj-cs"/>
              </a:rPr>
              <a:t> </a:t>
            </a:r>
            <a:r>
              <a:rPr lang="en-US" sz="2800" b="1" spc="-50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Automata</a:t>
            </a:r>
            <a:r>
              <a:rPr lang="ar-SA" sz="1100" dirty="0">
                <a:cs typeface="+mj-cs"/>
              </a:rPr>
              <a:t> </a:t>
            </a:r>
            <a:r>
              <a:rPr lang="en-US" sz="2400" dirty="0">
                <a:cs typeface="+mj-cs"/>
              </a:rPr>
              <a:t>T</a:t>
            </a:r>
            <a:r>
              <a:rPr lang="en-US" sz="2800" b="1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hey have very limited memory.</a:t>
            </a:r>
            <a:endParaRPr lang="ar-SA" sz="2800" b="1" spc="-5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ar-SA" sz="2800" b="1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800" b="1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Learn about:</a:t>
            </a:r>
            <a:r>
              <a:rPr lang="ar-SA" sz="2800" b="1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800" b="1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Regular Languages</a:t>
            </a:r>
            <a:endParaRPr lang="ar-SA" sz="2800" b="1" spc="-5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sz="2800" b="1" spc="-50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PDA</a:t>
            </a:r>
            <a:r>
              <a:rPr lang="ar-SA" sz="2800" b="1" spc="-50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:</a:t>
            </a:r>
            <a:r>
              <a:rPr lang="en-US" sz="2800" b="1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Stack</a:t>
            </a:r>
            <a:r>
              <a:rPr lang="ar-SA" sz="2800" b="1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</a:t>
            </a:r>
            <a:r>
              <a:rPr lang="en-US" sz="2800" b="1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Learn about</a:t>
            </a:r>
            <a:r>
              <a:rPr lang="ar-SA" sz="2800" b="1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:</a:t>
            </a:r>
            <a:r>
              <a:rPr lang="en-US" sz="2800" b="1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Context−Free Languages</a:t>
            </a:r>
            <a:endParaRPr lang="ar-SA" sz="2800" b="1" spc="-5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sz="2800" b="1" spc="-50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Turing Machine</a:t>
            </a:r>
            <a:r>
              <a:rPr lang="ar-SA" sz="2800" b="1" spc="-50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ar-SA" sz="2800" b="1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</a:t>
            </a:r>
            <a:r>
              <a:rPr lang="en-US" sz="2800" b="1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It has a more general-purpose memory and handles a much wider range of languages.</a:t>
            </a:r>
          </a:p>
        </p:txBody>
      </p:sp>
    </p:spTree>
    <p:extLst>
      <p:ext uri="{BB962C8B-B14F-4D97-AF65-F5344CB8AC3E}">
        <p14:creationId xmlns:p14="http://schemas.microsoft.com/office/powerpoint/2010/main" val="4106721280"/>
      </p:ext>
    </p:extLst>
  </p:cSld>
  <p:clrMapOvr>
    <a:masterClrMapping/>
  </p:clrMapOvr>
</p:sld>
</file>

<file path=ppt/theme/theme1.xml><?xml version="1.0" encoding="utf-8"?>
<a:theme xmlns:a="http://schemas.openxmlformats.org/drawingml/2006/main" name="أثر رجعي">
  <a:themeElements>
    <a:clrScheme name="أزرق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أثر رجعي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أثر رجعي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10455</TotalTime>
  <Words>1002</Words>
  <Application>Microsoft Office PowerPoint</Application>
  <PresentationFormat>شاشة عريضة</PresentationFormat>
  <Paragraphs>151</Paragraphs>
  <Slides>46</Slides>
  <Notes>6</Notes>
  <HiddenSlides>0</HiddenSlides>
  <MMClips>0</MMClips>
  <ScaleCrop>false</ScaleCrop>
  <HeadingPairs>
    <vt:vector size="8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خوادم OLE مضمنة</vt:lpstr>
      </vt:variant>
      <vt:variant>
        <vt:i4>1</vt:i4>
      </vt:variant>
      <vt:variant>
        <vt:lpstr>عناوين الشرائح</vt:lpstr>
      </vt:variant>
      <vt:variant>
        <vt:i4>46</vt:i4>
      </vt:variant>
    </vt:vector>
  </HeadingPairs>
  <TitlesOfParts>
    <vt:vector size="52" baseType="lpstr">
      <vt:lpstr>Calibri</vt:lpstr>
      <vt:lpstr>Calibri Light</vt:lpstr>
      <vt:lpstr>Times New Roman</vt:lpstr>
      <vt:lpstr>Wingdings</vt:lpstr>
      <vt:lpstr>أثر رجعي</vt:lpstr>
      <vt:lpstr>Equation</vt:lpstr>
      <vt:lpstr>Pushdown Automata PDAs</vt:lpstr>
      <vt:lpstr>Syllabus</vt:lpstr>
      <vt:lpstr>Introduction</vt:lpstr>
      <vt:lpstr>Introduction </vt:lpstr>
      <vt:lpstr>What is a stack?</vt:lpstr>
      <vt:lpstr>عرض تقديمي في PowerPoint</vt:lpstr>
      <vt:lpstr>Components of a PDA</vt:lpstr>
      <vt:lpstr>Formal Definition</vt:lpstr>
      <vt:lpstr>Difference Between an FA and a PDA</vt:lpstr>
      <vt:lpstr>Types of PDAs</vt:lpstr>
      <vt:lpstr>Why do we need a PDA?</vt:lpstr>
      <vt:lpstr>Transition in a PDA </vt:lpstr>
      <vt:lpstr>Transition in a PDA </vt:lpstr>
      <vt:lpstr>عرض تقديمي في PowerPoint</vt:lpstr>
      <vt:lpstr>Graphical notation 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The Relationship Between FA, PDA, and the Turing Machine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Qursan</dc:creator>
  <cp:lastModifiedBy>Qursan</cp:lastModifiedBy>
  <cp:revision>346</cp:revision>
  <dcterms:created xsi:type="dcterms:W3CDTF">2025-11-01T19:28:28Z</dcterms:created>
  <dcterms:modified xsi:type="dcterms:W3CDTF">2026-09-03T03:56:14Z</dcterms:modified>
</cp:coreProperties>
</file>