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397" r:id="rId4"/>
    <p:sldId id="436" r:id="rId5"/>
    <p:sldId id="437" r:id="rId6"/>
    <p:sldId id="304" r:id="rId7"/>
    <p:sldId id="348" r:id="rId8"/>
    <p:sldId id="281" r:id="rId9"/>
    <p:sldId id="349" r:id="rId10"/>
    <p:sldId id="381" r:id="rId11"/>
    <p:sldId id="345" r:id="rId12"/>
    <p:sldId id="346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79" r:id="rId22"/>
    <p:sldId id="358" r:id="rId23"/>
    <p:sldId id="359" r:id="rId24"/>
    <p:sldId id="360" r:id="rId25"/>
    <p:sldId id="361" r:id="rId26"/>
    <p:sldId id="362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4" r:id="rId36"/>
    <p:sldId id="375" r:id="rId37"/>
    <p:sldId id="376" r:id="rId38"/>
    <p:sldId id="378" r:id="rId39"/>
    <p:sldId id="373" r:id="rId40"/>
    <p:sldId id="383" r:id="rId41"/>
    <p:sldId id="384" r:id="rId42"/>
    <p:sldId id="385" r:id="rId43"/>
    <p:sldId id="387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bil" initials="N" lastIdx="1" clrIdx="0">
    <p:extLst>
      <p:ext uri="{19B8F6BF-5375-455C-9EA6-DF929625EA0E}">
        <p15:presenceInfo xmlns:p15="http://schemas.microsoft.com/office/powerpoint/2012/main" userId="Nabi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987" autoAdjust="0"/>
  </p:normalViewPr>
  <p:slideViewPr>
    <p:cSldViewPr snapToGrid="0">
      <p:cViewPr varScale="1">
        <p:scale>
          <a:sx n="79" d="100"/>
          <a:sy n="79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FC571F9-F8FD-417F-A9F3-A00B709E23E6}" type="datetimeFigureOut">
              <a:rPr lang="ar-SA" smtClean="0"/>
              <a:t>22/01/48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43545C-7784-4C51-82AE-F075CA67E9A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2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6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D5BD1E-1131-49F5-94FE-55EDE8384400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8A021-7845-E218-30C7-8328AEFE0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145" y="1605065"/>
            <a:ext cx="10927572" cy="263947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Theory of Computation 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4693244-8064-CBC4-79A3-34C08CF421BD}"/>
              </a:ext>
            </a:extLst>
          </p:cNvPr>
          <p:cNvSpPr txBox="1"/>
          <p:nvPr/>
        </p:nvSpPr>
        <p:spPr>
          <a:xfrm>
            <a:off x="4860086" y="631230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Rowaida</a:t>
            </a:r>
            <a:r>
              <a:rPr lang="en-US" sz="2400" b="1" dirty="0"/>
              <a:t> AL-Amri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0842748-48A6-7631-2E2C-5CCBEF0E0E48}"/>
              </a:ext>
            </a:extLst>
          </p:cNvPr>
          <p:cNvSpPr txBox="1"/>
          <p:nvPr/>
        </p:nvSpPr>
        <p:spPr>
          <a:xfrm>
            <a:off x="2878282" y="4724424"/>
            <a:ext cx="6213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337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5AC3CF1-7734-1385-72F8-845D4F25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Syllabus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52C0AC1-90A6-28F4-0125-775C09A2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•introduction </a:t>
            </a:r>
          </a:p>
          <a:p>
            <a:r>
              <a:rPr lang="en-US" dirty="0"/>
              <a:t> Overview of course</a:t>
            </a:r>
          </a:p>
          <a:p>
            <a:r>
              <a:rPr lang="en-US" dirty="0"/>
              <a:t>• Alphabets, Strings, and Languages</a:t>
            </a:r>
          </a:p>
          <a:p>
            <a:r>
              <a:rPr lang="en-US" dirty="0"/>
              <a:t>• Set Relations and Operations</a:t>
            </a:r>
          </a:p>
          <a:p>
            <a:r>
              <a:rPr lang="en-US" dirty="0"/>
              <a:t>• Functions and Operations</a:t>
            </a:r>
          </a:p>
          <a:p>
            <a:r>
              <a:rPr lang="en-US" dirty="0"/>
              <a:t>• Graphs</a:t>
            </a:r>
          </a:p>
          <a:p>
            <a:r>
              <a:rPr lang="en-US" dirty="0"/>
              <a:t>• Boolean </a:t>
            </a:r>
            <a:r>
              <a:rPr lang="en-US" dirty="0" err="1"/>
              <a:t>Logi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45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عنصر نائب للتذييل 1">
            <a:extLst>
              <a:ext uri="{FF2B5EF4-FFF2-40B4-BE49-F238E27FC236}">
                <a16:creationId xmlns:a16="http://schemas.microsoft.com/office/drawing/2014/main" id="{8850C921-CEFE-4A49-B823-D4CEEAC30A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Languages, Grammars, and Automata</a:t>
            </a:r>
          </a:p>
        </p:txBody>
      </p:sp>
      <p:sp>
        <p:nvSpPr>
          <p:cNvPr id="6147" name="عنصر نائب لرقم الشريحة 2">
            <a:extLst>
              <a:ext uri="{FF2B5EF4-FFF2-40B4-BE49-F238E27FC236}">
                <a16:creationId xmlns:a16="http://schemas.microsoft.com/office/drawing/2014/main" id="{B6410230-EA96-4BFB-B540-E35F9E4750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A7F379D-7014-4166-84D4-46605030C73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A4FAA98E-B3A3-41F7-B1C8-FF3C4CC1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5440" y="542637"/>
            <a:ext cx="8961120" cy="1143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400" b="1" spc="-50" dirty="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Why study the theory of computing?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FE79235D-8EE3-4507-93D7-7CFE569E8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64" y="2080490"/>
            <a:ext cx="1078807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800" dirty="0">
                <a:solidFill>
                  <a:schemeClr val="tx1"/>
                </a:solidFill>
              </a:rPr>
              <a:t>Core mathematics of CS (has not changed in over 30 years)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Many applications, especially in design of compilers and programming languages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Important to be able to recognize incomputable and intractable problems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Need to know this in order to be a computer scientist, not simply a computer programmer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عنصر نائب للتذييل 1">
            <a:extLst>
              <a:ext uri="{FF2B5EF4-FFF2-40B4-BE49-F238E27FC236}">
                <a16:creationId xmlns:a16="http://schemas.microsoft.com/office/drawing/2014/main" id="{8E278934-E6BD-4086-BE6A-24DEA008E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Languages, Grammars, and Automata</a:t>
            </a:r>
          </a:p>
        </p:txBody>
      </p:sp>
      <p:sp>
        <p:nvSpPr>
          <p:cNvPr id="7171" name="عنصر نائب لرقم الشريحة 2">
            <a:extLst>
              <a:ext uri="{FF2B5EF4-FFF2-40B4-BE49-F238E27FC236}">
                <a16:creationId xmlns:a16="http://schemas.microsoft.com/office/drawing/2014/main" id="{8F9BAB66-5473-44EA-9795-ED86D79DB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D545DBA-B108-4A46-B8CE-76D394A867F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F1C0BDF8-EAD7-4F38-A4D6-273F9528D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33400"/>
            <a:ext cx="7772400" cy="1143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endParaRPr lang="en-US" altLang="en-US" sz="2800" b="1">
              <a:solidFill>
                <a:schemeClr val="tx1"/>
              </a:solidFill>
            </a:endParaRP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030FB2E3-BD25-4292-813D-60F87E1FE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752600"/>
            <a:ext cx="8991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174" name="مستطيل 8">
            <a:extLst>
              <a:ext uri="{FF2B5EF4-FFF2-40B4-BE49-F238E27FC236}">
                <a16:creationId xmlns:a16="http://schemas.microsoft.com/office/drawing/2014/main" id="{28F4F254-3FBC-4A1D-99AA-485E303FD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609601"/>
            <a:ext cx="899160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A pioneer of automata theory</a:t>
            </a:r>
          </a:p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Alan Turing (1912-1954)</a:t>
            </a:r>
          </a:p>
        </p:txBody>
      </p:sp>
      <p:sp>
        <p:nvSpPr>
          <p:cNvPr id="7175" name="مستطيل 9">
            <a:extLst>
              <a:ext uri="{FF2B5EF4-FFF2-40B4-BE49-F238E27FC236}">
                <a16:creationId xmlns:a16="http://schemas.microsoft.com/office/drawing/2014/main" id="{E2D2A016-6235-4EC8-8A29-F37423B9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286001"/>
            <a:ext cx="57150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 Father of Modern Computer Science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 English mathematician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>
                <a:solidFill>
                  <a:schemeClr val="tx1"/>
                </a:solidFill>
              </a:rPr>
              <a:t> Studied abstract machines called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b="1" i="1">
                <a:solidFill>
                  <a:schemeClr val="tx1"/>
                </a:solidFill>
              </a:rPr>
              <a:t>Turing machines even before</a:t>
            </a:r>
          </a:p>
          <a:p>
            <a:r>
              <a:rPr lang="en-US" altLang="en-US" sz="2400" b="1" i="1">
                <a:solidFill>
                  <a:schemeClr val="tx1"/>
                </a:solidFill>
              </a:rPr>
              <a:t> </a:t>
            </a:r>
            <a:r>
              <a:rPr lang="en-US" altLang="en-US" sz="2400">
                <a:solidFill>
                  <a:schemeClr val="tx1"/>
                </a:solidFill>
              </a:rPr>
              <a:t>computers existed</a:t>
            </a:r>
          </a:p>
          <a:p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7176" name="Picture 2">
            <a:extLst>
              <a:ext uri="{FF2B5EF4-FFF2-40B4-BE49-F238E27FC236}">
                <a16:creationId xmlns:a16="http://schemas.microsoft.com/office/drawing/2014/main" id="{ECE021EA-C35F-493C-AF0D-2610F95ED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2209800"/>
            <a:ext cx="22383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عنصر نائب للتذييل 1">
            <a:extLst>
              <a:ext uri="{FF2B5EF4-FFF2-40B4-BE49-F238E27FC236}">
                <a16:creationId xmlns:a16="http://schemas.microsoft.com/office/drawing/2014/main" id="{9908A007-1148-43BD-BDD0-BEDC1B819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Languages, Grammars, and Automata</a:t>
            </a:r>
          </a:p>
        </p:txBody>
      </p:sp>
      <p:sp>
        <p:nvSpPr>
          <p:cNvPr id="8195" name="عنصر نائب لرقم الشريحة 2">
            <a:extLst>
              <a:ext uri="{FF2B5EF4-FFF2-40B4-BE49-F238E27FC236}">
                <a16:creationId xmlns:a16="http://schemas.microsoft.com/office/drawing/2014/main" id="{DD4DBCFA-B097-43E0-A88A-65B56D24C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BB248C41-1D61-48A8-8AF6-7D0E57D7259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AF5FDA1-DA21-42FE-AF6A-5B0FA328B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28600"/>
            <a:ext cx="7772400" cy="1143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endParaRPr lang="en-US" altLang="en-US" sz="2800" b="1">
              <a:solidFill>
                <a:schemeClr val="tx1"/>
              </a:solidFill>
            </a:endParaRP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3BEE4C48-C15E-46BB-95C4-E30AFA2E2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752600"/>
            <a:ext cx="8991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198" name="مستطيل 6">
            <a:extLst>
              <a:ext uri="{FF2B5EF4-FFF2-40B4-BE49-F238E27FC236}">
                <a16:creationId xmlns:a16="http://schemas.microsoft.com/office/drawing/2014/main" id="{4CAA781C-57B8-4898-B7B7-F32C61C22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1" y="304801"/>
            <a:ext cx="6996113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en-US" sz="2800" b="1">
                <a:solidFill>
                  <a:schemeClr val="tx1"/>
                </a:solidFill>
              </a:rPr>
              <a:t>Theory of Computation: A</a:t>
            </a:r>
          </a:p>
          <a:p>
            <a:pPr algn="ctr"/>
            <a:r>
              <a:rPr lang="en-US" altLang="en-US" sz="2800" b="1">
                <a:solidFill>
                  <a:schemeClr val="tx1"/>
                </a:solidFill>
              </a:rPr>
              <a:t>Historical Perspective</a:t>
            </a:r>
          </a:p>
        </p:txBody>
      </p:sp>
      <p:pic>
        <p:nvPicPr>
          <p:cNvPr id="8199" name="Picture 2">
            <a:extLst>
              <a:ext uri="{FF2B5EF4-FFF2-40B4-BE49-F238E27FC236}">
                <a16:creationId xmlns:a16="http://schemas.microsoft.com/office/drawing/2014/main" id="{AA4C0EBC-57E6-47BE-A994-26423275E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1981201"/>
            <a:ext cx="682942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50512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The Importance of Computational Theory in Computer Science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828800"/>
            <a:ext cx="11444962" cy="4119716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computational theory in computer science lies in the fact that it provides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It helps identify problems that can be solved by a computer and those that cannot be solved by algorithms.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It has contributed to the development of algorithms that consume less time and memory, thereby improving program performance.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It provides tools for measuring the complexity of algorithms in terms of time and space, which helps in selecting the most appropriate solutions.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It relies on concepts of formal languages and machines, which form the basis for the design of programming languages and compilers.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The ability to analyze problems and formulate precise solutions using mathematical models and algorithms.</a:t>
            </a:r>
          </a:p>
        </p:txBody>
      </p:sp>
    </p:spTree>
    <p:extLst>
      <p:ext uri="{BB962C8B-B14F-4D97-AF65-F5344CB8AC3E}">
        <p14:creationId xmlns:p14="http://schemas.microsoft.com/office/powerpoint/2010/main" val="4290802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Definition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828799"/>
            <a:ext cx="11444962" cy="4484451"/>
          </a:xfrm>
        </p:spPr>
        <p:txBody>
          <a:bodyPr>
            <a:normAutofit/>
          </a:bodyPr>
          <a:lstStyle/>
          <a:p>
            <a:pPr marL="533400" indent="-533400">
              <a:lnSpc>
                <a:spcPct val="200000"/>
              </a:lnSpc>
            </a:pPr>
            <a:r>
              <a:rPr lang="en-US" altLang="ar-SA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theory of computation 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branch of computer science that deals with whether and how efficiently problems can be solved on </a:t>
            </a:r>
            <a:r>
              <a:rPr lang="en-US" altLang="ar-S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model of computation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using an </a:t>
            </a:r>
            <a:r>
              <a:rPr lang="en-US" altLang="ar-S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ar-SA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ar-SA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200000"/>
              </a:lnSpc>
            </a:pPr>
            <a:r>
              <a:rPr lang="en-US" altLang="ar-S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theory aims to answer questions such as:</a:t>
            </a:r>
          </a:p>
          <a:p>
            <a:pPr marL="533400" indent="-533400">
              <a:lnSpc>
                <a:spcPct val="200000"/>
              </a:lnSpc>
            </a:pPr>
            <a:r>
              <a:rPr lang="en-US" altLang="ar-S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What problems can a computer solve?</a:t>
            </a:r>
          </a:p>
          <a:p>
            <a:pPr marL="533400" indent="-533400">
              <a:lnSpc>
                <a:spcPct val="200000"/>
              </a:lnSpc>
            </a:pPr>
            <a:r>
              <a:rPr lang="en-US" altLang="ar-S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What is the fastest way to solve a given problem?</a:t>
            </a:r>
          </a:p>
          <a:p>
            <a:pPr marL="533400" indent="-533400">
              <a:lnSpc>
                <a:spcPct val="200000"/>
              </a:lnSpc>
            </a:pPr>
            <a:r>
              <a:rPr lang="en-US" altLang="ar-S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Are there problems that are impossible for a computer to solve, no matter how powerful it is?</a:t>
            </a:r>
          </a:p>
        </p:txBody>
      </p:sp>
    </p:spTree>
    <p:extLst>
      <p:ext uri="{BB962C8B-B14F-4D97-AF65-F5344CB8AC3E}">
        <p14:creationId xmlns:p14="http://schemas.microsoft.com/office/powerpoint/2010/main" val="326043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741251"/>
            <a:ext cx="11444962" cy="4581728"/>
          </a:xfrm>
        </p:spPr>
        <p:txBody>
          <a:bodyPr>
            <a:normAutofit fontScale="92500" lnSpcReduction="10000"/>
          </a:bodyPr>
          <a:lstStyle/>
          <a:p>
            <a:pPr marL="533400" indent="-533400">
              <a:lnSpc>
                <a:spcPct val="200000"/>
              </a:lnSpc>
            </a:pP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field is divided into </a:t>
            </a:r>
            <a:r>
              <a:rPr lang="en-US" altLang="ar-S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major branches: </a:t>
            </a:r>
          </a:p>
          <a:p>
            <a:pPr marL="533400" indent="-533400">
              <a:lnSpc>
                <a:spcPct val="200000"/>
              </a:lnSpc>
            </a:pPr>
            <a:r>
              <a:rPr lang="en-US" altLang="ar-S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Automata Theory 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altLang="ar-SA" sz="2100" b="1" dirty="0">
                <a:solidFill>
                  <a:srgbClr val="0070C0"/>
                </a:solidFill>
              </a:rPr>
              <a:t>Formal Languages &amp; Automata </a:t>
            </a:r>
            <a:r>
              <a:rPr lang="en-US" altLang="ar-S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 simple models of computing, such as: Finite Automata and Regular Expression Used in </a:t>
            </a:r>
            <a:r>
              <a:rPr lang="en-US" dirty="0"/>
              <a:t>Compilers                                         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computer?</a:t>
            </a:r>
            <a:endParaRPr lang="en-US" altLang="ar-SA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200000"/>
              </a:lnSpc>
            </a:pPr>
            <a:r>
              <a:rPr lang="en-US" altLang="ar-S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Computability theory: 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 which problems are computationally</a:t>
            </a:r>
            <a:r>
              <a:rPr lang="en-US" altLang="ar-SA" dirty="0">
                <a:solidFill>
                  <a:schemeClr val="tx1"/>
                </a:solidFill>
                <a:cs typeface="+mj-cs"/>
              </a:rPr>
              <a:t> </a:t>
            </a:r>
            <a:r>
              <a:rPr lang="en-US" altLang="ar-S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solvable</a:t>
            </a:r>
            <a:r>
              <a:rPr lang="en-US" altLang="ar-SA" dirty="0">
                <a:solidFill>
                  <a:schemeClr val="tx1"/>
                </a:solidFill>
                <a:cs typeface="+mj-cs"/>
              </a:rPr>
              <a:t> 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computers such as Turing Machine :                                                                     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can and cannot be computed?</a:t>
            </a:r>
            <a:endParaRPr lang="en-US" altLang="ar-SA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200000"/>
              </a:lnSpc>
            </a:pPr>
            <a:r>
              <a:rPr lang="en-US" altLang="ar-SA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Complexity theory: 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deals with the question of </a:t>
            </a:r>
            <a:r>
              <a:rPr lang="en-US" altLang="ar-S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ar-S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lang="en-US" altLang="ar-SA" dirty="0">
                <a:solidFill>
                  <a:schemeClr val="tx1"/>
                </a:solidFill>
                <a:cs typeface="+mj-cs"/>
              </a:rPr>
              <a:t> </a:t>
            </a:r>
            <a:r>
              <a:rPr lang="en-US" altLang="ar-S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problem can be solved, rather than whether it is solvable at all.                                                         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can and cannot be computed efficiently</a:t>
            </a:r>
            <a:endParaRPr lang="en-US" altLang="ar-SA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00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5373CAD1-98D7-4659-8825-AFD86984CBE6}"/>
              </a:ext>
            </a:extLst>
          </p:cNvPr>
          <p:cNvSpPr/>
          <p:nvPr/>
        </p:nvSpPr>
        <p:spPr>
          <a:xfrm>
            <a:off x="4533088" y="465712"/>
            <a:ext cx="3521413" cy="88754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533400" indent="-533400" algn="ctr">
              <a:lnSpc>
                <a:spcPct val="200000"/>
              </a:lnSpc>
            </a:pPr>
            <a:r>
              <a:rPr lang="en-US" altLang="ar-SA" sz="25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of Computation</a:t>
            </a:r>
            <a:endParaRPr lang="en-US" altLang="ar-SA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E510CDEF-F8B4-4885-BC00-DB0B2667431A}"/>
              </a:ext>
            </a:extLst>
          </p:cNvPr>
          <p:cNvSpPr/>
          <p:nvPr/>
        </p:nvSpPr>
        <p:spPr>
          <a:xfrm>
            <a:off x="9124545" y="2276272"/>
            <a:ext cx="1721795" cy="88754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Formal Languages &amp; Automata</a:t>
            </a:r>
            <a:endParaRPr lang="ar-SA" dirty="0"/>
          </a:p>
        </p:txBody>
      </p:sp>
      <p:sp>
        <p:nvSpPr>
          <p:cNvPr id="6" name="مستطيل: زوايا مستديرة 5">
            <a:extLst>
              <a:ext uri="{FF2B5EF4-FFF2-40B4-BE49-F238E27FC236}">
                <a16:creationId xmlns:a16="http://schemas.microsoft.com/office/drawing/2014/main" id="{075569D3-843A-4D8D-9F14-E4CE529354BE}"/>
              </a:ext>
            </a:extLst>
          </p:cNvPr>
          <p:cNvSpPr/>
          <p:nvPr/>
        </p:nvSpPr>
        <p:spPr>
          <a:xfrm>
            <a:off x="5481534" y="2276272"/>
            <a:ext cx="1624519" cy="88754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Computability Theory</a:t>
            </a:r>
            <a:endParaRPr lang="ar-SA" dirty="0"/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29E72398-6869-443C-A12B-C1F1A89EE97E}"/>
              </a:ext>
            </a:extLst>
          </p:cNvPr>
          <p:cNvSpPr/>
          <p:nvPr/>
        </p:nvSpPr>
        <p:spPr>
          <a:xfrm>
            <a:off x="1490792" y="2276272"/>
            <a:ext cx="1721794" cy="88754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/>
              <a:t>Computational Complexity</a:t>
            </a:r>
            <a:endParaRPr lang="ar-SA"/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B0149942-0B58-4F73-B06C-1A87A194009E}"/>
              </a:ext>
            </a:extLst>
          </p:cNvPr>
          <p:cNvSpPr/>
          <p:nvPr/>
        </p:nvSpPr>
        <p:spPr>
          <a:xfrm>
            <a:off x="10846340" y="3611288"/>
            <a:ext cx="1254869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Finite Automata</a:t>
            </a:r>
            <a:endParaRPr lang="ar-SA" dirty="0"/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7A00D11D-6F18-4B99-A98C-825567118510}"/>
              </a:ext>
            </a:extLst>
          </p:cNvPr>
          <p:cNvSpPr/>
          <p:nvPr/>
        </p:nvSpPr>
        <p:spPr>
          <a:xfrm>
            <a:off x="9445557" y="3611288"/>
            <a:ext cx="1254869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Regular Expression</a:t>
            </a:r>
            <a:endParaRPr lang="ar-SA" dirty="0"/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7AEF7795-E958-4FB8-9BCE-BC96AFF7CF6A}"/>
              </a:ext>
            </a:extLst>
          </p:cNvPr>
          <p:cNvSpPr/>
          <p:nvPr/>
        </p:nvSpPr>
        <p:spPr>
          <a:xfrm>
            <a:off x="8054501" y="3611288"/>
            <a:ext cx="1254869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Regular Languages</a:t>
            </a:r>
            <a:endParaRPr lang="ar-SA" dirty="0"/>
          </a:p>
        </p:txBody>
      </p:sp>
      <p:sp>
        <p:nvSpPr>
          <p:cNvPr id="13" name="مستطيل: زوايا مستديرة 12">
            <a:extLst>
              <a:ext uri="{FF2B5EF4-FFF2-40B4-BE49-F238E27FC236}">
                <a16:creationId xmlns:a16="http://schemas.microsoft.com/office/drawing/2014/main" id="{7963E7B0-04A8-4FC2-AD50-BBB7340117BC}"/>
              </a:ext>
            </a:extLst>
          </p:cNvPr>
          <p:cNvSpPr/>
          <p:nvPr/>
        </p:nvSpPr>
        <p:spPr>
          <a:xfrm>
            <a:off x="992274" y="3611288"/>
            <a:ext cx="1359415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Time Complexity</a:t>
            </a:r>
            <a:endParaRPr lang="ar-SA" dirty="0"/>
          </a:p>
        </p:txBody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id="{3870B435-276F-4A7B-B37A-7B6528C22416}"/>
              </a:ext>
            </a:extLst>
          </p:cNvPr>
          <p:cNvSpPr/>
          <p:nvPr/>
        </p:nvSpPr>
        <p:spPr>
          <a:xfrm>
            <a:off x="2706747" y="3611288"/>
            <a:ext cx="1359415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Space Complexity</a:t>
            </a:r>
            <a:endParaRPr lang="ar-SA" dirty="0"/>
          </a:p>
        </p:txBody>
      </p:sp>
      <p:sp>
        <p:nvSpPr>
          <p:cNvPr id="16" name="مستطيل: زوايا مستديرة 15">
            <a:extLst>
              <a:ext uri="{FF2B5EF4-FFF2-40B4-BE49-F238E27FC236}">
                <a16:creationId xmlns:a16="http://schemas.microsoft.com/office/drawing/2014/main" id="{58918D8B-7EB0-44E0-AC32-A48DD7A6EC8E}"/>
              </a:ext>
            </a:extLst>
          </p:cNvPr>
          <p:cNvSpPr/>
          <p:nvPr/>
        </p:nvSpPr>
        <p:spPr>
          <a:xfrm>
            <a:off x="5050328" y="3693825"/>
            <a:ext cx="1359415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Turing Machine</a:t>
            </a:r>
            <a:endParaRPr lang="ar-SA" dirty="0"/>
          </a:p>
        </p:txBody>
      </p:sp>
      <p:sp>
        <p:nvSpPr>
          <p:cNvPr id="17" name="مستطيل: زوايا مستديرة 16">
            <a:extLst>
              <a:ext uri="{FF2B5EF4-FFF2-40B4-BE49-F238E27FC236}">
                <a16:creationId xmlns:a16="http://schemas.microsoft.com/office/drawing/2014/main" id="{BF36E7FB-468D-4EBA-9FA9-7B89CF973576}"/>
              </a:ext>
            </a:extLst>
          </p:cNvPr>
          <p:cNvSpPr/>
          <p:nvPr/>
        </p:nvSpPr>
        <p:spPr>
          <a:xfrm>
            <a:off x="1490792" y="4593782"/>
            <a:ext cx="2212992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P,NP, NP-Complete</a:t>
            </a:r>
            <a:endParaRPr lang="ar-SA" dirty="0"/>
          </a:p>
        </p:txBody>
      </p:sp>
      <p:sp>
        <p:nvSpPr>
          <p:cNvPr id="18" name="مستطيل: زوايا مستديرة 17">
            <a:extLst>
              <a:ext uri="{FF2B5EF4-FFF2-40B4-BE49-F238E27FC236}">
                <a16:creationId xmlns:a16="http://schemas.microsoft.com/office/drawing/2014/main" id="{BE8E597D-3AD0-47CA-B487-ECA2BB237B01}"/>
              </a:ext>
            </a:extLst>
          </p:cNvPr>
          <p:cNvSpPr/>
          <p:nvPr/>
        </p:nvSpPr>
        <p:spPr>
          <a:xfrm>
            <a:off x="6482700" y="3694185"/>
            <a:ext cx="1359415" cy="6786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Halting Problem</a:t>
            </a:r>
            <a:endParaRPr lang="ar-SA" dirty="0"/>
          </a:p>
        </p:txBody>
      </p:sp>
      <p:cxnSp>
        <p:nvCxnSpPr>
          <p:cNvPr id="24" name="رابط كسهم مستقيم 23">
            <a:extLst>
              <a:ext uri="{FF2B5EF4-FFF2-40B4-BE49-F238E27FC236}">
                <a16:creationId xmlns:a16="http://schemas.microsoft.com/office/drawing/2014/main" id="{0AA89922-F174-4082-9ED4-A0D890091D1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293795" y="1353256"/>
            <a:ext cx="3691648" cy="923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رابط كسهم مستقيم 25">
            <a:extLst>
              <a:ext uri="{FF2B5EF4-FFF2-40B4-BE49-F238E27FC236}">
                <a16:creationId xmlns:a16="http://schemas.microsoft.com/office/drawing/2014/main" id="{5A8BFFD9-8CC8-46C6-A037-21E55BB09090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6293794" y="1353256"/>
            <a:ext cx="1" cy="923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رابط كسهم مستقيم 27">
            <a:extLst>
              <a:ext uri="{FF2B5EF4-FFF2-40B4-BE49-F238E27FC236}">
                <a16:creationId xmlns:a16="http://schemas.microsoft.com/office/drawing/2014/main" id="{2A9C7FB5-D984-4FEC-A969-BD9A2E1EFBE0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2351689" y="1353256"/>
            <a:ext cx="3942106" cy="923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رابط كسهم مستقيم 30">
            <a:extLst>
              <a:ext uri="{FF2B5EF4-FFF2-40B4-BE49-F238E27FC236}">
                <a16:creationId xmlns:a16="http://schemas.microsoft.com/office/drawing/2014/main" id="{B9CBFC04-5858-4FDA-8F46-432167D89708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9985443" y="3163816"/>
            <a:ext cx="1488332" cy="447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رابط كسهم مستقيم 33">
            <a:extLst>
              <a:ext uri="{FF2B5EF4-FFF2-40B4-BE49-F238E27FC236}">
                <a16:creationId xmlns:a16="http://schemas.microsoft.com/office/drawing/2014/main" id="{E330A9C5-F26A-4943-936D-C01661224647}"/>
              </a:ext>
            </a:extLst>
          </p:cNvPr>
          <p:cNvCxnSpPr>
            <a:stCxn id="5" idx="2"/>
          </p:cNvCxnSpPr>
          <p:nvPr/>
        </p:nvCxnSpPr>
        <p:spPr>
          <a:xfrm flipH="1">
            <a:off x="9985442" y="3163816"/>
            <a:ext cx="1" cy="530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رابط كسهم مستقيم 35">
            <a:extLst>
              <a:ext uri="{FF2B5EF4-FFF2-40B4-BE49-F238E27FC236}">
                <a16:creationId xmlns:a16="http://schemas.microsoft.com/office/drawing/2014/main" id="{70784374-3DBB-4828-8F64-E01A655CA162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8681936" y="3163816"/>
            <a:ext cx="1303507" cy="447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رابط كسهم مستقيم 37">
            <a:extLst>
              <a:ext uri="{FF2B5EF4-FFF2-40B4-BE49-F238E27FC236}">
                <a16:creationId xmlns:a16="http://schemas.microsoft.com/office/drawing/2014/main" id="{3C8583FA-4A70-4B07-939D-0FBB228F1774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2351689" y="3163816"/>
            <a:ext cx="1034766" cy="447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رابط كسهم مستقيم 39">
            <a:extLst>
              <a:ext uri="{FF2B5EF4-FFF2-40B4-BE49-F238E27FC236}">
                <a16:creationId xmlns:a16="http://schemas.microsoft.com/office/drawing/2014/main" id="{682C319A-F3C6-4D3B-9641-8DB9EE30B000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1671982" y="3163816"/>
            <a:ext cx="679707" cy="447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رابط كسهم مستقيم 41">
            <a:extLst>
              <a:ext uri="{FF2B5EF4-FFF2-40B4-BE49-F238E27FC236}">
                <a16:creationId xmlns:a16="http://schemas.microsoft.com/office/drawing/2014/main" id="{3DEC9E55-080B-41F9-9C59-67E9F6CD4271}"/>
              </a:ext>
            </a:extLst>
          </p:cNvPr>
          <p:cNvCxnSpPr>
            <a:cxnSpLocks/>
            <a:stCxn id="6" idx="2"/>
            <a:endCxn id="6" idx="2"/>
          </p:cNvCxnSpPr>
          <p:nvPr/>
        </p:nvCxnSpPr>
        <p:spPr>
          <a:xfrm>
            <a:off x="6293794" y="3163816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رابط كسهم مستقيم 44">
            <a:extLst>
              <a:ext uri="{FF2B5EF4-FFF2-40B4-BE49-F238E27FC236}">
                <a16:creationId xmlns:a16="http://schemas.microsoft.com/office/drawing/2014/main" id="{1C491CF6-6E49-4C77-90C4-5D3582D275D2}"/>
              </a:ext>
            </a:extLst>
          </p:cNvPr>
          <p:cNvCxnSpPr>
            <a:stCxn id="6" idx="2"/>
            <a:endCxn id="16" idx="0"/>
          </p:cNvCxnSpPr>
          <p:nvPr/>
        </p:nvCxnSpPr>
        <p:spPr>
          <a:xfrm flipH="1">
            <a:off x="5730036" y="3163816"/>
            <a:ext cx="563758" cy="530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رابط كسهم مستقيم 46">
            <a:extLst>
              <a:ext uri="{FF2B5EF4-FFF2-40B4-BE49-F238E27FC236}">
                <a16:creationId xmlns:a16="http://schemas.microsoft.com/office/drawing/2014/main" id="{9B3CCAA1-92AD-4443-9BEB-0B8BB5241FD8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6293794" y="3163816"/>
            <a:ext cx="868614" cy="530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مستطيل 47">
            <a:extLst>
              <a:ext uri="{FF2B5EF4-FFF2-40B4-BE49-F238E27FC236}">
                <a16:creationId xmlns:a16="http://schemas.microsoft.com/office/drawing/2014/main" id="{54206DE8-27BD-4E70-8146-C6B97AD4F066}"/>
              </a:ext>
            </a:extLst>
          </p:cNvPr>
          <p:cNvSpPr/>
          <p:nvPr/>
        </p:nvSpPr>
        <p:spPr>
          <a:xfrm>
            <a:off x="5430042" y="4499043"/>
            <a:ext cx="2572967" cy="868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dirty="0"/>
              <a:t>Decidable Problems) </a:t>
            </a:r>
          </a:p>
          <a:p>
            <a:r>
              <a:rPr lang="en-US" dirty="0"/>
              <a:t>Undecidable Problems) </a:t>
            </a:r>
          </a:p>
        </p:txBody>
      </p:sp>
    </p:spTree>
    <p:extLst>
      <p:ext uri="{BB962C8B-B14F-4D97-AF65-F5344CB8AC3E}">
        <p14:creationId xmlns:p14="http://schemas.microsoft.com/office/powerpoint/2010/main" val="363952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F5FD8A-BA8F-4DF1-A879-714EBBB1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90367"/>
            <a:ext cx="10058400" cy="86187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Automata Theory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574CBB9-4643-4269-A85E-AC8EEE46B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36D6C8FC-23A9-402C-8705-38F5D53F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9" y="1737360"/>
            <a:ext cx="10904707" cy="455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5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Computability Theory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614791"/>
            <a:ext cx="7047637" cy="474709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are algorithms to solve many problems.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But there are some problems for which there is no algorithm.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These are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undecidable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problems:</a:t>
            </a:r>
          </a:p>
          <a:p>
            <a:pPr marL="534988" indent="-87313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Does a program run forever?</a:t>
            </a:r>
          </a:p>
          <a:p>
            <a:pPr marL="534988" indent="-87313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Is a program correct?</a:t>
            </a:r>
          </a:p>
          <a:p>
            <a:pPr marL="534988" indent="-87313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Are two programs equivalent</a:t>
            </a:r>
          </a:p>
        </p:txBody>
      </p:sp>
    </p:spTree>
    <p:extLst>
      <p:ext uri="{BB962C8B-B14F-4D97-AF65-F5344CB8AC3E}">
        <p14:creationId xmlns:p14="http://schemas.microsoft.com/office/powerpoint/2010/main" val="4157250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Complexity Theory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614791"/>
            <a:ext cx="10695510" cy="474709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problems that are solvable, how long does it take for an algorithm to solve a problem?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problems can be solved efficiently: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path from A to H with total cost at most 20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problems have no known efficient algorithm: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path from A to H with total cost at least 50?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745EF98E-FEB3-487A-BC99-B91F1054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909" y="2259249"/>
            <a:ext cx="51339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06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Basic Concepts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731523"/>
            <a:ext cx="10695510" cy="463036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</a:rPr>
              <a:t>- Alphabet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US" b="1" dirty="0">
                <a:solidFill>
                  <a:schemeClr val="tx1"/>
                </a:solidFill>
              </a:rPr>
              <a:t> A finite set of symbols, such as Σ = {0,1}.</a:t>
            </a:r>
          </a:p>
          <a:p>
            <a:pPr marL="360363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Symbol</a:t>
            </a:r>
            <a:r>
              <a:rPr lang="en-US" dirty="0">
                <a:solidFill>
                  <a:schemeClr val="tx1"/>
                </a:solidFill>
              </a:rPr>
              <a:t>: A single element of the alphabet.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0000"/>
                </a:solidFill>
              </a:rPr>
              <a:t>- String</a:t>
            </a:r>
            <a:r>
              <a:rPr lang="en-US" b="1" dirty="0">
                <a:solidFill>
                  <a:srgbClr val="0070C0"/>
                </a:solidFill>
              </a:rPr>
              <a:t>/Word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b="1" dirty="0">
                <a:solidFill>
                  <a:schemeClr val="tx1"/>
                </a:solidFill>
              </a:rPr>
              <a:t>A sequence of symbols.</a:t>
            </a:r>
          </a:p>
          <a:p>
            <a:pPr marL="534988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Empty String</a:t>
            </a:r>
            <a:r>
              <a:rPr lang="en-US" dirty="0">
                <a:solidFill>
                  <a:schemeClr val="tx1"/>
                </a:solidFill>
              </a:rPr>
              <a:t>: Denoted by ε.</a:t>
            </a:r>
          </a:p>
          <a:p>
            <a:pPr marL="534988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String length</a:t>
            </a:r>
            <a:r>
              <a:rPr lang="en-US" dirty="0">
                <a:solidFill>
                  <a:schemeClr val="tx1"/>
                </a:solidFill>
              </a:rPr>
              <a:t>: Denoted by |w|.</a:t>
            </a:r>
          </a:p>
          <a:p>
            <a:pPr marL="174625" indent="-87313" algn="just" defTabSz="447675">
              <a:lnSpc>
                <a:spcPct val="150000"/>
              </a:lnSpc>
              <a:buFontTx/>
              <a:buChar char="-"/>
              <a:tabLst>
                <a:tab pos="174625" algn="l"/>
              </a:tabLst>
            </a:pPr>
            <a:r>
              <a:rPr lang="en-US" sz="2800" b="1" dirty="0">
                <a:solidFill>
                  <a:srgbClr val="FF0000"/>
                </a:solidFill>
              </a:rPr>
              <a:t>language: </a:t>
            </a:r>
            <a:r>
              <a:rPr lang="en-US" sz="2800" dirty="0">
                <a:solidFill>
                  <a:schemeClr val="tx1"/>
                </a:solidFill>
              </a:rPr>
              <a:t>as a set of strings composed of alphabet symbols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Operations on strings and languages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0BB59E20-C1C2-47BA-BF51-F8767B42C025}"/>
              </a:ext>
            </a:extLst>
          </p:cNvPr>
          <p:cNvSpPr/>
          <p:nvPr/>
        </p:nvSpPr>
        <p:spPr>
          <a:xfrm>
            <a:off x="8701444" y="4435814"/>
            <a:ext cx="3490556" cy="1663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Concatenation.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Power (e.g., Σ², Σ³).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Kleene Star, denoted by Σ*.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Kleene Plus, denoted by Σ⁺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65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5" y="1352145"/>
            <a:ext cx="11162437" cy="500974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alphabet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of fundamental units (called letters or symbols).</a:t>
            </a:r>
          </a:p>
          <a:p>
            <a:pPr lvl="1"/>
            <a:r>
              <a:rPr lang="en-US" altLang="ar-SA" sz="2400" dirty="0">
                <a:solidFill>
                  <a:srgbClr val="FF0000"/>
                </a:solidFill>
              </a:rPr>
              <a:t>Notation: </a:t>
            </a:r>
            <a:r>
              <a:rPr lang="el-GR" altLang="ar-SA" sz="2400" dirty="0">
                <a:solidFill>
                  <a:srgbClr val="FF0000"/>
                </a:solidFill>
                <a:sym typeface="Symbol" panose="05050102010706020507" pitchFamily="18" charset="2"/>
              </a:rPr>
              <a:t></a:t>
            </a:r>
            <a:endParaRPr lang="en-US" altLang="ar-SA" sz="2400" dirty="0"/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typically denote an alphabet by a capital Greek letter             • e.g., Σ or Γ.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alphabet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lower-case Roman letters is                   Σ= { a, b, c,..., z 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alphabet of upper-case Roman letters is                   Γ= {A, B, C,..., Z 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The alphabet of Arabic numerals is             Σ= { 0, 1, 2,..., 9 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ar-SA" dirty="0">
                <a:solidFill>
                  <a:srgbClr val="006600"/>
                </a:solidFill>
              </a:rPr>
              <a:t>Binary alphabet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Σ= {0, 1}.</a:t>
            </a:r>
          </a:p>
        </p:txBody>
      </p:sp>
    </p:spTree>
    <p:extLst>
      <p:ext uri="{BB962C8B-B14F-4D97-AF65-F5344CB8AC3E}">
        <p14:creationId xmlns:p14="http://schemas.microsoft.com/office/powerpoint/2010/main" val="3032809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682885"/>
            <a:ext cx="11809379" cy="46790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string over an alphabet is a finite sequence of symbols from the alphabet (written without commas or spaces between the symbols).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cat, food, c,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babbz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strings over the alphabet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Σ= {a, b, c, . . . , z}.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0131 is a string over the alphabet Σ= {0, 1, 2,..., 9}.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ar-SA" dirty="0">
                <a:solidFill>
                  <a:srgbClr val="006600"/>
                </a:solidFill>
              </a:rPr>
              <a:t> 0000 is a string over the binary alphabet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993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682885"/>
            <a:ext cx="11809379" cy="46790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For any string s, the length of s is the number of symbols  in 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Sometimes denote length of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length(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or |s|.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length(mom)= |mom| =3.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empty string or null string, denoted by ε, is the string consisting of no symbols,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|ε| =0.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919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11809379" cy="464009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Kleene Star: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given alphabet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 the set of all possible strings (including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If 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Σ= {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b}, then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sz="2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 ε,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aa, ab,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bb,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aba,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 . . 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Lexicographic </a:t>
            </a:r>
            <a:r>
              <a:rPr lang="en-US" sz="21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A list of strings w1,w2,... over an alphabet Σ is in lexicographic order if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shorter strings always appear before longer strings, and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strings of the same length appear in alphabetical order.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If Σ= {0, 1}, the lexicographic ordering of the strings 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Σ</a:t>
            </a:r>
            <a:r>
              <a:rPr lang="en-US" sz="28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ε, 0, 1, 00, 01, 10, 11, 000, 001, 010, 011, ...</a:t>
            </a:r>
          </a:p>
        </p:txBody>
      </p:sp>
    </p:spTree>
    <p:extLst>
      <p:ext uri="{BB962C8B-B14F-4D97-AF65-F5344CB8AC3E}">
        <p14:creationId xmlns:p14="http://schemas.microsoft.com/office/powerpoint/2010/main" val="1411112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11809379" cy="464009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Given two strings u and v, we define the concatenation of u and v to be the string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If u 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 = ab, then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abbab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vu 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ababb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If u = ε and v = ab, then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ab.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If u = bb and v = ε, then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bb.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If u = ε and v = ε, then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ε; i.e.,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εε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ε.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5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6702357" cy="4610911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string w, we define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1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n ≥ 0 inductively as follows: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</a:t>
            </a:r>
            <a:r>
              <a:rPr lang="en-US" sz="2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2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w</a:t>
            </a:r>
            <a:r>
              <a:rPr lang="en-US" sz="2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n−1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for any n ≥ 1.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If w = dog, then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w0 =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 = w</a:t>
            </a:r>
            <a:r>
              <a:rPr lang="en-US" sz="2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=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 = dog,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 = w</a:t>
            </a:r>
            <a:r>
              <a:rPr lang="en-US" sz="2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dogdog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 = w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dogdogdog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4" name="عنصر نائب للمحتوى 2">
            <a:extLst>
              <a:ext uri="{FF2B5EF4-FFF2-40B4-BE49-F238E27FC236}">
                <a16:creationId xmlns:a16="http://schemas.microsoft.com/office/drawing/2014/main" id="{B8B0108C-5A46-40F0-981A-A02960A50AD4}"/>
              </a:ext>
            </a:extLst>
          </p:cNvPr>
          <p:cNvSpPr txBox="1">
            <a:spLocks/>
          </p:cNvSpPr>
          <p:nvPr/>
        </p:nvSpPr>
        <p:spPr>
          <a:xfrm>
            <a:off x="6809147" y="2006275"/>
            <a:ext cx="6322978" cy="371596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Example: Can also apply this to a single symbol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</a:t>
            </a:r>
            <a:r>
              <a:rPr lang="en-US" sz="2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</a:t>
            </a:r>
            <a:r>
              <a:rPr lang="en-US" sz="22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634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11809379" cy="464009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 :g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iven a string </a:t>
            </a: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substring of s is any contiguous part of string 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i.e.,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substring of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there exist strings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(either or both possibly empty) such that s = </a:t>
            </a: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xwy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 = 47 is a substring of s = 472 since letting x = ε and y =2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gives s = </a:t>
            </a: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xwy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string 472 has substrings ε, 4, 7, 2, 47, 72, and 472.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42 is not a substring of 472.</a:t>
            </a:r>
          </a:p>
        </p:txBody>
      </p:sp>
    </p:spTree>
    <p:extLst>
      <p:ext uri="{BB962C8B-B14F-4D97-AF65-F5344CB8AC3E}">
        <p14:creationId xmlns:p14="http://schemas.microsoft.com/office/powerpoint/2010/main" val="106380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691A3130-FF77-4841-B648-934E64B1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8C7075D-71A3-41CB-BDFF-B4A86C5143E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1BE16D6-0F5E-46D6-8127-6D5AC911B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SA"/>
              <a:t>Binary operations on strings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60DBBED-4FAA-496D-9F4F-CEE4ED799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None/>
            </a:pPr>
            <a:r>
              <a:rPr lang="en-US" altLang="ar-SA" sz="2900" b="1" dirty="0"/>
              <a:t>2. Prefix</a:t>
            </a:r>
            <a:r>
              <a:rPr lang="en-US" altLang="ar-SA" sz="2900" dirty="0"/>
              <a:t> - u is a </a:t>
            </a:r>
            <a:r>
              <a:rPr lang="en-US" altLang="ar-SA" sz="2900" dirty="0">
                <a:solidFill>
                  <a:schemeClr val="accent1"/>
                </a:solidFill>
              </a:rPr>
              <a:t>prefix</a:t>
            </a:r>
            <a:r>
              <a:rPr lang="en-US" altLang="ar-SA" sz="2900" dirty="0">
                <a:solidFill>
                  <a:srgbClr val="FF0000"/>
                </a:solidFill>
              </a:rPr>
              <a:t> </a:t>
            </a:r>
            <a:r>
              <a:rPr lang="en-US" altLang="ar-SA" sz="2900" dirty="0"/>
              <a:t>of v if there is a w such that v = </a:t>
            </a:r>
            <a:r>
              <a:rPr lang="en-US" altLang="ar-SA" sz="2900" dirty="0" err="1"/>
              <a:t>uw</a:t>
            </a:r>
            <a:r>
              <a:rPr lang="en-US" altLang="ar-SA" sz="2900" dirty="0"/>
              <a:t>.</a:t>
            </a:r>
          </a:p>
          <a:p>
            <a:pPr marL="914400" lvl="1" indent="-457200"/>
            <a:r>
              <a:rPr lang="en-US" altLang="ar-SA" sz="2600" dirty="0">
                <a:solidFill>
                  <a:srgbClr val="006600"/>
                </a:solidFill>
              </a:rPr>
              <a:t>Examples</a:t>
            </a:r>
            <a:r>
              <a:rPr lang="en-US" altLang="ar-SA" sz="2400" dirty="0">
                <a:solidFill>
                  <a:srgbClr val="006600"/>
                </a:solidFill>
              </a:rPr>
              <a:t>: </a:t>
            </a:r>
          </a:p>
          <a:p>
            <a:pPr marL="1295400" lvl="2" indent="-381000"/>
            <a:r>
              <a:rPr lang="el-GR" altLang="ar-SA" sz="2000" dirty="0">
                <a:solidFill>
                  <a:srgbClr val="00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ar-SA" sz="2000" dirty="0">
                <a:solidFill>
                  <a:srgbClr val="006600"/>
                </a:solidFill>
              </a:rPr>
              <a:t> is a prefix of 0 since 0 = </a:t>
            </a:r>
            <a:r>
              <a:rPr lang="el-GR" altLang="ar-SA" sz="2000" dirty="0">
                <a:solidFill>
                  <a:srgbClr val="00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ar-SA" sz="2000" dirty="0">
                <a:solidFill>
                  <a:srgbClr val="006600"/>
                </a:solidFill>
              </a:rPr>
              <a:t>0</a:t>
            </a:r>
          </a:p>
          <a:p>
            <a:pPr marL="1295400" lvl="2" indent="-381000"/>
            <a:r>
              <a:rPr lang="en-US" altLang="ar-SA" sz="2000" dirty="0">
                <a:solidFill>
                  <a:srgbClr val="006600"/>
                </a:solidFill>
              </a:rPr>
              <a:t>apple is a prefix of </a:t>
            </a:r>
            <a:r>
              <a:rPr lang="en-US" altLang="ar-SA" sz="2000" dirty="0" err="1">
                <a:solidFill>
                  <a:srgbClr val="006600"/>
                </a:solidFill>
              </a:rPr>
              <a:t>appleton</a:t>
            </a:r>
            <a:r>
              <a:rPr lang="en-US" altLang="ar-SA" sz="2000" dirty="0">
                <a:solidFill>
                  <a:srgbClr val="006600"/>
                </a:solidFill>
              </a:rPr>
              <a:t> since </a:t>
            </a:r>
            <a:r>
              <a:rPr lang="en-US" altLang="ar-SA" sz="2000" dirty="0" err="1">
                <a:solidFill>
                  <a:srgbClr val="006600"/>
                </a:solidFill>
              </a:rPr>
              <a:t>appleton</a:t>
            </a:r>
            <a:r>
              <a:rPr lang="en-US" altLang="ar-SA" sz="2000" dirty="0">
                <a:solidFill>
                  <a:srgbClr val="006600"/>
                </a:solidFill>
              </a:rPr>
              <a:t> = </a:t>
            </a:r>
            <a:r>
              <a:rPr lang="en-US" altLang="ar-SA" sz="2000" dirty="0" err="1">
                <a:solidFill>
                  <a:srgbClr val="006600"/>
                </a:solidFill>
              </a:rPr>
              <a:t>apple.ton</a:t>
            </a:r>
            <a:endParaRPr lang="en-US" altLang="ar-SA" sz="2000" b="1" dirty="0">
              <a:solidFill>
                <a:srgbClr val="006600"/>
              </a:solidFill>
            </a:endParaRPr>
          </a:p>
          <a:p>
            <a:pPr marL="533400" indent="-533400">
              <a:buNone/>
            </a:pPr>
            <a:r>
              <a:rPr lang="en-US" altLang="ar-SA" sz="3000" b="1" dirty="0"/>
              <a:t>3. Suffix</a:t>
            </a:r>
            <a:r>
              <a:rPr lang="en-US" altLang="ar-SA" sz="3000" dirty="0"/>
              <a:t> - u is a </a:t>
            </a:r>
            <a:r>
              <a:rPr lang="en-US" altLang="ar-SA" sz="3000" dirty="0">
                <a:solidFill>
                  <a:schemeClr val="accent1"/>
                </a:solidFill>
              </a:rPr>
              <a:t>suffix</a:t>
            </a:r>
            <a:r>
              <a:rPr lang="en-US" altLang="ar-SA" sz="3000" dirty="0"/>
              <a:t> of v if there is a w such that v = </a:t>
            </a:r>
            <a:r>
              <a:rPr lang="en-US" altLang="ar-SA" sz="3000" dirty="0" err="1"/>
              <a:t>wu</a:t>
            </a:r>
            <a:r>
              <a:rPr lang="en-US" altLang="ar-SA" sz="3000" dirty="0"/>
              <a:t>.</a:t>
            </a:r>
          </a:p>
          <a:p>
            <a:pPr marL="914400" lvl="1" indent="-457200"/>
            <a:r>
              <a:rPr lang="en-US" altLang="ar-SA" sz="2600" dirty="0">
                <a:solidFill>
                  <a:srgbClr val="006600"/>
                </a:solidFill>
              </a:rPr>
              <a:t>Examples:</a:t>
            </a:r>
            <a:r>
              <a:rPr lang="en-US" altLang="ar-SA" sz="2400" dirty="0">
                <a:solidFill>
                  <a:srgbClr val="006600"/>
                </a:solidFill>
              </a:rPr>
              <a:t> </a:t>
            </a:r>
          </a:p>
          <a:p>
            <a:pPr marL="1295400" lvl="2" indent="-381000"/>
            <a:r>
              <a:rPr lang="en-US" altLang="ar-SA" sz="2000" dirty="0">
                <a:solidFill>
                  <a:srgbClr val="006600"/>
                </a:solidFill>
              </a:rPr>
              <a:t>0 is a suffix of 0 since 0 = ? </a:t>
            </a:r>
          </a:p>
          <a:p>
            <a:pPr marL="1295400" lvl="2" indent="-381000"/>
            <a:r>
              <a:rPr lang="en-US" altLang="ar-SA" sz="2000" dirty="0">
                <a:solidFill>
                  <a:srgbClr val="006600"/>
                </a:solidFill>
              </a:rPr>
              <a:t>ton is a suffix of </a:t>
            </a:r>
            <a:r>
              <a:rPr lang="en-US" altLang="ar-SA" sz="2000" dirty="0" err="1">
                <a:solidFill>
                  <a:srgbClr val="006600"/>
                </a:solidFill>
              </a:rPr>
              <a:t>appleton</a:t>
            </a:r>
            <a:r>
              <a:rPr lang="en-US" altLang="ar-SA" sz="2000" dirty="0">
                <a:solidFill>
                  <a:srgbClr val="006600"/>
                </a:solidFill>
              </a:rPr>
              <a:t> since 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11809379" cy="464009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formal language (or simply language) is a set of  strings over an alphabet.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Language will typically be denoted by capital Roman letter, e.g., A, B, or L.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Computer languages, e.g., C or C++ or Java, are formal languages with alphabet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Σ= {a, b,..., z, A, B,..., Z,, 0, 1, 2,..., 9, 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&gt;, &lt;, =, +, -, *, /, (, ), ., ,, &amp;, !, %, |, ’, ",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ar-SA" dirty="0"/>
              <a:t>: , ; , ˆ ,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{, }, @, #, \, ?, $, ~, ‘, CR, FF}.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rules of syntax define the rules for the language.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291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11809379" cy="464009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Alphabet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Σ= {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                    L0 = {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xx, xxx,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 . .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= {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3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n =0, 1, 2, 3 ...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that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x</a:t>
            </a:r>
            <a:r>
              <a:rPr lang="en-US" sz="23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 ∈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there are different ways we can specify a language.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language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= {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3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n ≥ 1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 ∈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L1.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48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11809379" cy="464009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Alphabet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Σ= {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                          L2 = { x, xxx,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xxxxx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xxxxxxx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 . .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= { x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2n+1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n =0, 1, 2, 3,...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Alphabet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Σ= {0, 1, 2,..., 9}.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               L3 = { any string of symbols that does not start with symbol “0”}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= { </a:t>
            </a:r>
            <a:r>
              <a:rPr lang="el-G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ε, 1, 2, 3, ..., 9, 10, 11,... }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Let Σ= {a, b}, and we can define a language L consisting of all strings that begin with a followed by zero or more b’s; i.e.,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L = { a, ab, </a:t>
            </a: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 . . }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= { </a:t>
            </a: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300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n =0, 1, 2,... }.</a:t>
            </a:r>
          </a:p>
        </p:txBody>
      </p:sp>
    </p:spTree>
    <p:extLst>
      <p:ext uri="{BB962C8B-B14F-4D97-AF65-F5344CB8AC3E}">
        <p14:creationId xmlns:p14="http://schemas.microsoft.com/office/powerpoint/2010/main" val="571818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endParaRPr lang="en-US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B309E9C-0EC1-E1C6-A649-C858F9D2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0" y="1721795"/>
            <a:ext cx="11809379" cy="464009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ar-SA" b="1" dirty="0"/>
              <a:t>Empty language</a:t>
            </a:r>
            <a:r>
              <a:rPr lang="en-US" altLang="ar-SA" dirty="0"/>
              <a:t> : empty set of string(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set consisting of no elements.)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</a:rPr>
              <a:t>         - ε ∈∅ since ∅ has no elements.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</a:rPr>
              <a:t>          - ∅ = { ε } since ∅ has no elements.</a:t>
            </a:r>
          </a:p>
          <a:p>
            <a:r>
              <a:rPr lang="en-US" altLang="ar-SA" b="1" dirty="0"/>
              <a:t>Language over alphabet </a:t>
            </a:r>
            <a:r>
              <a:rPr lang="el-GR" altLang="ar-SA" dirty="0">
                <a:sym typeface="Symbol" panose="05050102010706020507" pitchFamily="18" charset="2"/>
              </a:rPr>
              <a:t></a:t>
            </a:r>
            <a:r>
              <a:rPr lang="en-US" altLang="ar-SA" dirty="0"/>
              <a:t> - a set of strings over </a:t>
            </a:r>
            <a:r>
              <a:rPr lang="el-GR" altLang="ar-SA" dirty="0">
                <a:sym typeface="Symbol" panose="05050102010706020507" pitchFamily="18" charset="2"/>
              </a:rPr>
              <a:t></a:t>
            </a:r>
            <a:r>
              <a:rPr lang="en-US" altLang="ar-SA" dirty="0"/>
              <a:t>. </a:t>
            </a:r>
          </a:p>
          <a:p>
            <a:pPr lvl="1"/>
            <a:r>
              <a:rPr lang="en-US" altLang="ar-SA" dirty="0">
                <a:solidFill>
                  <a:srgbClr val="FF0000"/>
                </a:solidFill>
              </a:rPr>
              <a:t>Notation: L. </a:t>
            </a:r>
          </a:p>
          <a:p>
            <a:pPr lvl="1"/>
            <a:r>
              <a:rPr lang="en-US" altLang="ar-SA" dirty="0">
                <a:solidFill>
                  <a:srgbClr val="006600"/>
                </a:solidFill>
              </a:rPr>
              <a:t>Examples: </a:t>
            </a:r>
          </a:p>
          <a:p>
            <a:pPr lvl="2"/>
            <a:r>
              <a:rPr lang="en-US" altLang="ar-SA" sz="1800" dirty="0">
                <a:solidFill>
                  <a:srgbClr val="006600"/>
                </a:solidFill>
              </a:rPr>
              <a:t>{0, 00, 000, ...} is an "infinite" language over the binary alphabet. </a:t>
            </a:r>
          </a:p>
          <a:p>
            <a:pPr lvl="2"/>
            <a:r>
              <a:rPr lang="en-US" altLang="ar-SA" sz="1800" dirty="0">
                <a:solidFill>
                  <a:srgbClr val="006600"/>
                </a:solidFill>
              </a:rPr>
              <a:t>{a, b, c} is a "finite" language over the English alphabet. 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78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08BDDD-EA80-3F97-B390-F47FF8F9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5"/>
            <a:ext cx="10515600" cy="1016414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Relations and Operations</a:t>
            </a:r>
            <a:endParaRPr lang="en-US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7DAFD32B-94E4-4557-9CF2-9A6FA36A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3" y="1842276"/>
            <a:ext cx="6867525" cy="4412609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9413913D-0AD7-41F8-AFFE-057D4E20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013" y="4097344"/>
            <a:ext cx="7104434" cy="225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1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DB9A7D-1566-4D32-B3E2-A8A9594C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B040D3D-F65B-4271-9C92-1D3E29503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A8C4B4ED-10F3-4F19-ACD5-B8D93F61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86603"/>
            <a:ext cx="10208854" cy="595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687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1A56A20-19E4-4E51-ADAB-34F152CC1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B704D82-40EA-4397-B1E6-4FF116573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128A04F4-0FBE-40F3-94F5-CB3E6E27A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17" y="214009"/>
            <a:ext cx="10495740" cy="606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96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E38A08FE-2AD3-4DBA-AD28-F9A1D0A93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758" y="296331"/>
            <a:ext cx="10390458" cy="600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91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9F3760D-9BE2-42E6-B5E4-61797027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5771C87-4551-495D-8E7A-4117FC1AC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0CF1E827-F9F5-4719-A0AC-875F02DCA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6603"/>
            <a:ext cx="10215988" cy="578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2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CB19048-DE0D-4A61-B882-AB4EC6E0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606DD6C-C5C7-4CC9-922E-AA7521D59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0362EF9B-E1C6-414F-9B12-8193103A8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10" y="286603"/>
            <a:ext cx="10437779" cy="5914773"/>
          </a:xfrm>
          <a:prstGeom prst="rect">
            <a:avLst/>
          </a:prstGeom>
        </p:spPr>
      </p:pic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D8665A97-4ABE-4FF8-8F18-D8071B195A3F}"/>
              </a:ext>
            </a:extLst>
          </p:cNvPr>
          <p:cNvSpPr/>
          <p:nvPr/>
        </p:nvSpPr>
        <p:spPr>
          <a:xfrm>
            <a:off x="2276272" y="5214025"/>
            <a:ext cx="535022" cy="24319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8663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9DEC77D-2EBF-4FF0-BB66-ECD3015B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47D610A-06C8-4EEB-BD81-12E08505F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D4AA2EC0-7811-472E-85D1-C3098CD1A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10" y="286603"/>
            <a:ext cx="10301591" cy="59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05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6CB2CE8-E5BE-433D-9116-6D1F6E52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2A7144B-CFEF-4C2B-A885-5C36706AA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DF2E16DE-6ED0-4076-A658-446F74498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17" y="145915"/>
            <a:ext cx="10535055" cy="581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75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348920C-5066-4B60-8C2B-CB70D4A7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D867593-B655-4A47-95DA-3FDA413F1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A9996302-4D3D-411E-8160-77F0C5CD7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87" y="286602"/>
            <a:ext cx="10452370" cy="549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8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0954197-49A1-49AD-887C-059A343A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559926C-083A-4672-9BB2-1A800E4D2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59691844-8191-4C1D-B1FB-A212C49DC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83" y="286604"/>
            <a:ext cx="10525327" cy="59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45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B20CB5-75DD-4F4A-81BB-8B9A9807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2EF7D9E-1DFA-44BA-A737-E3A212B87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B8424775-4FFE-4B98-98C3-AB3AF913B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07005"/>
            <a:ext cx="10773059" cy="59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89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B125B31-D282-4865-9986-35B5B0BC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5E090B3-E358-46B5-BE87-0846A2A70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E1649E94-E3E8-4530-B828-1C617A209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43" y="0"/>
            <a:ext cx="10963072" cy="616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924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28F44C6-4AA1-44D0-9948-987165E8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72B6496-56C2-41D4-AF5E-FFEC2AC5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E1D8371B-5B2E-42D9-92CD-6C9953BB4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86603"/>
            <a:ext cx="10257493" cy="56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224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A363E2C-AE7A-4D25-A69A-0BFD01A4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328FFD3-0A35-45E5-B7A3-5D63B9C8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E46D0F52-6E26-4B98-8C7C-655331F10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11" y="75041"/>
            <a:ext cx="10535055" cy="612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17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38B6DAF-6A36-4EF6-852E-E0C26309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E29AB903-5EAB-439D-A8A3-530940E91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50" y="1605064"/>
            <a:ext cx="10826885" cy="4640094"/>
          </a:xfrm>
          <a:prstGeom prst="rect">
            <a:avLst/>
          </a:prstGeom>
        </p:spPr>
      </p:pic>
      <p:sp>
        <p:nvSpPr>
          <p:cNvPr id="5" name="عنوان 1">
            <a:extLst>
              <a:ext uri="{FF2B5EF4-FFF2-40B4-BE49-F238E27FC236}">
                <a16:creationId xmlns:a16="http://schemas.microsoft.com/office/drawing/2014/main" id="{4C98BC54-B9A5-430B-97C4-540EBB0BE48D}"/>
              </a:ext>
            </a:extLst>
          </p:cNvPr>
          <p:cNvSpPr txBox="1">
            <a:spLocks/>
          </p:cNvSpPr>
          <p:nvPr/>
        </p:nvSpPr>
        <p:spPr>
          <a:xfrm>
            <a:off x="838200" y="245855"/>
            <a:ext cx="10515600" cy="101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213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38B6DAF-6A36-4EF6-852E-E0C26309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وان 1">
            <a:extLst>
              <a:ext uri="{FF2B5EF4-FFF2-40B4-BE49-F238E27FC236}">
                <a16:creationId xmlns:a16="http://schemas.microsoft.com/office/drawing/2014/main" id="{4C98BC54-B9A5-430B-97C4-540EBB0BE48D}"/>
              </a:ext>
            </a:extLst>
          </p:cNvPr>
          <p:cNvSpPr txBox="1">
            <a:spLocks/>
          </p:cNvSpPr>
          <p:nvPr/>
        </p:nvSpPr>
        <p:spPr>
          <a:xfrm>
            <a:off x="838200" y="245855"/>
            <a:ext cx="10515600" cy="101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Directed Graph</a:t>
            </a:r>
            <a:endParaRPr lang="en-US" dirty="0"/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FF326389-FD52-4986-9502-DA15FFFD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712068"/>
            <a:ext cx="10515600" cy="459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15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38B6DAF-6A36-4EF6-852E-E0C26309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وان 1">
            <a:extLst>
              <a:ext uri="{FF2B5EF4-FFF2-40B4-BE49-F238E27FC236}">
                <a16:creationId xmlns:a16="http://schemas.microsoft.com/office/drawing/2014/main" id="{4C98BC54-B9A5-430B-97C4-540EBB0BE48D}"/>
              </a:ext>
            </a:extLst>
          </p:cNvPr>
          <p:cNvSpPr txBox="1">
            <a:spLocks/>
          </p:cNvSpPr>
          <p:nvPr/>
        </p:nvSpPr>
        <p:spPr>
          <a:xfrm>
            <a:off x="838200" y="245855"/>
            <a:ext cx="10515600" cy="101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Logic</a:t>
            </a:r>
            <a:endParaRPr lang="en-US" dirty="0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1EE4C317-1E17-456C-AEDC-AD2D93D7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74" y="1741251"/>
            <a:ext cx="10883306" cy="465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670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38B6DAF-6A36-4EF6-852E-E0C26309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وان 1">
            <a:extLst>
              <a:ext uri="{FF2B5EF4-FFF2-40B4-BE49-F238E27FC236}">
                <a16:creationId xmlns:a16="http://schemas.microsoft.com/office/drawing/2014/main" id="{4C98BC54-B9A5-430B-97C4-540EBB0BE48D}"/>
              </a:ext>
            </a:extLst>
          </p:cNvPr>
          <p:cNvSpPr txBox="1">
            <a:spLocks/>
          </p:cNvSpPr>
          <p:nvPr/>
        </p:nvSpPr>
        <p:spPr>
          <a:xfrm>
            <a:off x="838200" y="245855"/>
            <a:ext cx="10515600" cy="10164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Properties of Boolean Logic</a:t>
            </a:r>
            <a:endParaRPr lang="en-US" dirty="0"/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A8339F69-9EF6-46EB-BA9E-57FAA218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05" y="1657349"/>
            <a:ext cx="11175786" cy="4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07367"/>
      </p:ext>
    </p:extLst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10328</TotalTime>
  <Words>2014</Words>
  <Application>Microsoft Office PowerPoint</Application>
  <PresentationFormat>شاشة عريضة</PresentationFormat>
  <Paragraphs>204</Paragraphs>
  <Slides>43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Comic Sans MS</vt:lpstr>
      <vt:lpstr>Symbol</vt:lpstr>
      <vt:lpstr>Times New Roman</vt:lpstr>
      <vt:lpstr>Wingdings</vt:lpstr>
      <vt:lpstr>أثر رجعي</vt:lpstr>
      <vt:lpstr>Introduction to Theory of Computation </vt:lpstr>
      <vt:lpstr>Syllabus</vt:lpstr>
      <vt:lpstr>عرض تقديمي في PowerPoint</vt:lpstr>
      <vt:lpstr>عرض تقديمي في PowerPoint</vt:lpstr>
      <vt:lpstr>عرض تقديمي في PowerPoint</vt:lpstr>
      <vt:lpstr>The Importance of Computational Theory in Computer Science</vt:lpstr>
      <vt:lpstr>Definition</vt:lpstr>
      <vt:lpstr>Introduction</vt:lpstr>
      <vt:lpstr>عرض تقديمي في PowerPoint</vt:lpstr>
      <vt:lpstr>Automata Theory</vt:lpstr>
      <vt:lpstr>Computability Theory</vt:lpstr>
      <vt:lpstr>Complexity Theory</vt:lpstr>
      <vt:lpstr>Basic Concepts</vt:lpstr>
      <vt:lpstr>alphabet</vt:lpstr>
      <vt:lpstr>Strings</vt:lpstr>
      <vt:lpstr>Strings</vt:lpstr>
      <vt:lpstr>Strings</vt:lpstr>
      <vt:lpstr>Strings</vt:lpstr>
      <vt:lpstr>Strings</vt:lpstr>
      <vt:lpstr>Strings</vt:lpstr>
      <vt:lpstr>Binary operations on strings</vt:lpstr>
      <vt:lpstr>Languages</vt:lpstr>
      <vt:lpstr>Languages</vt:lpstr>
      <vt:lpstr>Languages</vt:lpstr>
      <vt:lpstr>Languages</vt:lpstr>
      <vt:lpstr>Set Relations and Operations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Qursan</dc:creator>
  <cp:lastModifiedBy>Nabil</cp:lastModifiedBy>
  <cp:revision>218</cp:revision>
  <dcterms:created xsi:type="dcterms:W3CDTF">2025-11-01T19:28:28Z</dcterms:created>
  <dcterms:modified xsi:type="dcterms:W3CDTF">2026-07-07T22:00:29Z</dcterms:modified>
</cp:coreProperties>
</file>