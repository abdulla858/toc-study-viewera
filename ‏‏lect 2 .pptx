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81" r:id="rId4"/>
    <p:sldId id="343" r:id="rId5"/>
    <p:sldId id="422" r:id="rId6"/>
    <p:sldId id="423" r:id="rId7"/>
    <p:sldId id="421" r:id="rId8"/>
    <p:sldId id="424" r:id="rId9"/>
    <p:sldId id="285" r:id="rId10"/>
    <p:sldId id="342" r:id="rId11"/>
    <p:sldId id="346" r:id="rId12"/>
    <p:sldId id="427" r:id="rId13"/>
    <p:sldId id="428" r:id="rId14"/>
    <p:sldId id="42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380"/>
    <p:restoredTop sz="94987" autoAdjust="0"/>
  </p:normalViewPr>
  <p:slideViewPr>
    <p:cSldViewPr snapToGrid="0">
      <p:cViewPr varScale="1">
        <p:scale>
          <a:sx n="79" d="100"/>
          <a:sy n="79" d="100"/>
        </p:scale>
        <p:origin x="74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BFC571F9-F8FD-417F-A9F3-A00B709E23E6}" type="datetimeFigureOut">
              <a:rPr lang="ar-SA" smtClean="0"/>
              <a:t>07/02/48</a:t>
            </a:fld>
            <a:endParaRPr lang="ar-SA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SA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B943545C-7784-4C51-82AE-F075CA67E9A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392355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4392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545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عنوان المقط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0638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98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28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401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076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ED5BD1E-1131-49F5-94FE-55EDE8384400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005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587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11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452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ED5BD1E-1131-49F5-94FE-55EDE8384400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5429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B18A021-7845-E218-30C7-8328AEFE0B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145" y="1605065"/>
            <a:ext cx="10927572" cy="2639472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Finite Automaton</a:t>
            </a:r>
          </a:p>
        </p:txBody>
      </p:sp>
      <p:sp>
        <p:nvSpPr>
          <p:cNvPr id="4" name="مربع نص 3">
            <a:extLst>
              <a:ext uri="{FF2B5EF4-FFF2-40B4-BE49-F238E27FC236}">
                <a16:creationId xmlns:a16="http://schemas.microsoft.com/office/drawing/2014/main" id="{24693244-8064-CBC4-79A3-34C08CF421BD}"/>
              </a:ext>
            </a:extLst>
          </p:cNvPr>
          <p:cNvSpPr txBox="1"/>
          <p:nvPr/>
        </p:nvSpPr>
        <p:spPr>
          <a:xfrm>
            <a:off x="4860086" y="6312309"/>
            <a:ext cx="26743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Rowaida</a:t>
            </a:r>
            <a:r>
              <a:rPr lang="en-US" sz="2400" b="1" dirty="0"/>
              <a:t> AL-Amri </a:t>
            </a:r>
          </a:p>
        </p:txBody>
      </p:sp>
      <p:sp>
        <p:nvSpPr>
          <p:cNvPr id="7" name="مربع نص 6">
            <a:extLst>
              <a:ext uri="{FF2B5EF4-FFF2-40B4-BE49-F238E27FC236}">
                <a16:creationId xmlns:a16="http://schemas.microsoft.com/office/drawing/2014/main" id="{A0842748-48A6-7631-2E2C-5CCBEF0E0E48}"/>
              </a:ext>
            </a:extLst>
          </p:cNvPr>
          <p:cNvSpPr txBox="1"/>
          <p:nvPr/>
        </p:nvSpPr>
        <p:spPr>
          <a:xfrm>
            <a:off x="2878282" y="4724424"/>
            <a:ext cx="621376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2</a:t>
            </a:r>
          </a:p>
        </p:txBody>
      </p:sp>
    </p:spTree>
    <p:extLst>
      <p:ext uri="{BB962C8B-B14F-4D97-AF65-F5344CB8AC3E}">
        <p14:creationId xmlns:p14="http://schemas.microsoft.com/office/powerpoint/2010/main" val="233799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D5AC3CF1-7734-1385-72F8-845D4F25D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Syllabus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452C0AC1-90A6-28F4-0125-775C09A23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04453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CD08BDDD-EA80-3F97-B390-F47FF8F92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855"/>
            <a:ext cx="10515600" cy="1016414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solidFill>
                  <a:srgbClr val="0070C0"/>
                </a:solidFill>
              </a:rPr>
              <a:t>Finite Automata</a:t>
            </a:r>
          </a:p>
        </p:txBody>
      </p:sp>
      <p:pic>
        <p:nvPicPr>
          <p:cNvPr id="5" name="صورة 4">
            <a:extLst>
              <a:ext uri="{FF2B5EF4-FFF2-40B4-BE49-F238E27FC236}">
                <a16:creationId xmlns:a16="http://schemas.microsoft.com/office/drawing/2014/main" id="{3AC41373-F000-452C-82D2-C985DA8D4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0978"/>
            <a:ext cx="6225702" cy="4164249"/>
          </a:xfrm>
          <a:prstGeom prst="rect">
            <a:avLst/>
          </a:prstGeom>
        </p:spPr>
      </p:pic>
      <p:pic>
        <p:nvPicPr>
          <p:cNvPr id="6" name="صورة 5">
            <a:extLst>
              <a:ext uri="{FF2B5EF4-FFF2-40B4-BE49-F238E27FC236}">
                <a16:creationId xmlns:a16="http://schemas.microsoft.com/office/drawing/2014/main" id="{517B0D24-938B-4F9D-B14C-48B0A880CB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5702" y="1750978"/>
            <a:ext cx="5966298" cy="4254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700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38D23419-3726-46CB-BE18-5535118D0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551" y="282102"/>
            <a:ext cx="7210143" cy="1143973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solidFill>
                  <a:srgbClr val="00B0F0"/>
                </a:solidFill>
                <a:latin typeface="Adobe Caslon Pro Bold" panose="0205070206050A020403" pitchFamily="18" charset="0"/>
              </a:rPr>
              <a:t>introduction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F1D6F14F-73D0-4BAF-8BD8-2E18378C07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106" y="2068101"/>
            <a:ext cx="11585643" cy="4601094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60000"/>
              </a:lnSpc>
              <a:buNone/>
            </a:pPr>
            <a:r>
              <a:rPr lang="en-US" b="1" spc="-50" dirty="0">
                <a:solidFill>
                  <a:srgbClr val="00B0F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The Finite Automaton </a:t>
            </a:r>
            <a:r>
              <a:rPr lang="en-US" spc="-5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is a model that consists of a finite number of states, moves between them when reading input symbols, and is used to determine whether a given string belongs to a </a:t>
            </a:r>
            <a:r>
              <a:rPr lang="en-US" b="1" spc="-5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regular language </a:t>
            </a:r>
            <a:r>
              <a:rPr lang="en-US" spc="-5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or not. It is one of the most important fundamental concepts in the theory of computation and compiler design.</a:t>
            </a:r>
          </a:p>
          <a:p>
            <a:pPr marL="0" indent="0" algn="just">
              <a:lnSpc>
                <a:spcPct val="160000"/>
              </a:lnSpc>
              <a:buNone/>
            </a:pPr>
            <a:endParaRPr lang="en-US" spc="-50" dirty="0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60000"/>
              </a:lnSpc>
              <a:buNone/>
            </a:pPr>
            <a:r>
              <a:rPr lang="en-US" sz="2400" b="1" spc="-50" dirty="0">
                <a:solidFill>
                  <a:srgbClr val="00B0F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 finite automaton </a:t>
            </a:r>
            <a:r>
              <a:rPr lang="en-US" spc="-5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is a mathematical model used to simulate how a computer processes text or data step by step.</a:t>
            </a:r>
          </a:p>
          <a:p>
            <a:pPr marL="0" indent="0">
              <a:lnSpc>
                <a:spcPct val="200000"/>
              </a:lnSpc>
              <a:buNone/>
            </a:pPr>
            <a:endParaRPr lang="en-US" spc="-50" dirty="0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5" name="صورة 4">
            <a:extLst>
              <a:ext uri="{FF2B5EF4-FFF2-40B4-BE49-F238E27FC236}">
                <a16:creationId xmlns:a16="http://schemas.microsoft.com/office/drawing/2014/main" id="{E72F88A2-EE1E-4845-BF66-6162791FD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3976" y="68094"/>
            <a:ext cx="3478024" cy="1819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896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8A5B338-4E12-4B21-94F4-C5C70524C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799439C3-285B-4C2B-AA84-D6FC6342D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SA"/>
          </a:p>
        </p:txBody>
      </p:sp>
      <p:pic>
        <p:nvPicPr>
          <p:cNvPr id="4" name="صورة 3">
            <a:extLst>
              <a:ext uri="{FF2B5EF4-FFF2-40B4-BE49-F238E27FC236}">
                <a16:creationId xmlns:a16="http://schemas.microsoft.com/office/drawing/2014/main" id="{16B7CF9B-8EA8-43A6-B875-A2768A4B214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7700"/>
          <a:stretch/>
        </p:blipFill>
        <p:spPr>
          <a:xfrm>
            <a:off x="1036320" y="651753"/>
            <a:ext cx="10749064" cy="5077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495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38D23419-3726-46CB-BE18-5535118D0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551" y="282102"/>
            <a:ext cx="10301547" cy="1143973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solidFill>
                  <a:srgbClr val="00B0F0"/>
                </a:solidFill>
                <a:latin typeface="Adobe Caslon Pro Bold" panose="0205070206050A020403" pitchFamily="18" charset="0"/>
              </a:rPr>
              <a:t>Finite Automata(</a:t>
            </a:r>
            <a:r>
              <a:rPr lang="en-US" sz="4400" b="1" dirty="0">
                <a:solidFill>
                  <a:srgbClr val="7030A0"/>
                </a:solidFill>
                <a:latin typeface="Adobe Caslon Pro Bold" panose="0205070206050A020403" pitchFamily="18" charset="0"/>
              </a:rPr>
              <a:t>definition</a:t>
            </a:r>
            <a:r>
              <a:rPr lang="en-US" sz="4400" b="1" dirty="0">
                <a:solidFill>
                  <a:srgbClr val="00B0F0"/>
                </a:solidFill>
                <a:latin typeface="Adobe Caslon Pro Bold" panose="0205070206050A020403" pitchFamily="18" charset="0"/>
              </a:rPr>
              <a:t>)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F1D6F14F-73D0-4BAF-8BD8-2E18378C07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834" y="1737361"/>
            <a:ext cx="11692647" cy="460109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spc="-50" dirty="0">
                <a:solidFill>
                  <a:srgbClr val="0070C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Automation : </a:t>
            </a:r>
            <a:r>
              <a:rPr lang="en-US" spc="-5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Automation refers to the automatic execution of certain processes and the generation of results from those processes </a:t>
            </a:r>
            <a:r>
              <a:rPr lang="ar-SA" spc="-5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الاتمتة تدل على التنفيذ التلقائي لعمليات معينة وتوليد نتيجة لهذه العمليات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-5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An </a:t>
            </a:r>
            <a:r>
              <a:rPr lang="en-US" b="1" spc="-5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Automation with a finite number of states is called a </a:t>
            </a:r>
            <a:r>
              <a:rPr lang="en-US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Finite Automata (FA)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Adobe Caslon Pro Bold" panose="0205070206050A020403" pitchFamily="18" charset="0"/>
              </a:rPr>
              <a:t>Finite State Machines(FSM)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spc="-5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Finite Automaton </a:t>
            </a:r>
            <a:r>
              <a:rPr lang="en-US" spc="-5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is a mathematical model used in computer science to describe systems that respond to a sequence of inputs according to specific rules.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spc="-5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Another definition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-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Finite State Machine(FSM</a:t>
            </a:r>
            <a:r>
              <a:rPr lang="en-US" spc="-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is a mechanism used to </a:t>
            </a:r>
            <a:r>
              <a:rPr lang="en-US" spc="-5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recognise</a:t>
            </a:r>
            <a:r>
              <a:rPr lang="en-US" spc="-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particular pattern in a given input. </a:t>
            </a:r>
            <a:r>
              <a:rPr lang="en-US" spc="-5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FSM </a:t>
            </a:r>
            <a:r>
              <a:rPr lang="en-US" spc="-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be used to </a:t>
            </a:r>
            <a:r>
              <a:rPr lang="en-US" spc="-5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recognise</a:t>
            </a:r>
            <a:r>
              <a:rPr lang="en-US" spc="-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keywords like ‘</a:t>
            </a:r>
            <a:r>
              <a:rPr lang="en-US" b="1" spc="-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en-US" spc="-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 and ‘</a:t>
            </a:r>
            <a:r>
              <a:rPr lang="en-US" b="1" spc="-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pc="-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 in a given C program.</a:t>
            </a:r>
          </a:p>
          <a:p>
            <a:pPr marL="0" indent="0">
              <a:lnSpc>
                <a:spcPct val="150000"/>
              </a:lnSpc>
              <a:buNone/>
            </a:pPr>
            <a:endParaRPr lang="en-US" spc="-50" dirty="0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8519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F1D6F14F-73D0-4BAF-8BD8-2E18378C07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2698" y="1684744"/>
            <a:ext cx="11692647" cy="4601094"/>
          </a:xfrm>
        </p:spPr>
        <p:txBody>
          <a:bodyPr>
            <a:normAutofit/>
          </a:bodyPr>
          <a:lstStyle/>
          <a:p>
            <a:r>
              <a:rPr lang="en-US" b="1" spc="-50" dirty="0">
                <a:solidFill>
                  <a:srgbClr val="0070C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It consists of five main elements: </a:t>
            </a:r>
          </a:p>
          <a:p>
            <a:pPr marL="273050" indent="87313"/>
            <a:r>
              <a:rPr lang="en-US" b="1" spc="-50" dirty="0">
                <a:solidFill>
                  <a:srgbClr val="7030A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1- Set of States: </a:t>
            </a:r>
            <a:r>
              <a:rPr lang="en-US" spc="-5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 set of states the machine can be in, such as: Q = {q0, q1, q2}</a:t>
            </a:r>
          </a:p>
          <a:p>
            <a:pPr marL="273050" indent="87313">
              <a:lnSpc>
                <a:spcPct val="150000"/>
              </a:lnSpc>
              <a:buNone/>
            </a:pPr>
            <a:r>
              <a:rPr lang="en-US" b="1" spc="-50" dirty="0">
                <a:solidFill>
                  <a:srgbClr val="7030A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2- Alphabet</a:t>
            </a:r>
            <a:r>
              <a:rPr lang="en-US" spc="-5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 A set of symbols the machine accepts, such </a:t>
            </a:r>
            <a:r>
              <a:rPr lang="en-US" spc="-50" dirty="0" err="1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as:Σ</a:t>
            </a:r>
            <a:r>
              <a:rPr lang="en-US" spc="-5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= {0, 1}</a:t>
            </a:r>
          </a:p>
          <a:p>
            <a:pPr marL="273050" indent="87313">
              <a:lnSpc>
                <a:spcPct val="150000"/>
              </a:lnSpc>
              <a:buNone/>
            </a:pPr>
            <a:r>
              <a:rPr lang="en-US" b="1" spc="-50" dirty="0">
                <a:solidFill>
                  <a:srgbClr val="7030A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3- Transition Function</a:t>
            </a:r>
            <a:r>
              <a:rPr lang="en-US" spc="-5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 Determines which state the machine transitions to when it reads a specific symbol.</a:t>
            </a:r>
          </a:p>
          <a:p>
            <a:pPr marL="273050" indent="87313">
              <a:lnSpc>
                <a:spcPct val="150000"/>
              </a:lnSpc>
              <a:buNone/>
            </a:pPr>
            <a:r>
              <a:rPr lang="en-US" b="1" spc="-50" dirty="0">
                <a:solidFill>
                  <a:srgbClr val="7030A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4- Start State</a:t>
            </a:r>
            <a:r>
              <a:rPr lang="en-US" spc="-5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 The state from which the machine begins, often denoted by q0.</a:t>
            </a:r>
          </a:p>
          <a:p>
            <a:pPr marL="273050" indent="87313">
              <a:lnSpc>
                <a:spcPct val="150000"/>
              </a:lnSpc>
              <a:buNone/>
            </a:pPr>
            <a:r>
              <a:rPr lang="en-US" b="1" spc="-50" dirty="0">
                <a:solidFill>
                  <a:srgbClr val="7030A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5- Accept/Final States: </a:t>
            </a:r>
            <a:r>
              <a:rPr lang="en-US" spc="-5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If the machine ends up in one of these states after reading the entire input,</a:t>
            </a:r>
          </a:p>
          <a:p>
            <a:pPr marL="273050" indent="87313">
              <a:lnSpc>
                <a:spcPct val="150000"/>
              </a:lnSpc>
              <a:buNone/>
            </a:pPr>
            <a:r>
              <a:rPr lang="en-US" spc="-5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     the string is accepted.</a:t>
            </a:r>
            <a:endParaRPr lang="ar-SA" spc="-50" dirty="0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7" name="عنوان 1">
            <a:extLst>
              <a:ext uri="{FF2B5EF4-FFF2-40B4-BE49-F238E27FC236}">
                <a16:creationId xmlns:a16="http://schemas.microsoft.com/office/drawing/2014/main" id="{A8222741-8D0E-4B27-9ABF-885068DFE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698" y="278447"/>
            <a:ext cx="9767821" cy="1143973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solidFill>
                  <a:srgbClr val="00B0F0"/>
                </a:solidFill>
                <a:latin typeface="Adobe Caslon Pro Bold" panose="0205070206050A020403" pitchFamily="18" charset="0"/>
              </a:rPr>
              <a:t>Finite Automata(</a:t>
            </a:r>
            <a:r>
              <a:rPr lang="en-US" sz="4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elements</a:t>
            </a:r>
            <a:r>
              <a:rPr lang="en-US" sz="4400" b="1" dirty="0">
                <a:solidFill>
                  <a:srgbClr val="00B0F0"/>
                </a:solidFill>
                <a:latin typeface="Adobe Caslon Pro Bold" panose="0205070206050A020403" pitchFamily="18" charset="0"/>
              </a:rPr>
              <a:t>)</a:t>
            </a:r>
          </a:p>
        </p:txBody>
      </p:sp>
      <p:pic>
        <p:nvPicPr>
          <p:cNvPr id="8" name="صورة 7">
            <a:extLst>
              <a:ext uri="{FF2B5EF4-FFF2-40B4-BE49-F238E27FC236}">
                <a16:creationId xmlns:a16="http://schemas.microsoft.com/office/drawing/2014/main" id="{23598819-A6CC-4D42-B984-D7E3164E6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5822" y="82878"/>
            <a:ext cx="4066178" cy="3146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3887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F1D6F14F-73D0-4BAF-8BD8-2E18378C07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834" y="1737361"/>
            <a:ext cx="11692647" cy="4601094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altLang="ar-SA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a finite automaton works?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altLang="ar-SA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machine starts in an initial state, then reads the input symbols one by one. With each symbol, it transitions to a new state according to the transition function. After all symbols have been processed:</a:t>
            </a:r>
          </a:p>
          <a:p>
            <a:pPr marL="719138" indent="-719138">
              <a:lnSpc>
                <a:spcPct val="200000"/>
              </a:lnSpc>
            </a:pPr>
            <a:r>
              <a:rPr lang="en-US" altLang="ar-SA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it is in a final state → the string is </a:t>
            </a:r>
            <a:r>
              <a:rPr lang="en-US" altLang="ar-SA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accepted</a:t>
            </a:r>
            <a:r>
              <a:rPr lang="en-US" altLang="ar-SA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19138" indent="-719138">
              <a:lnSpc>
                <a:spcPct val="200000"/>
              </a:lnSpc>
            </a:pPr>
            <a:r>
              <a:rPr lang="en-US" altLang="ar-SA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it is not in a final state → the string is </a:t>
            </a:r>
            <a:r>
              <a:rPr lang="en-US" altLang="ar-SA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rejected</a:t>
            </a:r>
            <a:r>
              <a:rPr lang="en-US" altLang="ar-SA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pc="-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ar-SA" spc="-50" dirty="0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" name="عنوان 1">
            <a:extLst>
              <a:ext uri="{FF2B5EF4-FFF2-40B4-BE49-F238E27FC236}">
                <a16:creationId xmlns:a16="http://schemas.microsoft.com/office/drawing/2014/main" id="{68E711EC-2260-4905-9536-18CBE489C0F1}"/>
              </a:ext>
            </a:extLst>
          </p:cNvPr>
          <p:cNvSpPr txBox="1">
            <a:spLocks/>
          </p:cNvSpPr>
          <p:nvPr/>
        </p:nvSpPr>
        <p:spPr>
          <a:xfrm>
            <a:off x="568257" y="429991"/>
            <a:ext cx="11353800" cy="9960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Finite Automata(</a:t>
            </a:r>
            <a:r>
              <a:rPr lang="en-US" sz="5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r>
              <a:rPr lang="en-US" sz="5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54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0523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8EC5D876-A390-5317-F203-08F3F4878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995"/>
            <a:ext cx="11353800" cy="996084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Finite Automata(</a:t>
            </a:r>
            <a:r>
              <a:rPr lang="en-US" sz="5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</a:t>
            </a:r>
            <a:r>
              <a:rPr lang="en-US" sz="5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5400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عنصر نائب للمحتوى 8">
                <a:extLst>
                  <a:ext uri="{FF2B5EF4-FFF2-40B4-BE49-F238E27FC236}">
                    <a16:creationId xmlns:a16="http://schemas.microsoft.com/office/drawing/2014/main" id="{02530FEC-3A9C-F93E-2EEC-10AB9EBCCE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67591" y="1366958"/>
                <a:ext cx="11533909" cy="4956021"/>
              </a:xfrm>
            </p:spPr>
            <p:txBody>
              <a:bodyPr>
                <a:normAutofit fontScale="85000" lnSpcReduction="10000"/>
              </a:bodyPr>
              <a:lstStyle/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3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5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 are two type of Finite Automata </a:t>
                </a:r>
                <a:endParaRPr lang="en-US" sz="3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73050" indent="-98425" algn="l" rtl="0">
                  <a:buFont typeface="Wingdings" panose="05000000000000000000" pitchFamily="2" charset="2"/>
                  <a:buChar char="Ø"/>
                </a:pPr>
                <a:r>
                  <a:rPr lang="en-US" sz="28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Deterministic Finite Automata (DFA)</a:t>
                </a:r>
              </a:p>
              <a:p>
                <a:pPr marL="0" indent="0" algn="l" rtl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There are </a:t>
                </a: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two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condition must be achieving together </a:t>
                </a:r>
              </a:p>
              <a:p>
                <a:pPr marL="447675" indent="0" algn="l" rtl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1- it has 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transition on input </a:t>
                </a:r>
                <a14:m>
                  <m:oMath xmlns:m="http://schemas.openxmlformats.org/officeDocument/2006/math">
                    <m:r>
                      <a:rPr lang="en-US" sz="2400" b="1" smtClean="0"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447675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2- </a:t>
                </a:r>
                <a:r>
                  <a:rPr lang="en-US" sz="2400" spc="-5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each state and each input symbol, there is exactly </a:t>
                </a:r>
                <a:r>
                  <a:rPr lang="en-US" sz="2400" b="1" spc="-5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one</a:t>
                </a:r>
                <a:r>
                  <a:rPr lang="en-US" sz="2400" spc="-5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transition.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73050" indent="-98425">
                  <a:buFont typeface="Wingdings" panose="05000000000000000000" pitchFamily="2" charset="2"/>
                  <a:buChar char="Ø"/>
                </a:pPr>
                <a:r>
                  <a:rPr lang="en-US" sz="28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Non-deterministic Finite Automata (NFA)</a:t>
                </a:r>
              </a:p>
              <a:p>
                <a:pPr marL="0" indent="0" algn="l" rtl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one or both of these condition must be achieve:</a:t>
                </a:r>
              </a:p>
              <a:p>
                <a:pPr marL="447675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1- it has transition on input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47675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2-There may be more than one transition for the same symbol from the same state, or  a transition without</a:t>
                </a:r>
              </a:p>
              <a:p>
                <a:pPr marL="447675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reading a symbol (ε-transition).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2400" spc="-5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Although they operate differently, any NFA can be converted into an equivalent DFA.</a:t>
                </a:r>
                <a:r>
                  <a:rPr lang="en-US" sz="24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 algn="l" rtl="0">
                  <a:buNone/>
                </a:pPr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عنصر نائب للمحتوى 8">
                <a:extLst>
                  <a:ext uri="{FF2B5EF4-FFF2-40B4-BE49-F238E27FC236}">
                    <a16:creationId xmlns:a16="http://schemas.microsoft.com/office/drawing/2014/main" id="{02530FEC-3A9C-F93E-2EEC-10AB9EBCCE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7591" y="1366958"/>
                <a:ext cx="11533909" cy="4956021"/>
              </a:xfrm>
              <a:blipFill>
                <a:blip r:embed="rId2"/>
                <a:stretch>
                  <a:fillRect l="-1903" t="-3444"/>
                </a:stretch>
              </a:blipFill>
            </p:spPr>
            <p:txBody>
              <a:bodyPr/>
              <a:lstStyle/>
              <a:p>
                <a:r>
                  <a:rPr lang="ar-S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5815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F1D6F14F-73D0-4BAF-8BD8-2E18378C07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509" y="1845733"/>
            <a:ext cx="11772899" cy="445115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 spc="-5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deterministic finite automaton ( DFA) :</a:t>
            </a:r>
            <a:r>
              <a:rPr lang="en-US" dirty="0"/>
              <a:t> </a:t>
            </a:r>
            <a:r>
              <a:rPr lang="en-US" spc="-5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It is called deterministic because the next state can be determined by knowing the current state and the next input character.</a:t>
            </a:r>
          </a:p>
          <a:p>
            <a:pPr>
              <a:lnSpc>
                <a:spcPct val="150000"/>
              </a:lnSpc>
            </a:pPr>
            <a:endParaRPr lang="en-US" spc="-50" dirty="0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spc="-5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non-deterministic finite state machine (NFA). </a:t>
            </a:r>
            <a:r>
              <a:rPr lang="en-US" spc="-5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An NFA differs from the DFA in the following aspects: </a:t>
            </a:r>
          </a:p>
          <a:p>
            <a:pPr>
              <a:lnSpc>
                <a:spcPct val="150000"/>
              </a:lnSpc>
            </a:pPr>
            <a:r>
              <a:rPr lang="en-US" spc="-5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An empty transition denoted by special symbol Œ — epsilon is possible in NFA. This transition (also called as epsilon transition) can be made on empty string without advancing input</a:t>
            </a:r>
            <a:endParaRPr lang="ar-SA" spc="-50" dirty="0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5" name="صورة 4">
            <a:extLst>
              <a:ext uri="{FF2B5EF4-FFF2-40B4-BE49-F238E27FC236}">
                <a16:creationId xmlns:a16="http://schemas.microsoft.com/office/drawing/2014/main" id="{8648A0FD-408A-E5BF-9FBF-B52093AD4C3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0708"/>
          <a:stretch/>
        </p:blipFill>
        <p:spPr>
          <a:xfrm>
            <a:off x="3761940" y="5112327"/>
            <a:ext cx="8343468" cy="1578644"/>
          </a:xfrm>
          <a:prstGeom prst="rect">
            <a:avLst/>
          </a:prstGeom>
        </p:spPr>
      </p:pic>
      <p:pic>
        <p:nvPicPr>
          <p:cNvPr id="6" name="صورة 5">
            <a:extLst>
              <a:ext uri="{FF2B5EF4-FFF2-40B4-BE49-F238E27FC236}">
                <a16:creationId xmlns:a16="http://schemas.microsoft.com/office/drawing/2014/main" id="{B5FED5C3-4593-8C51-DB1C-217F1CEBAA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0070" y="2369127"/>
            <a:ext cx="6085610" cy="1177451"/>
          </a:xfrm>
          <a:prstGeom prst="rect">
            <a:avLst/>
          </a:prstGeom>
        </p:spPr>
      </p:pic>
      <p:sp>
        <p:nvSpPr>
          <p:cNvPr id="7" name="عنوان 1">
            <a:extLst>
              <a:ext uri="{FF2B5EF4-FFF2-40B4-BE49-F238E27FC236}">
                <a16:creationId xmlns:a16="http://schemas.microsoft.com/office/drawing/2014/main" id="{49412463-AA76-40FE-BA79-24AD1B989FE5}"/>
              </a:ext>
            </a:extLst>
          </p:cNvPr>
          <p:cNvSpPr txBox="1">
            <a:spLocks/>
          </p:cNvSpPr>
          <p:nvPr/>
        </p:nvSpPr>
        <p:spPr>
          <a:xfrm>
            <a:off x="542058" y="543313"/>
            <a:ext cx="11353800" cy="9960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Finite Automata(</a:t>
            </a:r>
            <a:r>
              <a:rPr lang="en-US" sz="5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</a:t>
            </a:r>
            <a:r>
              <a:rPr lang="en-US" sz="5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54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1301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38D23419-3726-46CB-BE18-5535118D0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208"/>
            <a:ext cx="10823171" cy="991439"/>
          </a:xfrm>
        </p:spPr>
        <p:txBody>
          <a:bodyPr/>
          <a:lstStyle/>
          <a:p>
            <a:r>
              <a:rPr lang="en-US" sz="4800" b="1" dirty="0">
                <a:solidFill>
                  <a:srgbClr val="00B0F0"/>
                </a:solidFill>
                <a:latin typeface="Adobe Caslon Pro Bold" panose="0205070206050A020403" pitchFamily="18" charset="0"/>
              </a:rPr>
              <a:t>Comparison between DFA and NFA</a:t>
            </a:r>
            <a:endParaRPr lang="ar-SA" b="1" dirty="0">
              <a:solidFill>
                <a:srgbClr val="00B0F0"/>
              </a:solidFill>
              <a:latin typeface="Adobe Caslon Pro Bold" panose="0205070206050A020403" pitchFamily="18" charset="0"/>
            </a:endParaRPr>
          </a:p>
        </p:txBody>
      </p:sp>
      <p:pic>
        <p:nvPicPr>
          <p:cNvPr id="7" name="عنصر نائب للمحتوى 6">
            <a:extLst>
              <a:ext uri="{FF2B5EF4-FFF2-40B4-BE49-F238E27FC236}">
                <a16:creationId xmlns:a16="http://schemas.microsoft.com/office/drawing/2014/main" id="{DF1A8167-6768-B461-2DF5-AD901AACBE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6034" y="1497277"/>
            <a:ext cx="10982528" cy="4961004"/>
          </a:xfrm>
        </p:spPr>
      </p:pic>
    </p:spTree>
    <p:extLst>
      <p:ext uri="{BB962C8B-B14F-4D97-AF65-F5344CB8AC3E}">
        <p14:creationId xmlns:p14="http://schemas.microsoft.com/office/powerpoint/2010/main" val="26045443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64786E3-9E7E-4D1D-959B-32416F13FD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4748" y="1645920"/>
            <a:ext cx="11566188" cy="3566160"/>
          </a:xfrm>
        </p:spPr>
        <p:txBody>
          <a:bodyPr>
            <a:normAutofit/>
          </a:bodyPr>
          <a:lstStyle/>
          <a:p>
            <a:r>
              <a:rPr lang="en-US" sz="6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Finite Automata (DFA)</a:t>
            </a:r>
            <a:br>
              <a:rPr lang="en-US" sz="7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ar-SA" sz="7200" dirty="0"/>
          </a:p>
        </p:txBody>
      </p:sp>
    </p:spTree>
    <p:extLst>
      <p:ext uri="{BB962C8B-B14F-4D97-AF65-F5344CB8AC3E}">
        <p14:creationId xmlns:p14="http://schemas.microsoft.com/office/powerpoint/2010/main" val="42726166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64786E3-9E7E-4D1D-959B-32416F13FD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4748" y="1645920"/>
            <a:ext cx="11566188" cy="3566160"/>
          </a:xfrm>
        </p:spPr>
        <p:txBody>
          <a:bodyPr>
            <a:normAutofit/>
          </a:bodyPr>
          <a:lstStyle/>
          <a:p>
            <a:r>
              <a:rPr lang="en-US" sz="6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Non-Deterministic Finite Automata (NFA)</a:t>
            </a:r>
            <a:br>
              <a:rPr lang="en-US" sz="7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ar-SA" sz="7200" dirty="0"/>
          </a:p>
        </p:txBody>
      </p:sp>
    </p:spTree>
    <p:extLst>
      <p:ext uri="{BB962C8B-B14F-4D97-AF65-F5344CB8AC3E}">
        <p14:creationId xmlns:p14="http://schemas.microsoft.com/office/powerpoint/2010/main" val="15028868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9E726C9-CDE4-440E-B19B-8595F3F04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DFF0CB4F-8E70-4884-B5B9-DCE06780B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0070C0"/>
                </a:solidFill>
              </a:rPr>
              <a:t>Regular Expression</a:t>
            </a:r>
            <a:endParaRPr lang="ar-SA" sz="3200" dirty="0">
              <a:solidFill>
                <a:srgbClr val="0070C0"/>
              </a:solidFill>
            </a:endParaRPr>
          </a:p>
          <a:p>
            <a:r>
              <a:rPr lang="en-US" sz="3200" dirty="0">
                <a:solidFill>
                  <a:srgbClr val="0070C0"/>
                </a:solidFill>
              </a:rPr>
              <a:t>Regular Languages</a:t>
            </a:r>
            <a:endParaRPr lang="ar-SA" sz="3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4705249"/>
      </p:ext>
    </p:extLst>
  </p:cSld>
  <p:clrMapOvr>
    <a:masterClrMapping/>
  </p:clrMapOvr>
</p:sld>
</file>

<file path=ppt/theme/theme1.xml><?xml version="1.0" encoding="utf-8"?>
<a:theme xmlns:a="http://schemas.openxmlformats.org/drawingml/2006/main" name="أثر رجعي">
  <a:themeElements>
    <a:clrScheme name="أزرق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أثر رجعي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أثر رجعي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7843</TotalTime>
  <Words>655</Words>
  <Application>Microsoft Office PowerPoint</Application>
  <PresentationFormat>شاشة عريضة</PresentationFormat>
  <Paragraphs>50</Paragraphs>
  <Slides>14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7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14</vt:i4>
      </vt:variant>
    </vt:vector>
  </HeadingPairs>
  <TitlesOfParts>
    <vt:vector size="22" baseType="lpstr">
      <vt:lpstr>Adobe Caslon Pro Bold</vt:lpstr>
      <vt:lpstr>Arial</vt:lpstr>
      <vt:lpstr>Calibri</vt:lpstr>
      <vt:lpstr>Calibri Light</vt:lpstr>
      <vt:lpstr>Cambria Math</vt:lpstr>
      <vt:lpstr>Times New Roman</vt:lpstr>
      <vt:lpstr>Wingdings</vt:lpstr>
      <vt:lpstr>أثر رجعي</vt:lpstr>
      <vt:lpstr> Finite Automaton</vt:lpstr>
      <vt:lpstr>Syllabus</vt:lpstr>
      <vt:lpstr>Finite Automata</vt:lpstr>
      <vt:lpstr>introduction</vt:lpstr>
      <vt:lpstr>عرض تقديمي في PowerPoint</vt:lpstr>
      <vt:lpstr>Finite Automata(definition)</vt:lpstr>
      <vt:lpstr>Finite Automata(elements)</vt:lpstr>
      <vt:lpstr>عرض تقديمي في PowerPoint</vt:lpstr>
      <vt:lpstr>Finite Automata(types)</vt:lpstr>
      <vt:lpstr>عرض تقديمي في PowerPoint</vt:lpstr>
      <vt:lpstr>Comparison between DFA and NFA</vt:lpstr>
      <vt:lpstr>Deterministic Finite Automata (DFA) </vt:lpstr>
      <vt:lpstr>Non-Deterministic Finite Automata (NFA) 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</dc:title>
  <dc:creator>Qursan</dc:creator>
  <cp:lastModifiedBy>Nabil</cp:lastModifiedBy>
  <cp:revision>283</cp:revision>
  <dcterms:created xsi:type="dcterms:W3CDTF">2025-11-01T19:28:28Z</dcterms:created>
  <dcterms:modified xsi:type="dcterms:W3CDTF">2026-07-22T19:55:19Z</dcterms:modified>
</cp:coreProperties>
</file>