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80"/>
  </p:notesMasterIdLst>
  <p:sldIdLst>
    <p:sldId id="256" r:id="rId2"/>
    <p:sldId id="257" r:id="rId3"/>
    <p:sldId id="446" r:id="rId4"/>
    <p:sldId id="456" r:id="rId5"/>
    <p:sldId id="447" r:id="rId6"/>
    <p:sldId id="478" r:id="rId7"/>
    <p:sldId id="479" r:id="rId8"/>
    <p:sldId id="449" r:id="rId9"/>
    <p:sldId id="450" r:id="rId10"/>
    <p:sldId id="471" r:id="rId11"/>
    <p:sldId id="451" r:id="rId12"/>
    <p:sldId id="459" r:id="rId13"/>
    <p:sldId id="472" r:id="rId14"/>
    <p:sldId id="264" r:id="rId15"/>
    <p:sldId id="468" r:id="rId16"/>
    <p:sldId id="473" r:id="rId17"/>
    <p:sldId id="474" r:id="rId18"/>
    <p:sldId id="475" r:id="rId19"/>
    <p:sldId id="476" r:id="rId20"/>
    <p:sldId id="277" r:id="rId21"/>
    <p:sldId id="279" r:id="rId22"/>
    <p:sldId id="460" r:id="rId23"/>
    <p:sldId id="453" r:id="rId24"/>
    <p:sldId id="274" r:id="rId25"/>
    <p:sldId id="387" r:id="rId26"/>
    <p:sldId id="284" r:id="rId27"/>
    <p:sldId id="286" r:id="rId28"/>
    <p:sldId id="288" r:id="rId29"/>
    <p:sldId id="386" r:id="rId30"/>
    <p:sldId id="457" r:id="rId31"/>
    <p:sldId id="388" r:id="rId32"/>
    <p:sldId id="289" r:id="rId33"/>
    <p:sldId id="480" r:id="rId34"/>
    <p:sldId id="290" r:id="rId35"/>
    <p:sldId id="477" r:id="rId36"/>
    <p:sldId id="291" r:id="rId37"/>
    <p:sldId id="390" r:id="rId38"/>
    <p:sldId id="395" r:id="rId39"/>
    <p:sldId id="396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41" r:id="rId52"/>
    <p:sldId id="493" r:id="rId53"/>
    <p:sldId id="481" r:id="rId54"/>
    <p:sldId id="482" r:id="rId55"/>
    <p:sldId id="259" r:id="rId56"/>
    <p:sldId id="260" r:id="rId57"/>
    <p:sldId id="262" r:id="rId58"/>
    <p:sldId id="263" r:id="rId59"/>
    <p:sldId id="265" r:id="rId60"/>
    <p:sldId id="266" r:id="rId61"/>
    <p:sldId id="267" r:id="rId62"/>
    <p:sldId id="268" r:id="rId63"/>
    <p:sldId id="269" r:id="rId64"/>
    <p:sldId id="271" r:id="rId65"/>
    <p:sldId id="270" r:id="rId66"/>
    <p:sldId id="261" r:id="rId67"/>
    <p:sldId id="483" r:id="rId68"/>
    <p:sldId id="485" r:id="rId69"/>
    <p:sldId id="484" r:id="rId70"/>
    <p:sldId id="486" r:id="rId71"/>
    <p:sldId id="487" r:id="rId72"/>
    <p:sldId id="488" r:id="rId73"/>
    <p:sldId id="489" r:id="rId74"/>
    <p:sldId id="490" r:id="rId75"/>
    <p:sldId id="491" r:id="rId76"/>
    <p:sldId id="492" r:id="rId77"/>
    <p:sldId id="302" r:id="rId78"/>
    <p:sldId id="432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1418" autoAdjust="0"/>
  </p:normalViewPr>
  <p:slideViewPr>
    <p:cSldViewPr snapToGrid="0">
      <p:cViewPr varScale="1">
        <p:scale>
          <a:sx n="60" d="100"/>
          <a:sy n="60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07/03/1448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37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7215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1.wmf"/><Relationship Id="rId3" Type="http://schemas.openxmlformats.org/officeDocument/2006/relationships/image" Target="../media/image2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5.wmf"/><Relationship Id="rId3" Type="http://schemas.openxmlformats.org/officeDocument/2006/relationships/image" Target="../media/image1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2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3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27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29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4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4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9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37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4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5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7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7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50.wmf"/><Relationship Id="rId10" Type="http://schemas.openxmlformats.org/officeDocument/2006/relationships/image" Target="../media/image53.png"/><Relationship Id="rId4" Type="http://schemas.openxmlformats.org/officeDocument/2006/relationships/oleObject" Target="../embeddings/oleObject60.bin"/><Relationship Id="rId9" Type="http://schemas.openxmlformats.org/officeDocument/2006/relationships/image" Target="../media/image52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6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57.wmf"/><Relationship Id="rId3" Type="http://schemas.openxmlformats.org/officeDocument/2006/relationships/image" Target="../media/image51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70.bin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56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5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57.wmf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76.bin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59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58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61.wmf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82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60.wmf"/><Relationship Id="rId5" Type="http://schemas.openxmlformats.org/officeDocument/2006/relationships/image" Target="../media/image55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7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62.wmf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6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70.bin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89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63.wmf"/><Relationship Id="rId18" Type="http://schemas.openxmlformats.org/officeDocument/2006/relationships/image" Target="../media/image57.wmf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95.bin"/><Relationship Id="rId17" Type="http://schemas.openxmlformats.org/officeDocument/2006/relationships/oleObject" Target="../embeddings/oleObject70.bin"/><Relationship Id="rId2" Type="http://schemas.openxmlformats.org/officeDocument/2006/relationships/oleObject" Target="../embeddings/oleObject90.bin"/><Relationship Id="rId16" Type="http://schemas.openxmlformats.org/officeDocument/2006/relationships/image" Target="../media/image6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97.bin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96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65.wmf"/><Relationship Id="rId18" Type="http://schemas.openxmlformats.org/officeDocument/2006/relationships/image" Target="../media/image66.wmf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103.bin"/><Relationship Id="rId17" Type="http://schemas.openxmlformats.org/officeDocument/2006/relationships/oleObject" Target="../embeddings/oleObject106.bin"/><Relationship Id="rId2" Type="http://schemas.openxmlformats.org/officeDocument/2006/relationships/oleObject" Target="../embeddings/oleObject98.bin"/><Relationship Id="rId16" Type="http://schemas.openxmlformats.org/officeDocument/2006/relationships/image" Target="../media/image64.wmf"/><Relationship Id="rId20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105.bin"/><Relationship Id="rId10" Type="http://schemas.openxmlformats.org/officeDocument/2006/relationships/oleObject" Target="../embeddings/oleObject102.bin"/><Relationship Id="rId19" Type="http://schemas.openxmlformats.org/officeDocument/2006/relationships/oleObject" Target="../embeddings/oleObject70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104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70.bin"/><Relationship Id="rId3" Type="http://schemas.openxmlformats.org/officeDocument/2006/relationships/image" Target="../media/image30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67.wmf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image" Target="../media/image66.wmf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113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65.wmf"/><Relationship Id="rId26" Type="http://schemas.openxmlformats.org/officeDocument/2006/relationships/image" Target="../media/image57.wmf"/><Relationship Id="rId3" Type="http://schemas.openxmlformats.org/officeDocument/2006/relationships/image" Target="../media/image30.wmf"/><Relationship Id="rId21" Type="http://schemas.openxmlformats.org/officeDocument/2006/relationships/oleObject" Target="../embeddings/oleObject125.bin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120.bin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70.bin"/><Relationship Id="rId2" Type="http://schemas.openxmlformats.org/officeDocument/2006/relationships/oleObject" Target="../embeddings/oleObject115.bin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61.wmf"/><Relationship Id="rId24" Type="http://schemas.openxmlformats.org/officeDocument/2006/relationships/image" Target="../media/image69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10" Type="http://schemas.openxmlformats.org/officeDocument/2006/relationships/oleObject" Target="../embeddings/oleObject119.bin"/><Relationship Id="rId19" Type="http://schemas.openxmlformats.org/officeDocument/2006/relationships/oleObject" Target="../embeddings/oleObject124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58.wmf"/><Relationship Id="rId14" Type="http://schemas.openxmlformats.org/officeDocument/2006/relationships/image" Target="../media/image64.wmf"/><Relationship Id="rId22" Type="http://schemas.openxmlformats.org/officeDocument/2006/relationships/image" Target="../media/image51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3" Type="http://schemas.openxmlformats.org/officeDocument/2006/relationships/image" Target="../media/image7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70.wmf"/><Relationship Id="rId10" Type="http://schemas.openxmlformats.org/officeDocument/2006/relationships/image" Target="../media/image73.png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72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77.wmf"/><Relationship Id="rId18" Type="http://schemas.openxmlformats.org/officeDocument/2006/relationships/image" Target="../media/image80.png"/><Relationship Id="rId3" Type="http://schemas.openxmlformats.org/officeDocument/2006/relationships/image" Target="../media/image51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79.wmf"/><Relationship Id="rId2" Type="http://schemas.openxmlformats.org/officeDocument/2006/relationships/oleObject" Target="../embeddings/oleObject131.bin"/><Relationship Id="rId16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76.wmf"/><Relationship Id="rId5" Type="http://schemas.openxmlformats.org/officeDocument/2006/relationships/image" Target="../media/image74.wmf"/><Relationship Id="rId15" Type="http://schemas.openxmlformats.org/officeDocument/2006/relationships/image" Target="../media/image78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137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Grammar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C3CF1-7734-1385-72F8-845D4F2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Syllabus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2C0AC1-90A6-28F4-0125-775C09A2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445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B90E8-E301-4685-9144-A877106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064D5EB-7B62-467B-B89A-76754F89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computing theory, we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a precise and mathematical way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describe the languages that machines can handle. Therefore, we use the concept of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grammars.</a:t>
            </a:r>
            <a:endParaRPr lang="en-US" sz="28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7920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042E-0AB7-88A6-5052-272DF328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61F4381-57EB-46A4-75B5-2038AA58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26" y="286603"/>
            <a:ext cx="11594564" cy="14417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grammar important in computing theory?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2442116-ABBD-9B17-0502-F40A5132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28316"/>
            <a:ext cx="12192000" cy="5129683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it allows us to study language mathematically. Satch as , Instead of saying: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contains an equal number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a’s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b’s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we can construct a precise grammar such as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  <a:r>
              <a:rPr lang="en-US" sz="3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S→aSb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this, we can: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Identify valid words in the language.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Study the process of derivation.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Construct parse trees.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Study ambiguity.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Relate the language to automata.</a:t>
            </a:r>
          </a:p>
          <a:p>
            <a:pPr marL="273050" indent="79375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Determine the language’s type in the Chomsky hierarchy.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8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BE0A1-1E5D-A02A-62CA-43B4C0BE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32F587A-A945-C065-1D3F-A1F1C420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Grammar 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086B33F-C6FC-9160-3AA5-9320A9814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It is a description of the process of transition from one form to another and can be used any number of times.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  <a:cs typeface="+mj-cs"/>
              </a:rPr>
              <a:t>A grammar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set of rules that defines how valid words and sentences can be generated in a particular language.</a:t>
            </a: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>
              <a:lnSpc>
                <a:spcPct val="150000"/>
              </a:lnSpc>
            </a:pPr>
            <a:r>
              <a:rPr lang="ar-SA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 = a set of rules for generating language.</a:t>
            </a:r>
            <a:endParaRPr lang="ar-SA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Example: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ar-SA" sz="2400" dirty="0">
                <a:solidFill>
                  <a:schemeClr val="tx1"/>
                </a:solidFill>
              </a:rPr>
              <a:t>Grammar:</a:t>
            </a:r>
          </a:p>
          <a:p>
            <a:pPr algn="just">
              <a:lnSpc>
                <a:spcPct val="150000"/>
              </a:lnSpc>
            </a:pPr>
            <a:r>
              <a:rPr lang="en-US" altLang="ar-SA" sz="2400" dirty="0">
                <a:solidFill>
                  <a:srgbClr val="0070C0"/>
                </a:solidFill>
              </a:rPr>
              <a:t>Derivation</a:t>
            </a:r>
            <a:r>
              <a:rPr lang="en-US" altLang="ar-SA" sz="2400" dirty="0">
                <a:solidFill>
                  <a:schemeClr val="tx1"/>
                </a:solidFill>
              </a:rPr>
              <a:t> of sentence       :</a:t>
            </a:r>
          </a:p>
          <a:p>
            <a:pPr algn="just">
              <a:lnSpc>
                <a:spcPct val="150000"/>
              </a:lnSpc>
            </a:pPr>
            <a:endParaRPr lang="el-GR" alt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6149" name="Object 4">
            <a:extLst>
              <a:ext uri="{FF2B5EF4-FFF2-40B4-BE49-F238E27FC236}">
                <a16:creationId xmlns:a16="http://schemas.microsoft.com/office/drawing/2014/main" id="{F294E0D5-B046-A000-5969-90C6004CDD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70905"/>
              </p:ext>
            </p:extLst>
          </p:nvPr>
        </p:nvGraphicFramePr>
        <p:xfrm>
          <a:off x="2003257" y="4439625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1066800" progId="Equation.3">
                  <p:embed/>
                </p:oleObj>
              </mc:Choice>
              <mc:Fallback>
                <p:oleObj name="Equation" r:id="rId2" imgW="1638300" imgH="1066800" progId="Equation.3">
                  <p:embed/>
                  <p:pic>
                    <p:nvPicPr>
                      <p:cNvPr id="6149" name="Object 4">
                        <a:extLst>
                          <a:ext uri="{FF2B5EF4-FFF2-40B4-BE49-F238E27FC236}">
                            <a16:creationId xmlns:a16="http://schemas.microsoft.com/office/drawing/2014/main" id="{F294E0D5-B046-A000-5969-90C6004CD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257" y="4439625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1B8DF81-EEAC-C7DB-2140-08B9763D6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297982"/>
              </p:ext>
            </p:extLst>
          </p:nvPr>
        </p:nvGraphicFramePr>
        <p:xfrm>
          <a:off x="9712950" y="3739967"/>
          <a:ext cx="4937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85" imgH="393529" progId="Equation.3">
                  <p:embed/>
                </p:oleObj>
              </mc:Choice>
              <mc:Fallback>
                <p:oleObj name="Equation" r:id="rId4" imgW="495085" imgH="393529" progId="Equation.3">
                  <p:embed/>
                  <p:pic>
                    <p:nvPicPr>
                      <p:cNvPr id="6151" name="Object 8">
                        <a:extLst>
                          <a:ext uri="{FF2B5EF4-FFF2-40B4-BE49-F238E27FC236}">
                            <a16:creationId xmlns:a16="http://schemas.microsoft.com/office/drawing/2014/main" id="{739F3E51-AE36-58F5-2C76-85EB2DF38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2950" y="3739967"/>
                        <a:ext cx="4937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مجموعة 11">
            <a:extLst>
              <a:ext uri="{FF2B5EF4-FFF2-40B4-BE49-F238E27FC236}">
                <a16:creationId xmlns:a16="http://schemas.microsoft.com/office/drawing/2014/main" id="{CC47C27B-9FBB-AB1E-651F-4CFF942D318E}"/>
              </a:ext>
            </a:extLst>
          </p:cNvPr>
          <p:cNvGrpSpPr/>
          <p:nvPr/>
        </p:nvGrpSpPr>
        <p:grpSpPr>
          <a:xfrm>
            <a:off x="7451557" y="4433531"/>
            <a:ext cx="4267200" cy="1763713"/>
            <a:chOff x="3200400" y="4267201"/>
            <a:chExt cx="4267200" cy="1763713"/>
          </a:xfrm>
        </p:grpSpPr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9F0CB27F-6F7C-CE6D-4A1C-9699198000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0001179"/>
                </p:ext>
              </p:extLst>
            </p:nvPr>
          </p:nvGraphicFramePr>
          <p:xfrm>
            <a:off x="4343400" y="4267201"/>
            <a:ext cx="2730500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30500" imgH="393700" progId="Equation.3">
                    <p:embed/>
                  </p:oleObj>
                </mc:Choice>
                <mc:Fallback>
                  <p:oleObj name="Equation" r:id="rId6" imgW="2730500" imgH="393700" progId="Equation.3">
                    <p:embed/>
                    <p:pic>
                      <p:nvPicPr>
                        <p:cNvPr id="6150" name="Object 7">
                          <a:extLst>
                            <a:ext uri="{FF2B5EF4-FFF2-40B4-BE49-F238E27FC236}">
                              <a16:creationId xmlns:a16="http://schemas.microsoft.com/office/drawing/2014/main" id="{940C9663-37D9-D36E-2CE1-7BD69640FE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400" y="4267201"/>
                          <a:ext cx="2730500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C6794DC7-9F97-1081-5EA4-60CF038C3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4724400"/>
              <a:ext cx="304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575BE00B-E6D6-13B5-2620-77CA98012F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48400" y="4800600"/>
              <a:ext cx="228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DED5A02F-4A2A-700E-E41A-789FA138A5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035078"/>
                </p:ext>
              </p:extLst>
            </p:nvPr>
          </p:nvGraphicFramePr>
          <p:xfrm>
            <a:off x="3200400" y="5638801"/>
            <a:ext cx="1638300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37589" imgH="393529" progId="Equation.3">
                    <p:embed/>
                  </p:oleObj>
                </mc:Choice>
                <mc:Fallback>
                  <p:oleObj name="Equation" r:id="rId8" imgW="1637589" imgH="393529" progId="Equation.3">
                    <p:embed/>
                    <p:pic>
                      <p:nvPicPr>
                        <p:cNvPr id="6154" name="Object 11">
                          <a:extLst>
                            <a:ext uri="{FF2B5EF4-FFF2-40B4-BE49-F238E27FC236}">
                              <a16:creationId xmlns:a16="http://schemas.microsoft.com/office/drawing/2014/main" id="{A166E245-A612-08B0-98C4-A25AFC9AFD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5638801"/>
                          <a:ext cx="1638300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>
              <a:extLst>
                <a:ext uri="{FF2B5EF4-FFF2-40B4-BE49-F238E27FC236}">
                  <a16:creationId xmlns:a16="http://schemas.microsoft.com/office/drawing/2014/main" id="{6321BC74-3061-1662-CE2E-0C0CEE1CEF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604801"/>
                </p:ext>
              </p:extLst>
            </p:nvPr>
          </p:nvGraphicFramePr>
          <p:xfrm>
            <a:off x="6248400" y="5638800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18671" imgH="380835" progId="Equation.3">
                    <p:embed/>
                  </p:oleObj>
                </mc:Choice>
                <mc:Fallback>
                  <p:oleObj name="Equation" r:id="rId10" imgW="1218671" imgH="380835" progId="Equation.3">
                    <p:embed/>
                    <p:pic>
                      <p:nvPicPr>
                        <p:cNvPr id="6155" name="Object 12">
                          <a:extLst>
                            <a:ext uri="{FF2B5EF4-FFF2-40B4-BE49-F238E27FC236}">
                              <a16:creationId xmlns:a16="http://schemas.microsoft.com/office/drawing/2014/main" id="{8CDF0D63-EE49-3F0A-9879-B772B3923A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8400" y="5638800"/>
                          <a:ext cx="1219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4237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99F0-6D79-DE0A-797D-F434AB32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01BB37-BA8B-7872-05FF-8B086F5E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Grammar 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8B02F5D-F76B-B07E-34BC-CC2DF346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formal grammar is usually defined by the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quadruple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01168" lvl="1" indent="0">
              <a:buNone/>
            </a:pPr>
            <a:r>
              <a:rPr lang="ar-SA" sz="4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4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G=(V,T,P,S)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3050" indent="-90488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set of variables or non-terminal symbols.</a:t>
            </a:r>
          </a:p>
          <a:p>
            <a:pPr marL="273050" indent="-90488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set of terminal symbols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same as an alphabet, )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90488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set of production rules.</a:t>
            </a:r>
          </a:p>
          <a:p>
            <a:pPr marL="273050" indent="-90488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start symbol.</a:t>
            </a:r>
          </a:p>
          <a:p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A</a:t>
            </a:r>
          </a:p>
          <a:p>
            <a:pPr lvl="1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l-GR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6BEBA9FA-D58F-B76C-1F56-7B2B87C71552}"/>
              </a:ext>
            </a:extLst>
          </p:cNvPr>
          <p:cNvSpPr/>
          <p:nvPr/>
        </p:nvSpPr>
        <p:spPr>
          <a:xfrm>
            <a:off x="7732295" y="3429000"/>
            <a:ext cx="3946358" cy="25885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V</a:t>
            </a:r>
            <a:r>
              <a:rPr lang="en-US" sz="3200" dirty="0"/>
              <a:t>=Non-terminals</a:t>
            </a:r>
          </a:p>
          <a:p>
            <a:pPr algn="ctr"/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T</a:t>
            </a:r>
            <a:r>
              <a:rPr lang="en-US" sz="3200" dirty="0"/>
              <a:t>=Terminals</a:t>
            </a:r>
          </a:p>
          <a:p>
            <a:pPr algn="ctr"/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P</a:t>
            </a:r>
            <a:r>
              <a:rPr lang="en-US" sz="3200" dirty="0"/>
              <a:t>=Production Rules</a:t>
            </a:r>
          </a:p>
          <a:p>
            <a:pPr algn="ctr"/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S</a:t>
            </a:r>
            <a:r>
              <a:rPr lang="en-US" sz="3200" dirty="0"/>
              <a:t>=Start Symbol</a:t>
            </a:r>
          </a:p>
        </p:txBody>
      </p:sp>
    </p:spTree>
    <p:extLst>
      <p:ext uri="{BB962C8B-B14F-4D97-AF65-F5344CB8AC3E}">
        <p14:creationId xmlns:p14="http://schemas.microsoft.com/office/powerpoint/2010/main" val="325905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FCF3-BAA0-3674-4A1A-57455020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D2583A9-1B9F-D7CF-B01C-AE159F2F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Grammar 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807FDDB-8622-5447-FC03-FED7B443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 and Non-terminal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 symbol: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symbol from the alphabet. In other words, it is the original symbol in the word, and we never attempt to replace it (it is also called a terminal symbol). For example: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0, 1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Non-terminal symbol: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symbol used within a word that is not one of its terminal symbols. In other words, it is a symbol that must be replaced during transformation (transition) operations (and is sometimes called a non-terminal symbol).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usually denote it with capital letters:   S, A, B   For example: 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{S, A}</a:t>
            </a:r>
            <a:endParaRPr lang="el-GR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1354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2438-32A8-492B-177D-0B886337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AE44BCE-4C7E-CB46-82F8-8C46EE23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Rules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F6A4873-A836-225B-EAE1-8FFCF42E4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specify how to replace a non-terminal with other symbols.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 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and   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S→b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we can replace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either with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with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51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7364-500E-FA76-A789-EC92BC3D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3B7C28C-ACA7-A718-C3DA-BBC3A0FA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Rules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1A4C841-EBA6-5410-FF6C-A18498B0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word from these rules.               We start with:   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 S      Then:     2- 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S⇒aS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Then:    3- 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aS⇒aaS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Then:   4-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aaS⇒aab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the resulting word is:  </a:t>
            </a:r>
            <a:r>
              <a:rPr lang="en-US" sz="3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3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this grammar can generate:  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 ab,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 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is, the language is:  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L(G)={a 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∣  n≥0 }</a:t>
            </a:r>
            <a:endParaRPr lang="ar-SA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23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7EB2D4F1-4195-27D7-4707-8235978F4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80EF7487-97CC-F86B-9DAF-2FFF4FCC9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ar-SA" sz="2800" b="1" dirty="0"/>
              <a:t>Grammar      :</a:t>
            </a:r>
          </a:p>
        </p:txBody>
      </p:sp>
      <p:graphicFrame>
        <p:nvGraphicFramePr>
          <p:cNvPr id="12293" name="Object 4">
            <a:extLst>
              <a:ext uri="{FF2B5EF4-FFF2-40B4-BE49-F238E27FC236}">
                <a16:creationId xmlns:a16="http://schemas.microsoft.com/office/drawing/2014/main" id="{98739609-61DD-B8A9-C1BB-EABF04D81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0700" y="1712807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1066800" progId="Equation.3">
                  <p:embed/>
                </p:oleObj>
              </mc:Choice>
              <mc:Fallback>
                <p:oleObj name="Equation" r:id="rId2" imgW="1638300" imgH="1066800" progId="Equation.3">
                  <p:embed/>
                  <p:pic>
                    <p:nvPicPr>
                      <p:cNvPr id="12293" name="Object 4">
                        <a:extLst>
                          <a:ext uri="{FF2B5EF4-FFF2-40B4-BE49-F238E27FC236}">
                            <a16:creationId xmlns:a16="http://schemas.microsoft.com/office/drawing/2014/main" id="{98739609-61DD-B8A9-C1BB-EABF04D81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1712807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5">
            <a:extLst>
              <a:ext uri="{FF2B5EF4-FFF2-40B4-BE49-F238E27FC236}">
                <a16:creationId xmlns:a16="http://schemas.microsoft.com/office/drawing/2014/main" id="{76B06852-829F-15FE-3701-68A13EE5A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3600" y="1905000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300" imgH="381000" progId="Equation.3">
                  <p:embed/>
                </p:oleObj>
              </mc:Choice>
              <mc:Fallback>
                <p:oleObj name="Equation" r:id="rId4" imgW="368300" imgH="381000" progId="Equation.3">
                  <p:embed/>
                  <p:pic>
                    <p:nvPicPr>
                      <p:cNvPr id="12294" name="Object 5">
                        <a:extLst>
                          <a:ext uri="{FF2B5EF4-FFF2-40B4-BE49-F238E27FC236}">
                            <a16:creationId xmlns:a16="http://schemas.microsoft.com/office/drawing/2014/main" id="{76B06852-829F-15FE-3701-68A13EE5A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1905000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6">
            <a:extLst>
              <a:ext uri="{FF2B5EF4-FFF2-40B4-BE49-F238E27FC236}">
                <a16:creationId xmlns:a16="http://schemas.microsoft.com/office/drawing/2014/main" id="{F50E41D7-6285-4699-D2AE-1E96E6726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3276600"/>
          <a:ext cx="2743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43200" imgH="508000" progId="Equation.3">
                  <p:embed/>
                </p:oleObj>
              </mc:Choice>
              <mc:Fallback>
                <p:oleObj name="Equation" r:id="rId6" imgW="2743200" imgH="508000" progId="Equation.3">
                  <p:embed/>
                  <p:pic>
                    <p:nvPicPr>
                      <p:cNvPr id="12295" name="Object 6">
                        <a:extLst>
                          <a:ext uri="{FF2B5EF4-FFF2-40B4-BE49-F238E27FC236}">
                            <a16:creationId xmlns:a16="http://schemas.microsoft.com/office/drawing/2014/main" id="{F50E41D7-6285-4699-D2AE-1E96E6726A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276600"/>
                        <a:ext cx="2743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7">
            <a:extLst>
              <a:ext uri="{FF2B5EF4-FFF2-40B4-BE49-F238E27FC236}">
                <a16:creationId xmlns:a16="http://schemas.microsoft.com/office/drawing/2014/main" id="{1F25FD4F-8516-89FA-9173-29CA730AF0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114801"/>
          <a:ext cx="1397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7000" imgH="482600" progId="Equation.3">
                  <p:embed/>
                </p:oleObj>
              </mc:Choice>
              <mc:Fallback>
                <p:oleObj name="Equation" r:id="rId8" imgW="1397000" imgH="482600" progId="Equation.3">
                  <p:embed/>
                  <p:pic>
                    <p:nvPicPr>
                      <p:cNvPr id="12296" name="Object 7">
                        <a:extLst>
                          <a:ext uri="{FF2B5EF4-FFF2-40B4-BE49-F238E27FC236}">
                            <a16:creationId xmlns:a16="http://schemas.microsoft.com/office/drawing/2014/main" id="{1F25FD4F-8516-89FA-9173-29CA730AF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114801"/>
                        <a:ext cx="1397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8">
            <a:extLst>
              <a:ext uri="{FF2B5EF4-FFF2-40B4-BE49-F238E27FC236}">
                <a16:creationId xmlns:a16="http://schemas.microsoft.com/office/drawing/2014/main" id="{BA30F04A-E094-A965-04D7-1FF18B467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953001"/>
          <a:ext cx="1714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500" imgH="482600" progId="Equation.3">
                  <p:embed/>
                </p:oleObj>
              </mc:Choice>
              <mc:Fallback>
                <p:oleObj name="Equation" r:id="rId10" imgW="1714500" imgH="482600" progId="Equation.3">
                  <p:embed/>
                  <p:pic>
                    <p:nvPicPr>
                      <p:cNvPr id="12297" name="Object 8">
                        <a:extLst>
                          <a:ext uri="{FF2B5EF4-FFF2-40B4-BE49-F238E27FC236}">
                            <a16:creationId xmlns:a16="http://schemas.microsoft.com/office/drawing/2014/main" id="{BA30F04A-E094-A965-04D7-1FF18B467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953001"/>
                        <a:ext cx="17145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9">
            <a:extLst>
              <a:ext uri="{FF2B5EF4-FFF2-40B4-BE49-F238E27FC236}">
                <a16:creationId xmlns:a16="http://schemas.microsoft.com/office/drawing/2014/main" id="{2C506AD6-DC6F-2015-DC41-FB85F5F894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943601"/>
          <a:ext cx="4241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41800" imgH="495300" progId="Equation.3">
                  <p:embed/>
                </p:oleObj>
              </mc:Choice>
              <mc:Fallback>
                <p:oleObj name="Equation" r:id="rId12" imgW="4241800" imgH="495300" progId="Equation.3">
                  <p:embed/>
                  <p:pic>
                    <p:nvPicPr>
                      <p:cNvPr id="12298" name="Object 9">
                        <a:extLst>
                          <a:ext uri="{FF2B5EF4-FFF2-40B4-BE49-F238E27FC236}">
                            <a16:creationId xmlns:a16="http://schemas.microsoft.com/office/drawing/2014/main" id="{2C506AD6-DC6F-2015-DC41-FB85F5F89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943601"/>
                        <a:ext cx="4241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989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92BD-F88B-A2FE-90C9-CCF6B223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13AC71-A81C-4803-B436-D6F7B16B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662F076-8693-35F3-BAF7-76010FB60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applying Production Rules starting from the Start Symbol until we reach a string that contains only Terminals.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We use Derivation to go from S to the final word.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have: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To produce: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start:    S    Then: 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S⇒aS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Next: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aS⇒aaS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Then: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aaS⇒aaaS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Next: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aaaS⇒aaab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So: 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S⇒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aS⇒aaS⇒aaaS⇒aaab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a derivation of the word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9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B7F9-A521-28FE-E75D-E171AE5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3985DC-AB04-AEFD-C3F9-945F6DD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1993B05-FC87-8CB6-B1BD-50CE8664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“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from a grammar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derivation</a:t>
            </a:r>
          </a:p>
          <a:p>
            <a:pPr>
              <a:lnSpc>
                <a:spcPct val="90000"/>
              </a:lnSpc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lnSpc>
                <a:spcPct val="90000"/>
              </a:lnSpc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aabA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aab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step, a nonterminal is replaced by the </a:t>
            </a:r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sentential form</a:t>
            </a:r>
            <a:r>
              <a:rPr lang="en-US" alt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right-hand side of a rule (a sentential form can contain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nonterminals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and/or terminals)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Automata </a:t>
            </a:r>
            <a:r>
              <a:rPr lang="en-US" altLang="en-US" sz="3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languages; grammars </a:t>
            </a:r>
            <a:r>
              <a:rPr lang="en-US" altLang="en-US" sz="3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languages</a:t>
            </a:r>
          </a:p>
          <a:p>
            <a:pPr algn="just">
              <a:lnSpc>
                <a:spcPct val="150000"/>
              </a:lnSpc>
            </a:pPr>
            <a:endParaRPr 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72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52A30C52-38DC-2CB9-52A0-76248816B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/>
              <a:t>More Notation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E217654-4050-59B7-59C5-F155A5083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79" y="1845734"/>
            <a:ext cx="10629499" cy="4023360"/>
          </a:xfrm>
        </p:spPr>
        <p:txBody>
          <a:bodyPr/>
          <a:lstStyle/>
          <a:p>
            <a:r>
              <a:rPr lang="en-US" altLang="ar-SA" sz="2400" b="1" dirty="0">
                <a:solidFill>
                  <a:srgbClr val="7030A0"/>
                </a:solidFill>
                <a:cs typeface="+mj-cs"/>
              </a:rPr>
              <a:t>Sentential Form </a:t>
            </a:r>
            <a:r>
              <a:rPr lang="ar-SA" altLang="ar-SA" sz="2400" dirty="0">
                <a:solidFill>
                  <a:schemeClr val="tx1"/>
                </a:solidFill>
                <a:cs typeface="+mj-cs"/>
              </a:rPr>
              <a:t>(نموذج الجملة)</a:t>
            </a:r>
            <a:r>
              <a:rPr lang="en-US" altLang="ar-SA" sz="2400" dirty="0">
                <a:solidFill>
                  <a:schemeClr val="tx1"/>
                </a:solidFill>
                <a:cs typeface="+mj-cs"/>
              </a:rPr>
              <a:t>:</a:t>
            </a:r>
          </a:p>
          <a:p>
            <a:r>
              <a:rPr lang="en-US" altLang="ar-SA" sz="2800" dirty="0">
                <a:solidFill>
                  <a:schemeClr val="tx1"/>
                </a:solidFill>
                <a:cs typeface="+mj-cs"/>
              </a:rPr>
              <a:t>                A sentence that contains </a:t>
            </a:r>
          </a:p>
          <a:p>
            <a:r>
              <a:rPr lang="en-US" altLang="ar-SA" sz="2800" dirty="0">
                <a:solidFill>
                  <a:schemeClr val="tx1"/>
                </a:solidFill>
                <a:cs typeface="+mj-cs"/>
              </a:rPr>
              <a:t>                Variables and terminals</a:t>
            </a:r>
          </a:p>
          <a:p>
            <a:pPr algn="r" rtl="1"/>
            <a:r>
              <a:rPr lang="ar-SA" altLang="ar-SA" dirty="0"/>
              <a:t>تتكون الجملة من الرموز المساعدة والرموز الأصيلة</a:t>
            </a:r>
            <a:endParaRPr lang="en-US" altLang="ar-SA" dirty="0"/>
          </a:p>
          <a:p>
            <a:r>
              <a:rPr lang="en-US" altLang="ar-SA" sz="2800" b="1" dirty="0">
                <a:solidFill>
                  <a:srgbClr val="7030A0"/>
                </a:solidFill>
              </a:rPr>
              <a:t>Example:</a:t>
            </a:r>
          </a:p>
          <a:p>
            <a:endParaRPr lang="en-US" altLang="ar-SA" dirty="0"/>
          </a:p>
          <a:p>
            <a:endParaRPr lang="en-US" altLang="ar-SA" dirty="0"/>
          </a:p>
        </p:txBody>
      </p:sp>
      <p:graphicFrame>
        <p:nvGraphicFramePr>
          <p:cNvPr id="13317" name="Object 5">
            <a:extLst>
              <a:ext uri="{FF2B5EF4-FFF2-40B4-BE49-F238E27FC236}">
                <a16:creationId xmlns:a16="http://schemas.microsoft.com/office/drawing/2014/main" id="{92671B21-A10F-E4DB-A15E-B17549B3B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256864"/>
              </p:ext>
            </p:extLst>
          </p:nvPr>
        </p:nvGraphicFramePr>
        <p:xfrm>
          <a:off x="2259806" y="4408487"/>
          <a:ext cx="76723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70800" imgH="393700" progId="Equation.3">
                  <p:embed/>
                </p:oleObj>
              </mc:Choice>
              <mc:Fallback>
                <p:oleObj name="Equation" r:id="rId2" imgW="7670800" imgH="393700" progId="Equation.3">
                  <p:embed/>
                  <p:pic>
                    <p:nvPicPr>
                      <p:cNvPr id="13317" name="Object 5">
                        <a:extLst>
                          <a:ext uri="{FF2B5EF4-FFF2-40B4-BE49-F238E27FC236}">
                            <a16:creationId xmlns:a16="http://schemas.microsoft.com/office/drawing/2014/main" id="{92671B21-A10F-E4DB-A15E-B17549B3B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806" y="4408487"/>
                        <a:ext cx="76723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Line 6">
            <a:extLst>
              <a:ext uri="{FF2B5EF4-FFF2-40B4-BE49-F238E27FC236}">
                <a16:creationId xmlns:a16="http://schemas.microsoft.com/office/drawing/2014/main" id="{2C43D038-1AE3-8280-62D6-40EB2E1C40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8006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EFD0ADEA-ECF7-0C91-5172-63C3508EE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4876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4A38B397-E438-0129-CCDB-39EB2E1D8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4800600"/>
            <a:ext cx="1447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8A11008C-3DAA-22BA-1DD0-49BCEECBA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5867400"/>
            <a:ext cx="3446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Sentential Forms</a:t>
            </a:r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E4372078-B49C-D8F3-BFB9-17B163740C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800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F1309E2E-DA7B-8CB7-0D14-9D251520F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867400"/>
            <a:ext cx="1876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sentence</a:t>
            </a:r>
          </a:p>
        </p:txBody>
      </p:sp>
    </p:spTree>
    <p:extLst>
      <p:ext uri="{BB962C8B-B14F-4D97-AF65-F5344CB8AC3E}">
        <p14:creationId xmlns:p14="http://schemas.microsoft.com/office/powerpoint/2010/main" val="376432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F2ABB546-4572-9C97-1C22-912BE46EC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949" y="226167"/>
            <a:ext cx="10706501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ar-SA" sz="2800" dirty="0">
                <a:solidFill>
                  <a:srgbClr val="0070C0"/>
                </a:solidFill>
                <a:cs typeface="+mj-cs"/>
              </a:rPr>
              <a:t>Derivation of sentence           </a:t>
            </a:r>
            <a:r>
              <a:rPr lang="en-US" altLang="ar-SA" sz="2800" dirty="0">
                <a:cs typeface="+mj-cs"/>
              </a:rPr>
              <a:t>:</a:t>
            </a:r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endParaRPr lang="ar-SA" altLang="ar-SA" sz="2800" dirty="0">
              <a:cs typeface="+mj-cs"/>
            </a:endParaRPr>
          </a:p>
          <a:p>
            <a:r>
              <a:rPr lang="en-US" altLang="ar-SA" sz="2800" dirty="0">
                <a:solidFill>
                  <a:srgbClr val="0070C0"/>
                </a:solidFill>
              </a:rPr>
              <a:t>Other derivations:</a:t>
            </a:r>
          </a:p>
          <a:p>
            <a:endParaRPr lang="en-US" altLang="ar-SA" sz="2800" dirty="0">
              <a:cs typeface="+mj-cs"/>
            </a:endParaRPr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4CBBADBA-CB6B-DF57-A202-AB1018AA1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858066"/>
              </p:ext>
            </p:extLst>
          </p:nvPr>
        </p:nvGraphicFramePr>
        <p:xfrm>
          <a:off x="4781550" y="226167"/>
          <a:ext cx="952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393529" progId="Equation.3">
                  <p:embed/>
                </p:oleObj>
              </mc:Choice>
              <mc:Fallback>
                <p:oleObj name="Equation" r:id="rId2" imgW="952087" imgH="393529" progId="Equation.3">
                  <p:embed/>
                  <p:pic>
                    <p:nvPicPr>
                      <p:cNvPr id="7172" name="Object 4">
                        <a:extLst>
                          <a:ext uri="{FF2B5EF4-FFF2-40B4-BE49-F238E27FC236}">
                            <a16:creationId xmlns:a16="http://schemas.microsoft.com/office/drawing/2014/main" id="{4CBBADBA-CB6B-DF57-A202-AB1018AA1D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226167"/>
                        <a:ext cx="952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165C402C-B773-BF44-D85E-65CD987C5F20}"/>
              </a:ext>
            </a:extLst>
          </p:cNvPr>
          <p:cNvGrpSpPr/>
          <p:nvPr/>
        </p:nvGrpSpPr>
        <p:grpSpPr>
          <a:xfrm>
            <a:off x="2927349" y="1170847"/>
            <a:ext cx="4965700" cy="1808057"/>
            <a:chOff x="3505200" y="3079857"/>
            <a:chExt cx="4965700" cy="1808057"/>
          </a:xfrm>
        </p:grpSpPr>
        <p:graphicFrame>
          <p:nvGraphicFramePr>
            <p:cNvPr id="7173" name="Object 5">
              <a:extLst>
                <a:ext uri="{FF2B5EF4-FFF2-40B4-BE49-F238E27FC236}">
                  <a16:creationId xmlns:a16="http://schemas.microsoft.com/office/drawing/2014/main" id="{B244AB0D-B2B5-B10A-B03A-4309336AA0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1655010"/>
                </p:ext>
              </p:extLst>
            </p:nvPr>
          </p:nvGraphicFramePr>
          <p:xfrm>
            <a:off x="3505200" y="3079857"/>
            <a:ext cx="4965700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965700" imgH="393700" progId="Equation.3">
                    <p:embed/>
                  </p:oleObj>
                </mc:Choice>
                <mc:Fallback>
                  <p:oleObj name="Equation" r:id="rId4" imgW="4965700" imgH="393700" progId="Equation.3">
                    <p:embed/>
                    <p:pic>
                      <p:nvPicPr>
                        <p:cNvPr id="7173" name="Object 5">
                          <a:extLst>
                            <a:ext uri="{FF2B5EF4-FFF2-40B4-BE49-F238E27FC236}">
                              <a16:creationId xmlns:a16="http://schemas.microsoft.com/office/drawing/2014/main" id="{B244AB0D-B2B5-B10A-B03A-4309336AA0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200" y="3079857"/>
                          <a:ext cx="4965700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6">
              <a:extLst>
                <a:ext uri="{FF2B5EF4-FFF2-40B4-BE49-F238E27FC236}">
                  <a16:creationId xmlns:a16="http://schemas.microsoft.com/office/drawing/2014/main" id="{EFF0D068-F972-04C4-4EB0-674D3BD517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7386228"/>
                </p:ext>
              </p:extLst>
            </p:nvPr>
          </p:nvGraphicFramePr>
          <p:xfrm>
            <a:off x="4038600" y="4495801"/>
            <a:ext cx="1638300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37589" imgH="393529" progId="Equation.3">
                    <p:embed/>
                  </p:oleObj>
                </mc:Choice>
                <mc:Fallback>
                  <p:oleObj name="Equation" r:id="rId6" imgW="1637589" imgH="393529" progId="Equation.3">
                    <p:embed/>
                    <p:pic>
                      <p:nvPicPr>
                        <p:cNvPr id="7174" name="Object 6">
                          <a:extLst>
                            <a:ext uri="{FF2B5EF4-FFF2-40B4-BE49-F238E27FC236}">
                              <a16:creationId xmlns:a16="http://schemas.microsoft.com/office/drawing/2014/main" id="{EFF0D068-F972-04C4-4EB0-674D3BD517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0" y="4495801"/>
                          <a:ext cx="1638300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5" name="Line 7">
              <a:extLst>
                <a:ext uri="{FF2B5EF4-FFF2-40B4-BE49-F238E27FC236}">
                  <a16:creationId xmlns:a16="http://schemas.microsoft.com/office/drawing/2014/main" id="{F8B54898-09E1-AF3C-EB45-4D39A6C1E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14800" y="3505200"/>
              <a:ext cx="304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Line 8">
              <a:extLst>
                <a:ext uri="{FF2B5EF4-FFF2-40B4-BE49-F238E27FC236}">
                  <a16:creationId xmlns:a16="http://schemas.microsoft.com/office/drawing/2014/main" id="{BA7556D9-3473-27A7-0163-63E7CEFA3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3505200"/>
              <a:ext cx="304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7177" name="Object 9">
              <a:extLst>
                <a:ext uri="{FF2B5EF4-FFF2-40B4-BE49-F238E27FC236}">
                  <a16:creationId xmlns:a16="http://schemas.microsoft.com/office/drawing/2014/main" id="{BEA8A239-6A51-10B7-3707-9EFB74E4EA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8244686"/>
                </p:ext>
              </p:extLst>
            </p:nvPr>
          </p:nvGraphicFramePr>
          <p:xfrm>
            <a:off x="7086600" y="4495800"/>
            <a:ext cx="1219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18671" imgH="380835" progId="Equation.3">
                    <p:embed/>
                  </p:oleObj>
                </mc:Choice>
                <mc:Fallback>
                  <p:oleObj name="Equation" r:id="rId8" imgW="1218671" imgH="380835" progId="Equation.3">
                    <p:embed/>
                    <p:pic>
                      <p:nvPicPr>
                        <p:cNvPr id="7177" name="Object 9">
                          <a:extLst>
                            <a:ext uri="{FF2B5EF4-FFF2-40B4-BE49-F238E27FC236}">
                              <a16:creationId xmlns:a16="http://schemas.microsoft.com/office/drawing/2014/main" id="{BEA8A239-6A51-10B7-3707-9EFB74E4EA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4495800"/>
                          <a:ext cx="1219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8" name="Line 10">
              <a:extLst>
                <a:ext uri="{FF2B5EF4-FFF2-40B4-BE49-F238E27FC236}">
                  <a16:creationId xmlns:a16="http://schemas.microsoft.com/office/drawing/2014/main" id="{7C929F6B-E752-F40A-ABF5-F04B0A8C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15200" y="3505200"/>
              <a:ext cx="304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CB76C513-B3F7-B5CE-CF59-13058F524DAB}"/>
              </a:ext>
            </a:extLst>
          </p:cNvPr>
          <p:cNvGrpSpPr/>
          <p:nvPr/>
        </p:nvGrpSpPr>
        <p:grpSpPr>
          <a:xfrm>
            <a:off x="3053555" y="3890644"/>
            <a:ext cx="7672388" cy="1870494"/>
            <a:chOff x="2342356" y="2574506"/>
            <a:chExt cx="7672388" cy="1870494"/>
          </a:xfrm>
        </p:grpSpPr>
        <p:graphicFrame>
          <p:nvGraphicFramePr>
            <p:cNvPr id="6" name="Object 4">
              <a:extLst>
                <a:ext uri="{FF2B5EF4-FFF2-40B4-BE49-F238E27FC236}">
                  <a16:creationId xmlns:a16="http://schemas.microsoft.com/office/drawing/2014/main" id="{B0C52FF0-B1CB-A1FB-2A34-BC8B9D248B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3250407"/>
                </p:ext>
              </p:extLst>
            </p:nvPr>
          </p:nvGraphicFramePr>
          <p:xfrm>
            <a:off x="2342356" y="2574506"/>
            <a:ext cx="7672388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670800" imgH="393700" progId="Equation.3">
                    <p:embed/>
                  </p:oleObj>
                </mc:Choice>
                <mc:Fallback>
                  <p:oleObj name="Equation" r:id="rId10" imgW="7670800" imgH="393700" progId="Equation.3">
                    <p:embed/>
                    <p:pic>
                      <p:nvPicPr>
                        <p:cNvPr id="8196" name="Object 4">
                          <a:extLst>
                            <a:ext uri="{FF2B5EF4-FFF2-40B4-BE49-F238E27FC236}">
                              <a16:creationId xmlns:a16="http://schemas.microsoft.com/office/drawing/2014/main" id="{1F88ADE5-9FE2-04DF-BFBB-2B6D91020F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2356" y="2574506"/>
                          <a:ext cx="7672388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115E2098-D18C-29F4-675D-BA91D5B37D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7617630"/>
                </p:ext>
              </p:extLst>
            </p:nvPr>
          </p:nvGraphicFramePr>
          <p:xfrm>
            <a:off x="3352800" y="3276600"/>
            <a:ext cx="5651500" cy="116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651500" imgH="1168400" progId="Equation.3">
                    <p:embed/>
                  </p:oleObj>
                </mc:Choice>
                <mc:Fallback>
                  <p:oleObj name="Equation" r:id="rId12" imgW="5651500" imgH="1168400" progId="Equation.3">
                    <p:embed/>
                    <p:pic>
                      <p:nvPicPr>
                        <p:cNvPr id="8197" name="Object 5">
                          <a:extLst>
                            <a:ext uri="{FF2B5EF4-FFF2-40B4-BE49-F238E27FC236}">
                              <a16:creationId xmlns:a16="http://schemas.microsoft.com/office/drawing/2014/main" id="{2F163CBF-8EE1-EC09-78B2-2981BE3B88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2800" y="3276600"/>
                          <a:ext cx="5651500" cy="1168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1752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879F03F0-4759-041D-F5C5-F26021D91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ar-SA" sz="3200" b="1" dirty="0">
                <a:solidFill>
                  <a:srgbClr val="0070C0"/>
                </a:solidFill>
              </a:rPr>
              <a:t>Language of the grammar</a:t>
            </a:r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26A77862-F2AF-C8CA-B3D6-002428BFA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480393"/>
              </p:ext>
            </p:extLst>
          </p:nvPr>
        </p:nvGraphicFramePr>
        <p:xfrm>
          <a:off x="6254750" y="1845734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1066800" progId="Equation.3">
                  <p:embed/>
                </p:oleObj>
              </mc:Choice>
              <mc:Fallback>
                <p:oleObj name="Equation" r:id="rId2" imgW="1638300" imgH="1066800" progId="Equation.3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26A77862-F2AF-C8CA-B3D6-002428BFA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0" y="1845734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6A140789-EEF4-61BD-3989-1E8E513E85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4191001"/>
          <a:ext cx="30353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35300" imgH="635000" progId="Equation.3">
                  <p:embed/>
                </p:oleObj>
              </mc:Choice>
              <mc:Fallback>
                <p:oleObj name="Equation" r:id="rId4" imgW="3035300" imgH="635000" progId="Equation.3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6A140789-EEF4-61BD-3989-1E8E513E85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91001"/>
                        <a:ext cx="30353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863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20B6EFF2-1613-DD9E-04A7-F16003AAF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2800" b="1" dirty="0">
                <a:solidFill>
                  <a:srgbClr val="0070C0"/>
                </a:solidFill>
              </a:rPr>
              <a:t>We write:</a:t>
            </a:r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r>
              <a:rPr lang="en-US" altLang="ar-SA" sz="2800" b="1" dirty="0">
                <a:solidFill>
                  <a:srgbClr val="0070C0"/>
                </a:solidFill>
              </a:rPr>
              <a:t>Instead of:</a:t>
            </a:r>
          </a:p>
          <a:p>
            <a:endParaRPr lang="en-US" altLang="ar-SA" dirty="0"/>
          </a:p>
        </p:txBody>
      </p:sp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478100A7-7928-B476-45E8-16C414C4B9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866331"/>
              </p:ext>
            </p:extLst>
          </p:nvPr>
        </p:nvGraphicFramePr>
        <p:xfrm>
          <a:off x="4074695" y="2161118"/>
          <a:ext cx="3276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400" imgH="876300" progId="Equation.3">
                  <p:embed/>
                </p:oleObj>
              </mc:Choice>
              <mc:Fallback>
                <p:oleObj name="Equation" r:id="rId2" imgW="2565400" imgH="876300" progId="Equation.3">
                  <p:embed/>
                  <p:pic>
                    <p:nvPicPr>
                      <p:cNvPr id="14340" name="Object 4">
                        <a:extLst>
                          <a:ext uri="{FF2B5EF4-FFF2-40B4-BE49-F238E27FC236}">
                            <a16:creationId xmlns:a16="http://schemas.microsoft.com/office/drawing/2014/main" id="{478100A7-7928-B476-45E8-16C414C4B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695" y="2161118"/>
                        <a:ext cx="3276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>
            <a:extLst>
              <a:ext uri="{FF2B5EF4-FFF2-40B4-BE49-F238E27FC236}">
                <a16:creationId xmlns:a16="http://schemas.microsoft.com/office/drawing/2014/main" id="{93116F12-D5DD-EBF8-0082-A4AE0464DC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105401"/>
          <a:ext cx="76723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70800" imgH="393700" progId="Equation.3">
                  <p:embed/>
                </p:oleObj>
              </mc:Choice>
              <mc:Fallback>
                <p:oleObj name="Equation" r:id="rId4" imgW="7670800" imgH="393700" progId="Equation.3">
                  <p:embed/>
                  <p:pic>
                    <p:nvPicPr>
                      <p:cNvPr id="14341" name="Object 5">
                        <a:extLst>
                          <a:ext uri="{FF2B5EF4-FFF2-40B4-BE49-F238E27FC236}">
                            <a16:creationId xmlns:a16="http://schemas.microsoft.com/office/drawing/2014/main" id="{93116F12-D5DD-EBF8-0082-A4AE0464D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05401"/>
                        <a:ext cx="76723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709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1F107D00-FAF8-9F73-8255-511AB2EDE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2400" b="1" dirty="0">
                <a:solidFill>
                  <a:srgbClr val="0070C0"/>
                </a:solidFill>
              </a:rPr>
              <a:t>In general we write:</a:t>
            </a:r>
          </a:p>
          <a:p>
            <a:endParaRPr lang="en-US" altLang="ar-SA" dirty="0"/>
          </a:p>
          <a:p>
            <a:endParaRPr lang="en-US" altLang="ar-SA" dirty="0"/>
          </a:p>
          <a:p>
            <a:r>
              <a:rPr lang="en-US" altLang="ar-SA" sz="2800" b="1" dirty="0">
                <a:solidFill>
                  <a:srgbClr val="0070C0"/>
                </a:solidFill>
              </a:rPr>
              <a:t>If:</a:t>
            </a:r>
          </a:p>
        </p:txBody>
      </p:sp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E21D9A1C-4C1B-9302-F787-0E84247650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828800"/>
          <a:ext cx="1841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889000" progId="Equation.3">
                  <p:embed/>
                </p:oleObj>
              </mc:Choice>
              <mc:Fallback>
                <p:oleObj name="Equation" r:id="rId2" imgW="1841500" imgH="889000" progId="Equation.3">
                  <p:embed/>
                  <p:pic>
                    <p:nvPicPr>
                      <p:cNvPr id="15364" name="Object 4">
                        <a:extLst>
                          <a:ext uri="{FF2B5EF4-FFF2-40B4-BE49-F238E27FC236}">
                            <a16:creationId xmlns:a16="http://schemas.microsoft.com/office/drawing/2014/main" id="{E21D9A1C-4C1B-9302-F787-0E8424765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28800"/>
                        <a:ext cx="1841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8F031647-7B7F-F474-5EB8-A8AE45DF5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0" y="3441701"/>
          <a:ext cx="4876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76800" imgH="533400" progId="Equation.3">
                  <p:embed/>
                </p:oleObj>
              </mc:Choice>
              <mc:Fallback>
                <p:oleObj name="Equation" r:id="rId4" imgW="4876800" imgH="533400" progId="Equation.3">
                  <p:embed/>
                  <p:pic>
                    <p:nvPicPr>
                      <p:cNvPr id="15365" name="Object 5">
                        <a:extLst>
                          <a:ext uri="{FF2B5EF4-FFF2-40B4-BE49-F238E27FC236}">
                            <a16:creationId xmlns:a16="http://schemas.microsoft.com/office/drawing/2014/main" id="{8F031647-7B7F-F474-5EB8-A8AE45DF5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3441701"/>
                        <a:ext cx="48768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7ECA60E9-C3ED-1154-31FE-E33A95997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495800"/>
            <a:ext cx="7239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accent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accent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ar-SA" kern="0"/>
              <a:t>By default:</a:t>
            </a:r>
          </a:p>
          <a:p>
            <a:pPr>
              <a:defRPr/>
            </a:pPr>
            <a:endParaRPr lang="en-US" altLang="ar-SA" kern="0" dirty="0"/>
          </a:p>
        </p:txBody>
      </p:sp>
      <p:graphicFrame>
        <p:nvGraphicFramePr>
          <p:cNvPr id="15367" name="Object 5">
            <a:extLst>
              <a:ext uri="{FF2B5EF4-FFF2-40B4-BE49-F238E27FC236}">
                <a16:creationId xmlns:a16="http://schemas.microsoft.com/office/drawing/2014/main" id="{BB9E4644-7958-6D5F-4263-04E2AC165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7950" y="5295900"/>
          <a:ext cx="1524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0" imgH="876300" progId="Equation.3">
                  <p:embed/>
                </p:oleObj>
              </mc:Choice>
              <mc:Fallback>
                <p:oleObj name="Equation" r:id="rId6" imgW="1524000" imgH="876300" progId="Equation.3">
                  <p:embed/>
                  <p:pic>
                    <p:nvPicPr>
                      <p:cNvPr id="15367" name="Object 5">
                        <a:extLst>
                          <a:ext uri="{FF2B5EF4-FFF2-40B4-BE49-F238E27FC236}">
                            <a16:creationId xmlns:a16="http://schemas.microsoft.com/office/drawing/2014/main" id="{BB9E4644-7958-6D5F-4263-04E2AC165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5295900"/>
                        <a:ext cx="1524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1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C0DDED49-D352-97C7-3525-FF9120F6F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0036A37-18AF-03E1-228C-429B595EB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7179BF55-FAB4-1647-A053-0864E4B4D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759893"/>
              </p:ext>
            </p:extLst>
          </p:nvPr>
        </p:nvGraphicFramePr>
        <p:xfrm>
          <a:off x="7716252" y="949113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300" imgH="1066800" progId="Equation.3">
                  <p:embed/>
                </p:oleObj>
              </mc:Choice>
              <mc:Fallback>
                <p:oleObj name="Equation" r:id="rId2" imgW="1638300" imgH="1066800" progId="Equation.3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7179BF55-FAB4-1647-A053-0864E4B4DD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252" y="949113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>
            <a:extLst>
              <a:ext uri="{FF2B5EF4-FFF2-40B4-BE49-F238E27FC236}">
                <a16:creationId xmlns:a16="http://schemas.microsoft.com/office/drawing/2014/main" id="{6CEF0E4D-6FCC-BB60-361A-E57691C04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514600"/>
          <a:ext cx="2222500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500" imgH="3911600" progId="Equation.3">
                  <p:embed/>
                </p:oleObj>
              </mc:Choice>
              <mc:Fallback>
                <p:oleObj name="Equation" r:id="rId4" imgW="2222500" imgH="3911600" progId="Equation.3">
                  <p:embed/>
                  <p:pic>
                    <p:nvPicPr>
                      <p:cNvPr id="16390" name="Object 6">
                        <a:extLst>
                          <a:ext uri="{FF2B5EF4-FFF2-40B4-BE49-F238E27FC236}">
                            <a16:creationId xmlns:a16="http://schemas.microsoft.com/office/drawing/2014/main" id="{6CEF0E4D-6FCC-BB60-361A-E57691C04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14600"/>
                        <a:ext cx="2222500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>
            <a:extLst>
              <a:ext uri="{FF2B5EF4-FFF2-40B4-BE49-F238E27FC236}">
                <a16:creationId xmlns:a16="http://schemas.microsoft.com/office/drawing/2014/main" id="{96D6FA4E-7BC1-F969-9A87-FEB95E186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2" y="1146756"/>
            <a:ext cx="2020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Grammar:</a:t>
            </a:r>
          </a:p>
        </p:txBody>
      </p:sp>
      <p:graphicFrame>
        <p:nvGraphicFramePr>
          <p:cNvPr id="16392" name="Object 8">
            <a:extLst>
              <a:ext uri="{FF2B5EF4-FFF2-40B4-BE49-F238E27FC236}">
                <a16:creationId xmlns:a16="http://schemas.microsoft.com/office/drawing/2014/main" id="{EBAF83B7-73B7-BD4E-27B7-EED9A4948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3048000"/>
          <a:ext cx="424180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41800" imgH="2501900" progId="Equation.3">
                  <p:embed/>
                </p:oleObj>
              </mc:Choice>
              <mc:Fallback>
                <p:oleObj name="Equation" r:id="rId6" imgW="4241800" imgH="2501900" progId="Equation.3">
                  <p:embed/>
                  <p:pic>
                    <p:nvPicPr>
                      <p:cNvPr id="16392" name="Object 8">
                        <a:extLst>
                          <a:ext uri="{FF2B5EF4-FFF2-40B4-BE49-F238E27FC236}">
                            <a16:creationId xmlns:a16="http://schemas.microsoft.com/office/drawing/2014/main" id="{EBAF83B7-73B7-BD4E-27B7-EED9A4948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048000"/>
                        <a:ext cx="4241800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4902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234CD556-65D9-827B-F2A5-7FE24D6D2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ar-SA" b="1" dirty="0">
                <a:solidFill>
                  <a:srgbClr val="0070C0"/>
                </a:solidFill>
              </a:rPr>
              <a:t>Another Example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8052A97-AD80-8DAB-25FF-37265D8A2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ar-SA" sz="2400" b="1" dirty="0">
                <a:solidFill>
                  <a:srgbClr val="0070C0"/>
                </a:solidFill>
              </a:rPr>
              <a:t>Grammar G:</a:t>
            </a:r>
          </a:p>
        </p:txBody>
      </p:sp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66046326-2CEF-189B-311B-6B508942E5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395140"/>
              </p:ext>
            </p:extLst>
          </p:nvPr>
        </p:nvGraphicFramePr>
        <p:xfrm>
          <a:off x="8185958" y="1845734"/>
          <a:ext cx="17145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1765300" progId="Equation.3">
                  <p:embed/>
                </p:oleObj>
              </mc:Choice>
              <mc:Fallback>
                <p:oleObj name="Equation" r:id="rId2" imgW="1714500" imgH="1765300" progId="Equation.3">
                  <p:embed/>
                  <p:pic>
                    <p:nvPicPr>
                      <p:cNvPr id="17413" name="Object 4">
                        <a:extLst>
                          <a:ext uri="{FF2B5EF4-FFF2-40B4-BE49-F238E27FC236}">
                            <a16:creationId xmlns:a16="http://schemas.microsoft.com/office/drawing/2014/main" id="{66046326-2CEF-189B-311B-6B508942E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5958" y="1845734"/>
                        <a:ext cx="17145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5">
            <a:extLst>
              <a:ext uri="{FF2B5EF4-FFF2-40B4-BE49-F238E27FC236}">
                <a16:creationId xmlns:a16="http://schemas.microsoft.com/office/drawing/2014/main" id="{AFC85CEC-43ED-B03C-D3E9-A90DF8F75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26164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Derivations :</a:t>
            </a:r>
          </a:p>
        </p:txBody>
      </p:sp>
      <p:graphicFrame>
        <p:nvGraphicFramePr>
          <p:cNvPr id="17415" name="Object 6">
            <a:extLst>
              <a:ext uri="{FF2B5EF4-FFF2-40B4-BE49-F238E27FC236}">
                <a16:creationId xmlns:a16="http://schemas.microsoft.com/office/drawing/2014/main" id="{E13240A5-8800-AF1C-9CC5-DADCC39449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495800"/>
          <a:ext cx="57531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53100" imgH="1765300" progId="Equation.3">
                  <p:embed/>
                </p:oleObj>
              </mc:Choice>
              <mc:Fallback>
                <p:oleObj name="Equation" r:id="rId4" imgW="5753100" imgH="1765300" progId="Equation.3">
                  <p:embed/>
                  <p:pic>
                    <p:nvPicPr>
                      <p:cNvPr id="17415" name="Object 6">
                        <a:extLst>
                          <a:ext uri="{FF2B5EF4-FFF2-40B4-BE49-F238E27FC236}">
                            <a16:creationId xmlns:a16="http://schemas.microsoft.com/office/drawing/2014/main" id="{E13240A5-8800-AF1C-9CC5-DADCC3944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495800"/>
                        <a:ext cx="57531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052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2B0CFA11-AE0A-3E21-C9DB-449489D93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ECB92B04-0210-685C-9F17-642976ECC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952596"/>
              </p:ext>
            </p:extLst>
          </p:nvPr>
        </p:nvGraphicFramePr>
        <p:xfrm>
          <a:off x="1740568" y="1845734"/>
          <a:ext cx="7672388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70800" imgH="1168400" progId="Equation.3">
                  <p:embed/>
                </p:oleObj>
              </mc:Choice>
              <mc:Fallback>
                <p:oleObj name="Equation" r:id="rId2" imgW="7670800" imgH="1168400" progId="Equation.3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ECB92B04-0210-685C-9F17-642976ECC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0568" y="1845734"/>
                        <a:ext cx="7672388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BC56CD89-10F3-B69A-5FD0-36EFDA3A5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276600"/>
          <a:ext cx="3822700" cy="287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22700" imgH="2870200" progId="Equation.3">
                  <p:embed/>
                </p:oleObj>
              </mc:Choice>
              <mc:Fallback>
                <p:oleObj name="Equation" r:id="rId4" imgW="3822700" imgH="2870200" progId="Equation.3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BC56CD89-10F3-B69A-5FD0-36EFDA3A5F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76600"/>
                        <a:ext cx="3822700" cy="287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880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6E1A71B5-EE7F-4549-08E8-92EDE3BE7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/>
              <a:t>Example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687F32F-197B-5AB5-99B0-F93669D19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2400" b="1" dirty="0">
                <a:solidFill>
                  <a:srgbClr val="0070C0"/>
                </a:solidFill>
              </a:rPr>
              <a:t>For grammar G:</a:t>
            </a:r>
          </a:p>
          <a:p>
            <a:endParaRPr lang="en-US" altLang="ar-SA" dirty="0"/>
          </a:p>
        </p:txBody>
      </p:sp>
      <p:graphicFrame>
        <p:nvGraphicFramePr>
          <p:cNvPr id="20485" name="Object 4">
            <a:extLst>
              <a:ext uri="{FF2B5EF4-FFF2-40B4-BE49-F238E27FC236}">
                <a16:creationId xmlns:a16="http://schemas.microsoft.com/office/drawing/2014/main" id="{C574BAE2-BEE0-CECF-EFCF-F15106A0C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1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520700" progId="Equation.3">
                  <p:embed/>
                </p:oleObj>
              </mc:Choice>
              <mc:Fallback>
                <p:oleObj name="Equation" r:id="rId2" imgW="228600" imgH="520700" progId="Equation.3">
                  <p:embed/>
                  <p:pic>
                    <p:nvPicPr>
                      <p:cNvPr id="20485" name="Object 4">
                        <a:extLst>
                          <a:ext uri="{FF2B5EF4-FFF2-40B4-BE49-F238E27FC236}">
                            <a16:creationId xmlns:a16="http://schemas.microsoft.com/office/drawing/2014/main" id="{C574BAE2-BEE0-CECF-EFCF-F15106A0C3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5">
            <a:extLst>
              <a:ext uri="{FF2B5EF4-FFF2-40B4-BE49-F238E27FC236}">
                <a16:creationId xmlns:a16="http://schemas.microsoft.com/office/drawing/2014/main" id="{002806DA-2E20-8838-0D8F-4551979376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990600"/>
          <a:ext cx="17145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1765300" progId="Equation.3">
                  <p:embed/>
                </p:oleObj>
              </mc:Choice>
              <mc:Fallback>
                <p:oleObj name="Equation" r:id="rId4" imgW="1714500" imgH="1765300" progId="Equation.3">
                  <p:embed/>
                  <p:pic>
                    <p:nvPicPr>
                      <p:cNvPr id="20486" name="Object 5">
                        <a:extLst>
                          <a:ext uri="{FF2B5EF4-FFF2-40B4-BE49-F238E27FC236}">
                            <a16:creationId xmlns:a16="http://schemas.microsoft.com/office/drawing/2014/main" id="{002806DA-2E20-8838-0D8F-4551979376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90600"/>
                        <a:ext cx="17145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6">
            <a:extLst>
              <a:ext uri="{FF2B5EF4-FFF2-40B4-BE49-F238E27FC236}">
                <a16:creationId xmlns:a16="http://schemas.microsoft.com/office/drawing/2014/main" id="{E69DC4BC-7CFD-C2CE-B233-D56A9D64CD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3657601"/>
          <a:ext cx="40005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00500" imgH="635000" progId="Equation.3">
                  <p:embed/>
                </p:oleObj>
              </mc:Choice>
              <mc:Fallback>
                <p:oleObj name="Equation" r:id="rId6" imgW="4000500" imgH="635000" progId="Equation.3">
                  <p:embed/>
                  <p:pic>
                    <p:nvPicPr>
                      <p:cNvPr id="20487" name="Object 6">
                        <a:extLst>
                          <a:ext uri="{FF2B5EF4-FFF2-40B4-BE49-F238E27FC236}">
                            <a16:creationId xmlns:a16="http://schemas.microsoft.com/office/drawing/2014/main" id="{E69DC4BC-7CFD-C2CE-B233-D56A9D64C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657601"/>
                        <a:ext cx="40005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7">
            <a:extLst>
              <a:ext uri="{FF2B5EF4-FFF2-40B4-BE49-F238E27FC236}">
                <a16:creationId xmlns:a16="http://schemas.microsoft.com/office/drawing/2014/main" id="{0944DC29-BA05-0B79-F8D2-CF84E05CF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334000"/>
            <a:ext cx="13477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Since:</a:t>
            </a:r>
          </a:p>
        </p:txBody>
      </p:sp>
      <p:graphicFrame>
        <p:nvGraphicFramePr>
          <p:cNvPr id="20489" name="Object 8">
            <a:extLst>
              <a:ext uri="{FF2B5EF4-FFF2-40B4-BE49-F238E27FC236}">
                <a16:creationId xmlns:a16="http://schemas.microsoft.com/office/drawing/2014/main" id="{AEA79600-D51D-E7FD-048F-4A795989C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029201"/>
          <a:ext cx="19431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774700" progId="Equation.3">
                  <p:embed/>
                </p:oleObj>
              </mc:Choice>
              <mc:Fallback>
                <p:oleObj name="Equation" r:id="rId8" imgW="1943100" imgH="774700" progId="Equation.3">
                  <p:embed/>
                  <p:pic>
                    <p:nvPicPr>
                      <p:cNvPr id="20489" name="Object 8">
                        <a:extLst>
                          <a:ext uri="{FF2B5EF4-FFF2-40B4-BE49-F238E27FC236}">
                            <a16:creationId xmlns:a16="http://schemas.microsoft.com/office/drawing/2014/main" id="{AEA79600-D51D-E7FD-048F-4A795989C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29201"/>
                        <a:ext cx="19431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5700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748B-CB2C-D7E7-5BFC-AE88AC91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7B22D85-23AE-C78A-F5E3-C8501EF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C4127AA-F25A-BA34-83BC-98DB56C9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is said to be context-free if every rule has a single non-terminal on the left-hand side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you can apply the rule in any context.  More complicated languages (such as English) have context-dependent rules. A language generated from a context-free grammar is called a context-free language</a:t>
            </a:r>
          </a:p>
        </p:txBody>
      </p:sp>
    </p:spTree>
    <p:extLst>
      <p:ext uri="{BB962C8B-B14F-4D97-AF65-F5344CB8AC3E}">
        <p14:creationId xmlns:p14="http://schemas.microsoft.com/office/powerpoint/2010/main" val="2106925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D2FB-9FBD-F1DA-104B-1465B7B4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578D99A-E2E0-0703-57E7-6D7DCE4C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of a Grammar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76806C5-C849-BEB6-F7FF-3AF7809D3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The language produced by Grammar is denoted by: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L(G)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means: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set of all strings that can be derived from the start symbol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is:  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L(G)={ w ∈ T 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∣  S ⇒   ∗ w}               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 is a word composed of Terminals.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:is all possible strings of terminal symbols, including the empty string. 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∗   :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 the possibility of performing zero or more derivation steps.</a:t>
            </a:r>
            <a:endParaRPr lang="ar-S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555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D9775914-8DF3-E9AE-99A4-235A426C6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of a Grammar</a:t>
            </a:r>
            <a:endParaRPr lang="en-US" altLang="ar-SA" dirty="0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0A64DF2-B418-C59F-F8E7-34B628D30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2400" b="1" dirty="0"/>
              <a:t>For a grammar </a:t>
            </a:r>
            <a:endParaRPr lang="ar-SA" altLang="ar-SA" sz="2400" b="1" dirty="0"/>
          </a:p>
          <a:p>
            <a:endParaRPr lang="en-US" altLang="ar-SA" dirty="0"/>
          </a:p>
          <a:p>
            <a:r>
              <a:rPr lang="en-US" altLang="ar-SA" b="1" dirty="0"/>
              <a:t>with start variable </a:t>
            </a:r>
          </a:p>
        </p:txBody>
      </p:sp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DC4AAB04-2CFB-1B96-9A38-702FD09CF4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75487"/>
              </p:ext>
            </p:extLst>
          </p:nvPr>
        </p:nvGraphicFramePr>
        <p:xfrm>
          <a:off x="3137693" y="1935874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" imgH="381000" progId="Equation.3">
                  <p:embed/>
                </p:oleObj>
              </mc:Choice>
              <mc:Fallback>
                <p:oleObj name="Equation" r:id="rId2" imgW="368300" imgH="381000" progId="Equation.3">
                  <p:embed/>
                  <p:pic>
                    <p:nvPicPr>
                      <p:cNvPr id="19461" name="Object 4">
                        <a:extLst>
                          <a:ext uri="{FF2B5EF4-FFF2-40B4-BE49-F238E27FC236}">
                            <a16:creationId xmlns:a16="http://schemas.microsoft.com/office/drawing/2014/main" id="{DC4AAB04-2CFB-1B96-9A38-702FD09CF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7693" y="1935874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5">
            <a:extLst>
              <a:ext uri="{FF2B5EF4-FFF2-40B4-BE49-F238E27FC236}">
                <a16:creationId xmlns:a16="http://schemas.microsoft.com/office/drawing/2014/main" id="{A62A9D6E-DDEF-EE33-6EB4-2B973D517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30451"/>
              </p:ext>
            </p:extLst>
          </p:nvPr>
        </p:nvGraphicFramePr>
        <p:xfrm>
          <a:off x="3505993" y="2765213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19462" name="Object 5">
                        <a:extLst>
                          <a:ext uri="{FF2B5EF4-FFF2-40B4-BE49-F238E27FC236}">
                            <a16:creationId xmlns:a16="http://schemas.microsoft.com/office/drawing/2014/main" id="{A62A9D6E-DDEF-EE33-6EB4-2B973D517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993" y="2765213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6">
            <a:extLst>
              <a:ext uri="{FF2B5EF4-FFF2-40B4-BE49-F238E27FC236}">
                <a16:creationId xmlns:a16="http://schemas.microsoft.com/office/drawing/2014/main" id="{744A84B2-66E2-3B46-278C-6B2B2961E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200400"/>
          <a:ext cx="3797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97300" imgH="876300" progId="Equation.3">
                  <p:embed/>
                </p:oleObj>
              </mc:Choice>
              <mc:Fallback>
                <p:oleObj name="Equation" r:id="rId6" imgW="3797300" imgH="876300" progId="Equation.3">
                  <p:embed/>
                  <p:pic>
                    <p:nvPicPr>
                      <p:cNvPr id="19463" name="Object 6">
                        <a:extLst>
                          <a:ext uri="{FF2B5EF4-FFF2-40B4-BE49-F238E27FC236}">
                            <a16:creationId xmlns:a16="http://schemas.microsoft.com/office/drawing/2014/main" id="{744A84B2-66E2-3B46-278C-6B2B2961E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00400"/>
                        <a:ext cx="3797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9553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2CF61D5-0113-BE14-085A-576AEB2B7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grammar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1280CED-4E67-7E49-261A-AE1C5249F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587" y="1752600"/>
            <a:ext cx="11302583" cy="4876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grammar is a type of context-free grammar (CFG),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grammar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linear without being right- or left-linear.  </a:t>
            </a:r>
          </a:p>
          <a:p>
            <a:pPr algn="ctr">
              <a:lnSpc>
                <a:spcPct val="150000"/>
              </a:lnSpc>
            </a:pP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linear grammar</a:t>
            </a:r>
            <a:r>
              <a:rPr lang="ar-SA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grammar in which </a:t>
            </a:r>
            <a:r>
              <a:rPr lang="en-US" alt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most one variable can occur on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side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any </a:t>
            </a:r>
            <a:r>
              <a:rPr lang="en-US" alt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rule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any restriction on  the position of the variable.</a:t>
            </a:r>
            <a:r>
              <a:rPr lang="ar-SA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ar-SA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Grammars with at most one variable on the right side of a production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A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 Ab |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635F9AF2-2547-7CA3-18C2-4E58EC454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06331"/>
              </p:ext>
            </p:extLst>
          </p:nvPr>
        </p:nvGraphicFramePr>
        <p:xfrm>
          <a:off x="7144177" y="4613609"/>
          <a:ext cx="1714500" cy="1559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1765300" progId="Equation.3">
                  <p:embed/>
                </p:oleObj>
              </mc:Choice>
              <mc:Fallback>
                <p:oleObj name="Equation" r:id="rId2" imgW="1714500" imgH="1765300" progId="Equation.3">
                  <p:embed/>
                  <p:pic>
                    <p:nvPicPr>
                      <p:cNvPr id="23557" name="Object 4">
                        <a:extLst>
                          <a:ext uri="{FF2B5EF4-FFF2-40B4-BE49-F238E27FC236}">
                            <a16:creationId xmlns:a16="http://schemas.microsoft.com/office/drawing/2014/main" id="{635F9AF2-2547-7CA3-18C2-4E58EC454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177" y="4613609"/>
                        <a:ext cx="1714500" cy="1559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>
            <a:extLst>
              <a:ext uri="{FF2B5EF4-FFF2-40B4-BE49-F238E27FC236}">
                <a16:creationId xmlns:a16="http://schemas.microsoft.com/office/drawing/2014/main" id="{7A3C3039-A06A-D8D9-0B72-2C484A2E0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48869"/>
              </p:ext>
            </p:extLst>
          </p:nvPr>
        </p:nvGraphicFramePr>
        <p:xfrm>
          <a:off x="4050632" y="4908216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300" imgH="1066800" progId="Equation.3">
                  <p:embed/>
                </p:oleObj>
              </mc:Choice>
              <mc:Fallback>
                <p:oleObj name="Equation" r:id="rId4" imgW="1638300" imgH="1066800" progId="Equation.3">
                  <p:embed/>
                  <p:pic>
                    <p:nvPicPr>
                      <p:cNvPr id="23558" name="Object 5">
                        <a:extLst>
                          <a:ext uri="{FF2B5EF4-FFF2-40B4-BE49-F238E27FC236}">
                            <a16:creationId xmlns:a16="http://schemas.microsoft.com/office/drawing/2014/main" id="{7A3C3039-A06A-D8D9-0B72-2C484A2E0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0632" y="4908216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D287D901-FD9F-E847-0F14-9956C0B62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Linear Grammar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F6037A6-8126-9F95-B039-24168F72D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2800" b="1" dirty="0">
                <a:solidFill>
                  <a:srgbClr val="FF0000"/>
                </a:solidFill>
              </a:rPr>
              <a:t>Grammar</a:t>
            </a:r>
            <a:r>
              <a:rPr lang="en-US" altLang="ar-SA" dirty="0"/>
              <a:t> </a:t>
            </a:r>
          </a:p>
        </p:txBody>
      </p:sp>
      <p:graphicFrame>
        <p:nvGraphicFramePr>
          <p:cNvPr id="24581" name="Object 4">
            <a:extLst>
              <a:ext uri="{FF2B5EF4-FFF2-40B4-BE49-F238E27FC236}">
                <a16:creationId xmlns:a16="http://schemas.microsoft.com/office/drawing/2014/main" id="{9B0DC749-BA20-B68E-AEE8-E89B86820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905000"/>
          <a:ext cx="2006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600" imgH="1752600" progId="Equation.3">
                  <p:embed/>
                </p:oleObj>
              </mc:Choice>
              <mc:Fallback>
                <p:oleObj name="Equation" r:id="rId2" imgW="2006600" imgH="1752600" progId="Equation.3">
                  <p:embed/>
                  <p:pic>
                    <p:nvPicPr>
                      <p:cNvPr id="24581" name="Object 4">
                        <a:extLst>
                          <a:ext uri="{FF2B5EF4-FFF2-40B4-BE49-F238E27FC236}">
                            <a16:creationId xmlns:a16="http://schemas.microsoft.com/office/drawing/2014/main" id="{9B0DC749-BA20-B68E-AEE8-E89B868209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905000"/>
                        <a:ext cx="20066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5">
            <a:extLst>
              <a:ext uri="{FF2B5EF4-FFF2-40B4-BE49-F238E27FC236}">
                <a16:creationId xmlns:a16="http://schemas.microsoft.com/office/drawing/2014/main" id="{135EECFD-B42E-8330-B0AE-91741FB02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953001"/>
          <a:ext cx="38100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000" imgH="635000" progId="Equation.3">
                  <p:embed/>
                </p:oleObj>
              </mc:Choice>
              <mc:Fallback>
                <p:oleObj name="Equation" r:id="rId4" imgW="3810000" imgH="635000" progId="Equation.3">
                  <p:embed/>
                  <p:pic>
                    <p:nvPicPr>
                      <p:cNvPr id="24582" name="Object 5">
                        <a:extLst>
                          <a:ext uri="{FF2B5EF4-FFF2-40B4-BE49-F238E27FC236}">
                            <a16:creationId xmlns:a16="http://schemas.microsoft.com/office/drawing/2014/main" id="{135EECFD-B42E-8330-B0AE-91741FB02D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53001"/>
                        <a:ext cx="38100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6">
            <a:extLst>
              <a:ext uri="{FF2B5EF4-FFF2-40B4-BE49-F238E27FC236}">
                <a16:creationId xmlns:a16="http://schemas.microsoft.com/office/drawing/2014/main" id="{1EAEF3F8-9970-8639-1523-93B9C37DF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60478"/>
              </p:ext>
            </p:extLst>
          </p:nvPr>
        </p:nvGraphicFramePr>
        <p:xfrm>
          <a:off x="2840990" y="1842205"/>
          <a:ext cx="52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474" imgH="380835" progId="Equation.3">
                  <p:embed/>
                </p:oleObj>
              </mc:Choice>
              <mc:Fallback>
                <p:oleObj name="Equation" r:id="rId6" imgW="520474" imgH="380835" progId="Equation.3">
                  <p:embed/>
                  <p:pic>
                    <p:nvPicPr>
                      <p:cNvPr id="24583" name="Object 6">
                        <a:extLst>
                          <a:ext uri="{FF2B5EF4-FFF2-40B4-BE49-F238E27FC236}">
                            <a16:creationId xmlns:a16="http://schemas.microsoft.com/office/drawing/2014/main" id="{1EAEF3F8-9970-8639-1523-93B9C37DF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990" y="1842205"/>
                        <a:ext cx="520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42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08E87F0A-2781-E18E-3F19-66BE66250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Right-Linear Grammars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181F6C1-57C8-7FE8-567B-A5DD92572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5643" y="1845734"/>
            <a:ext cx="11438020" cy="40233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is said to </a:t>
            </a:r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right-linear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productions are of the form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where A and B are variables and x is a string of terminals</a:t>
            </a:r>
          </a:p>
          <a:p>
            <a:pPr>
              <a:lnSpc>
                <a:spcPct val="150000"/>
              </a:lnSpc>
            </a:pPr>
            <a:r>
              <a:rPr lang="en-US" altLang="ar-S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productions have the form: </a:t>
            </a:r>
          </a:p>
          <a:p>
            <a:pPr>
              <a:lnSpc>
                <a:spcPct val="150000"/>
              </a:lnSpc>
            </a:pPr>
            <a:endParaRPr lang="ar-SA" altLang="ar-SA" dirty="0"/>
          </a:p>
          <a:p>
            <a:pPr>
              <a:lnSpc>
                <a:spcPct val="150000"/>
              </a:lnSpc>
            </a:pPr>
            <a:endParaRPr lang="en-US" altLang="ar-SA" dirty="0"/>
          </a:p>
          <a:p>
            <a:pPr>
              <a:lnSpc>
                <a:spcPct val="150000"/>
              </a:lnSpc>
            </a:pPr>
            <a:endParaRPr lang="en-US" altLang="ar-SA" dirty="0"/>
          </a:p>
          <a:p>
            <a:pPr>
              <a:lnSpc>
                <a:spcPct val="150000"/>
              </a:lnSpc>
            </a:pPr>
            <a:r>
              <a:rPr lang="en-US" altLang="ar-SA" sz="2200" b="1" dirty="0"/>
              <a:t>Example:</a:t>
            </a:r>
          </a:p>
          <a:p>
            <a:pPr>
              <a:lnSpc>
                <a:spcPct val="150000"/>
              </a:lnSpc>
            </a:pPr>
            <a:endParaRPr lang="en-US" altLang="ar-SA" dirty="0"/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25AE44EA-A3E7-5FDA-B00C-792808AF6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871835"/>
              </p:ext>
            </p:extLst>
          </p:nvPr>
        </p:nvGraphicFramePr>
        <p:xfrm>
          <a:off x="4959350" y="3089275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381000" progId="Equation.3">
                  <p:embed/>
                </p:oleObj>
              </mc:Choice>
              <mc:Fallback>
                <p:oleObj name="Equation" r:id="rId2" imgW="1485900" imgH="381000" progId="Equation.3">
                  <p:embed/>
                  <p:pic>
                    <p:nvPicPr>
                      <p:cNvPr id="25605" name="Object 4">
                        <a:extLst>
                          <a:ext uri="{FF2B5EF4-FFF2-40B4-BE49-F238E27FC236}">
                            <a16:creationId xmlns:a16="http://schemas.microsoft.com/office/drawing/2014/main" id="{25AE44EA-A3E7-5FDA-B00C-792808AF6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3089275"/>
                        <a:ext cx="1485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>
            <a:extLst>
              <a:ext uri="{FF2B5EF4-FFF2-40B4-BE49-F238E27FC236}">
                <a16:creationId xmlns:a16="http://schemas.microsoft.com/office/drawing/2014/main" id="{5EF32483-94A9-13CB-438D-A73A7F88B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937000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500" imgH="381000" progId="Equation.3">
                  <p:embed/>
                </p:oleObj>
              </mc:Choice>
              <mc:Fallback>
                <p:oleObj name="Equation" r:id="rId4" imgW="1206500" imgH="381000" progId="Equation.3">
                  <p:embed/>
                  <p:pic>
                    <p:nvPicPr>
                      <p:cNvPr id="25606" name="Object 5">
                        <a:extLst>
                          <a:ext uri="{FF2B5EF4-FFF2-40B4-BE49-F238E27FC236}">
                            <a16:creationId xmlns:a16="http://schemas.microsoft.com/office/drawing/2014/main" id="{5EF32483-94A9-13CB-438D-A73A7F88B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937000"/>
                        <a:ext cx="1206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6">
            <a:extLst>
              <a:ext uri="{FF2B5EF4-FFF2-40B4-BE49-F238E27FC236}">
                <a16:creationId xmlns:a16="http://schemas.microsoft.com/office/drawing/2014/main" id="{C0E47C1D-97CF-8ACD-1D58-0DA83A0DA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9" y="3384550"/>
            <a:ext cx="593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or</a:t>
            </a:r>
          </a:p>
        </p:txBody>
      </p:sp>
      <p:graphicFrame>
        <p:nvGraphicFramePr>
          <p:cNvPr id="25608" name="Object 7">
            <a:extLst>
              <a:ext uri="{FF2B5EF4-FFF2-40B4-BE49-F238E27FC236}">
                <a16:creationId xmlns:a16="http://schemas.microsoft.com/office/drawing/2014/main" id="{1BAF5E65-CC77-BF5F-ABC6-449487AC0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4800600"/>
          <a:ext cx="1663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700" imgH="1066800" progId="Equation.3">
                  <p:embed/>
                </p:oleObj>
              </mc:Choice>
              <mc:Fallback>
                <p:oleObj name="Equation" r:id="rId6" imgW="1663700" imgH="1066800" progId="Equation.3">
                  <p:embed/>
                  <p:pic>
                    <p:nvPicPr>
                      <p:cNvPr id="25608" name="Object 7">
                        <a:extLst>
                          <a:ext uri="{FF2B5EF4-FFF2-40B4-BE49-F238E27FC236}">
                            <a16:creationId xmlns:a16="http://schemas.microsoft.com/office/drawing/2014/main" id="{1BAF5E65-CC77-BF5F-ABC6-449487AC0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800600"/>
                        <a:ext cx="1663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3838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E43D762B-9D8B-05A2-2E13-C5ED4F204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Left-Linear Grammars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B3E9C2A-E243-1519-0BF3-F8496948B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7305" y="1845733"/>
            <a:ext cx="10658375" cy="4474855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grammar is said to </a:t>
            </a:r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be left-linear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all productions are of the form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ABx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Ax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ar-SA" sz="2400" b="1" dirty="0">
              <a:solidFill>
                <a:srgbClr val="0070C0"/>
              </a:solidFill>
            </a:endParaRPr>
          </a:p>
          <a:p>
            <a:r>
              <a:rPr lang="en-US" altLang="ar-SA" sz="2400" b="1" dirty="0">
                <a:solidFill>
                  <a:srgbClr val="0070C0"/>
                </a:solidFill>
              </a:rPr>
              <a:t>All productions have form:</a:t>
            </a:r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r>
              <a:rPr lang="en-US" altLang="ar-SA" sz="2400" b="1" dirty="0">
                <a:solidFill>
                  <a:srgbClr val="0070C0"/>
                </a:solidFill>
              </a:rPr>
              <a:t>Example:</a:t>
            </a:r>
          </a:p>
        </p:txBody>
      </p:sp>
      <p:graphicFrame>
        <p:nvGraphicFramePr>
          <p:cNvPr id="26629" name="Object 4">
            <a:extLst>
              <a:ext uri="{FF2B5EF4-FFF2-40B4-BE49-F238E27FC236}">
                <a16:creationId xmlns:a16="http://schemas.microsoft.com/office/drawing/2014/main" id="{0D5229DD-FDFA-BA82-5316-192C73E38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68825"/>
              </p:ext>
            </p:extLst>
          </p:nvPr>
        </p:nvGraphicFramePr>
        <p:xfrm>
          <a:off x="8427258" y="2373734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200" imgH="381000" progId="Equation.3">
                  <p:embed/>
                </p:oleObj>
              </mc:Choice>
              <mc:Fallback>
                <p:oleObj name="Equation" r:id="rId2" imgW="1473200" imgH="381000" progId="Equation.3">
                  <p:embed/>
                  <p:pic>
                    <p:nvPicPr>
                      <p:cNvPr id="26629" name="Object 4">
                        <a:extLst>
                          <a:ext uri="{FF2B5EF4-FFF2-40B4-BE49-F238E27FC236}">
                            <a16:creationId xmlns:a16="http://schemas.microsoft.com/office/drawing/2014/main" id="{0D5229DD-FDFA-BA82-5316-192C73E38B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7258" y="2373734"/>
                        <a:ext cx="147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5">
            <a:extLst>
              <a:ext uri="{FF2B5EF4-FFF2-40B4-BE49-F238E27FC236}">
                <a16:creationId xmlns:a16="http://schemas.microsoft.com/office/drawing/2014/main" id="{93F28183-1B67-5126-77D1-DC4A8FE0F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88106"/>
              </p:ext>
            </p:extLst>
          </p:nvPr>
        </p:nvGraphicFramePr>
        <p:xfrm>
          <a:off x="8474243" y="3476414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500" imgH="381000" progId="Equation.3">
                  <p:embed/>
                </p:oleObj>
              </mc:Choice>
              <mc:Fallback>
                <p:oleObj name="Equation" r:id="rId4" imgW="1206500" imgH="381000" progId="Equation.3">
                  <p:embed/>
                  <p:pic>
                    <p:nvPicPr>
                      <p:cNvPr id="26630" name="Object 5">
                        <a:extLst>
                          <a:ext uri="{FF2B5EF4-FFF2-40B4-BE49-F238E27FC236}">
                            <a16:creationId xmlns:a16="http://schemas.microsoft.com/office/drawing/2014/main" id="{93F28183-1B67-5126-77D1-DC4A8FE0F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4243" y="3476414"/>
                        <a:ext cx="1206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6">
            <a:extLst>
              <a:ext uri="{FF2B5EF4-FFF2-40B4-BE49-F238E27FC236}">
                <a16:creationId xmlns:a16="http://schemas.microsoft.com/office/drawing/2014/main" id="{30C9C0D0-90F2-F505-EFE7-25FB2DED3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630" y="2802148"/>
            <a:ext cx="593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or</a:t>
            </a:r>
          </a:p>
        </p:txBody>
      </p:sp>
      <p:graphicFrame>
        <p:nvGraphicFramePr>
          <p:cNvPr id="26632" name="Object 7">
            <a:extLst>
              <a:ext uri="{FF2B5EF4-FFF2-40B4-BE49-F238E27FC236}">
                <a16:creationId xmlns:a16="http://schemas.microsoft.com/office/drawing/2014/main" id="{F377586E-E155-FB8E-6C51-8634BF6F2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972958"/>
              </p:ext>
            </p:extLst>
          </p:nvPr>
        </p:nvGraphicFramePr>
        <p:xfrm>
          <a:off x="3797300" y="4103794"/>
          <a:ext cx="2298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700" imgH="1765300" progId="Equation.3">
                  <p:embed/>
                </p:oleObj>
              </mc:Choice>
              <mc:Fallback>
                <p:oleObj name="Equation" r:id="rId6" imgW="2298700" imgH="1765300" progId="Equation.3">
                  <p:embed/>
                  <p:pic>
                    <p:nvPicPr>
                      <p:cNvPr id="26632" name="Object 7">
                        <a:extLst>
                          <a:ext uri="{FF2B5EF4-FFF2-40B4-BE49-F238E27FC236}">
                            <a16:creationId xmlns:a16="http://schemas.microsoft.com/office/drawing/2014/main" id="{F377586E-E155-FB8E-6C51-8634BF6F2E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103794"/>
                        <a:ext cx="22987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2186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C4D1E27-7A60-4FC3-A27F-DED886275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86012C5-1F7D-49E1-4C4B-4E8E4A5BF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430" y="1752600"/>
            <a:ext cx="11182662" cy="4876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grammar is said to be right-linear if all productions are of the form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or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where A and B are variables and x is a string of terminals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grammar is said to be left-linear if all productions are of the form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ABx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or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Ax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ar-S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regular grammar is any right-linear or left-linear grammar.</a:t>
            </a:r>
            <a:endParaRPr lang="ar-SA" altLang="ar-S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Regular Grammar</a:t>
            </a:r>
            <a:r>
              <a:rPr lang="ar-SA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are production rules in which the right-hand side of the production takes a very specific form.</a:t>
            </a:r>
            <a:endParaRPr lang="ar-SA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There are two basic types:</a:t>
            </a:r>
            <a:endParaRPr lang="ar-SA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1- Right-Linear Grammar</a:t>
            </a:r>
            <a:r>
              <a:rPr lang="ar-SA" alt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A→Ab</a:t>
            </a:r>
            <a:endParaRPr lang="en-US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2- Left-Linear Grammar </a:t>
            </a:r>
            <a:r>
              <a:rPr lang="ar-SA" alt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 : </a:t>
            </a:r>
            <a:r>
              <a:rPr lang="en-US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A→Ba</a:t>
            </a:r>
            <a:endParaRPr lang="en-US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8E09-6DC2-6F63-FEE8-65D30D83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B5838A-1550-2DCA-E6B5-0EBBA0C8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3874AF4-80BD-B6E4-AB2F-FE1276CB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1728317"/>
            <a:ext cx="11707647" cy="458204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 is the simplest type of grammar.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include:   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A→aB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or:                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A→a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For example:           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S→b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This grammar generates: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{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baseline="30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n ≥ 0}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directly related to: Finite automata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is:             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 ⟷ Finite Automaton</a:t>
            </a:r>
            <a:endParaRPr lang="ar-S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92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E8D5220-54AD-6590-0744-1F8571ED4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4421" y="304800"/>
            <a:ext cx="11107710" cy="1143000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formalism for regular languages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D312662-3B10-3981-84E8-2B7ECCCB2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858" y="2406316"/>
            <a:ext cx="11107710" cy="36896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Every regular grammar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generates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 regular language, and every regular language can be generated by a regular grammar. 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regular grammar 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is a simpler, special-case of a context-free grammar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The regular </a:t>
            </a:r>
            <a:r>
              <a:rPr lang="en-US" alt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language:s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are a proper subset of the context-free languages</a:t>
            </a:r>
          </a:p>
          <a:p>
            <a:pPr>
              <a:lnSpc>
                <a:spcPct val="150000"/>
              </a:lnSpc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17AEB007-2E10-480D-8FAB-9A8AEFB9B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ar-SA" sz="49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9477524-9314-9E00-485E-EC3825D52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ar-SA" dirty="0"/>
          </a:p>
          <a:p>
            <a:r>
              <a:rPr lang="en-US" altLang="ar-SA" sz="3200" b="1" dirty="0">
                <a:solidFill>
                  <a:srgbClr val="0070C0"/>
                </a:solidFill>
              </a:rPr>
              <a:t>Examples:</a:t>
            </a:r>
          </a:p>
          <a:p>
            <a:endParaRPr lang="en-US" altLang="ar-SA" dirty="0"/>
          </a:p>
        </p:txBody>
      </p:sp>
      <p:graphicFrame>
        <p:nvGraphicFramePr>
          <p:cNvPr id="28677" name="Object 4">
            <a:extLst>
              <a:ext uri="{FF2B5EF4-FFF2-40B4-BE49-F238E27FC236}">
                <a16:creationId xmlns:a16="http://schemas.microsoft.com/office/drawing/2014/main" id="{2C361E26-6DE5-2148-91B5-64764B6979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976581"/>
              </p:ext>
            </p:extLst>
          </p:nvPr>
        </p:nvGraphicFramePr>
        <p:xfrm>
          <a:off x="2715126" y="3132221"/>
          <a:ext cx="1663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1066800" progId="Equation.3">
                  <p:embed/>
                </p:oleObj>
              </mc:Choice>
              <mc:Fallback>
                <p:oleObj name="Equation" r:id="rId2" imgW="1663700" imgH="1066800" progId="Equation.3">
                  <p:embed/>
                  <p:pic>
                    <p:nvPicPr>
                      <p:cNvPr id="28677" name="Object 4">
                        <a:extLst>
                          <a:ext uri="{FF2B5EF4-FFF2-40B4-BE49-F238E27FC236}">
                            <a16:creationId xmlns:a16="http://schemas.microsoft.com/office/drawing/2014/main" id="{2C361E26-6DE5-2148-91B5-64764B6979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126" y="3132221"/>
                        <a:ext cx="1663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D5AA1D28-5BFE-0458-2B7A-04BA39E7E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86333"/>
              </p:ext>
            </p:extLst>
          </p:nvPr>
        </p:nvGraphicFramePr>
        <p:xfrm>
          <a:off x="6663826" y="2974764"/>
          <a:ext cx="2298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700" imgH="1765300" progId="Equation.3">
                  <p:embed/>
                </p:oleObj>
              </mc:Choice>
              <mc:Fallback>
                <p:oleObj name="Equation" r:id="rId4" imgW="2298700" imgH="1765300" progId="Equation.3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D5AA1D28-5BFE-0458-2B7A-04BA39E7E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3826" y="2974764"/>
                        <a:ext cx="22987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756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808B1-517F-26C9-43C9-8720EFB7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>
            <a:extLst>
              <a:ext uri="{FF2B5EF4-FFF2-40B4-BE49-F238E27FC236}">
                <a16:creationId xmlns:a16="http://schemas.microsoft.com/office/drawing/2014/main" id="{F38AC880-92EB-D2CC-DE9A-E9B62C0FB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421" y="449179"/>
            <a:ext cx="11534274" cy="5935579"/>
          </a:xfrm>
        </p:spPr>
        <p:txBody>
          <a:bodyPr>
            <a:normAutofit/>
          </a:bodyPr>
          <a:lstStyle/>
          <a:p>
            <a:pPr algn="ctr"/>
            <a:r>
              <a:rPr lang="en-US" altLang="ar-SA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linear grammar and regular grammar?</a:t>
            </a:r>
            <a:endParaRPr lang="ar-SA" altLang="ar-SA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ar-SA" altLang="ar-SA" sz="2800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regular grammar is a linear grammar, </a:t>
            </a:r>
            <a:r>
              <a:rPr lang="en-US" altLang="ar-SA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every linear grammar is a regular grammar. </a:t>
            </a:r>
            <a:endParaRPr lang="ar-SA" altLang="ar-SA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ar-SA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altLang="ar-SA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ar-SA" altLang="ar-SA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ar-SA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S→aSb</a:t>
            </a:r>
            <a:endParaRPr lang="ar-SA" altLang="ar-SA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alt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linear grammar </a:t>
            </a:r>
            <a:r>
              <a:rPr lang="en-US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it contains only one variable.</a:t>
            </a:r>
            <a:r>
              <a:rPr lang="ar-SA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ar-SA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not a regular grammar because the variable S appears in the middle.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S→aS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Grammar &amp; Right-Linear Grammar &amp; Regular Grammar </a:t>
            </a:r>
          </a:p>
          <a:p>
            <a:pPr>
              <a:lnSpc>
                <a:spcPct val="150000"/>
              </a:lnSpc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ar-SA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D08E39C-3F18-F1FD-31F3-2EA7329C2763}"/>
              </a:ext>
            </a:extLst>
          </p:cNvPr>
          <p:cNvSpPr txBox="1"/>
          <p:nvPr/>
        </p:nvSpPr>
        <p:spPr>
          <a:xfrm>
            <a:off x="4876800" y="2638744"/>
            <a:ext cx="6464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 Grammar ⊆ Linear Grammar</a:t>
            </a:r>
          </a:p>
        </p:txBody>
      </p:sp>
    </p:spTree>
    <p:extLst>
      <p:ext uri="{BB962C8B-B14F-4D97-AF65-F5344CB8AC3E}">
        <p14:creationId xmlns:p14="http://schemas.microsoft.com/office/powerpoint/2010/main" val="2799237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2BD86C04-CB65-AD99-F0F1-035C274BE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b="1" dirty="0">
                <a:solidFill>
                  <a:srgbClr val="7030A0"/>
                </a:solidFill>
              </a:rPr>
              <a:t>Observation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6E85581-4FB3-A4E8-DEF8-C42800914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884" y="1845734"/>
            <a:ext cx="10818796" cy="4023360"/>
          </a:xfrm>
        </p:spPr>
        <p:txBody>
          <a:bodyPr/>
          <a:lstStyle/>
          <a:p>
            <a:r>
              <a:rPr lang="en-US" alt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grammars generate regular languages</a:t>
            </a:r>
          </a:p>
          <a:p>
            <a:r>
              <a:rPr lang="en-US" altLang="ar-SA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alt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9701" name="Object 4">
            <a:extLst>
              <a:ext uri="{FF2B5EF4-FFF2-40B4-BE49-F238E27FC236}">
                <a16:creationId xmlns:a16="http://schemas.microsoft.com/office/drawing/2014/main" id="{01B375B5-D4EB-0A3F-C65E-BADB577A9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4275" y="3657600"/>
          <a:ext cx="1663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1066800" progId="Equation.3">
                  <p:embed/>
                </p:oleObj>
              </mc:Choice>
              <mc:Fallback>
                <p:oleObj name="Equation" r:id="rId2" imgW="1663700" imgH="1066800" progId="Equation.3">
                  <p:embed/>
                  <p:pic>
                    <p:nvPicPr>
                      <p:cNvPr id="29701" name="Object 4">
                        <a:extLst>
                          <a:ext uri="{FF2B5EF4-FFF2-40B4-BE49-F238E27FC236}">
                            <a16:creationId xmlns:a16="http://schemas.microsoft.com/office/drawing/2014/main" id="{01B375B5-D4EB-0A3F-C65E-BADB577A9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3657600"/>
                        <a:ext cx="1663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>
            <a:extLst>
              <a:ext uri="{FF2B5EF4-FFF2-40B4-BE49-F238E27FC236}">
                <a16:creationId xmlns:a16="http://schemas.microsoft.com/office/drawing/2014/main" id="{8978FCB3-3B61-47EA-755E-0CC2A6631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450" y="2773364"/>
            <a:ext cx="2419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Grammar G:</a:t>
            </a:r>
          </a:p>
        </p:txBody>
      </p:sp>
      <p:graphicFrame>
        <p:nvGraphicFramePr>
          <p:cNvPr id="29703" name="Object 8">
            <a:extLst>
              <a:ext uri="{FF2B5EF4-FFF2-40B4-BE49-F238E27FC236}">
                <a16:creationId xmlns:a16="http://schemas.microsoft.com/office/drawing/2014/main" id="{DE66986D-89F6-0965-6AC8-E4A6D02C2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597772"/>
              </p:ext>
            </p:extLst>
          </p:nvPr>
        </p:nvGraphicFramePr>
        <p:xfrm>
          <a:off x="1487905" y="5283808"/>
          <a:ext cx="2768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600" imgH="482600" progId="Equation.3">
                  <p:embed/>
                </p:oleObj>
              </mc:Choice>
              <mc:Fallback>
                <p:oleObj name="Equation" r:id="rId4" imgW="2768600" imgH="482600" progId="Equation.3">
                  <p:embed/>
                  <p:pic>
                    <p:nvPicPr>
                      <p:cNvPr id="29703" name="Object 8">
                        <a:extLst>
                          <a:ext uri="{FF2B5EF4-FFF2-40B4-BE49-F238E27FC236}">
                            <a16:creationId xmlns:a16="http://schemas.microsoft.com/office/drawing/2014/main" id="{DE66986D-89F6-0965-6AC8-E4A6D02C2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905" y="5283808"/>
                        <a:ext cx="27686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9">
            <a:extLst>
              <a:ext uri="{FF2B5EF4-FFF2-40B4-BE49-F238E27FC236}">
                <a16:creationId xmlns:a16="http://schemas.microsoft.com/office/drawing/2014/main" id="{3E05FE95-F7D2-D704-1A85-9FD882AFE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971800"/>
            <a:ext cx="2419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Grammar G:</a:t>
            </a:r>
          </a:p>
        </p:txBody>
      </p:sp>
      <p:graphicFrame>
        <p:nvGraphicFramePr>
          <p:cNvPr id="29705" name="Object 10">
            <a:extLst>
              <a:ext uri="{FF2B5EF4-FFF2-40B4-BE49-F238E27FC236}">
                <a16:creationId xmlns:a16="http://schemas.microsoft.com/office/drawing/2014/main" id="{D3FD3FA9-CD90-57B9-139C-97BAEF5F1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3657600"/>
          <a:ext cx="2298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700" imgH="1765300" progId="Equation.3">
                  <p:embed/>
                </p:oleObj>
              </mc:Choice>
              <mc:Fallback>
                <p:oleObj name="Equation" r:id="rId6" imgW="2298700" imgH="1765300" progId="Equation.3">
                  <p:embed/>
                  <p:pic>
                    <p:nvPicPr>
                      <p:cNvPr id="29705" name="Object 10">
                        <a:extLst>
                          <a:ext uri="{FF2B5EF4-FFF2-40B4-BE49-F238E27FC236}">
                            <a16:creationId xmlns:a16="http://schemas.microsoft.com/office/drawing/2014/main" id="{D3FD3FA9-CD90-57B9-139C-97BAEF5F1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657600"/>
                        <a:ext cx="22987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1">
            <a:extLst>
              <a:ext uri="{FF2B5EF4-FFF2-40B4-BE49-F238E27FC236}">
                <a16:creationId xmlns:a16="http://schemas.microsoft.com/office/drawing/2014/main" id="{A06376E3-6EA7-8ECB-B574-A79595593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336035"/>
              </p:ext>
            </p:extLst>
          </p:nvPr>
        </p:nvGraphicFramePr>
        <p:xfrm>
          <a:off x="6805501" y="5734949"/>
          <a:ext cx="3149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49600" imgH="482600" progId="Equation.3">
                  <p:embed/>
                </p:oleObj>
              </mc:Choice>
              <mc:Fallback>
                <p:oleObj name="Equation" r:id="rId8" imgW="3149600" imgH="482600" progId="Equation.3">
                  <p:embed/>
                  <p:pic>
                    <p:nvPicPr>
                      <p:cNvPr id="29706" name="Object 11">
                        <a:extLst>
                          <a:ext uri="{FF2B5EF4-FFF2-40B4-BE49-F238E27FC236}">
                            <a16:creationId xmlns:a16="http://schemas.microsoft.com/office/drawing/2014/main" id="{A06376E3-6EA7-8ECB-B574-A79595593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501" y="5734949"/>
                        <a:ext cx="31496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6565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CA8EA9BC-FE15-72A3-BC99-9B2CF43DF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b="1" dirty="0">
                <a:solidFill>
                  <a:srgbClr val="7030A0"/>
                </a:solidFill>
              </a:rPr>
              <a:t>Observation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D633755-B6C7-82DA-0AB1-38E2748C2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9120" y="1909271"/>
            <a:ext cx="11094720" cy="4378603"/>
          </a:xfrm>
        </p:spPr>
        <p:txBody>
          <a:bodyPr>
            <a:normAutofit/>
          </a:bodyPr>
          <a:lstStyle/>
          <a:p>
            <a:r>
              <a:rPr lang="en-US" alt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type of the following Grammar:</a:t>
            </a:r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endParaRPr lang="en-US" altLang="ar-SA" dirty="0"/>
          </a:p>
          <a:p>
            <a:r>
              <a:rPr lang="en-US" alt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Linear Grammar (Since 1 variable to the right of 1st production)</a:t>
            </a:r>
          </a:p>
          <a:p>
            <a:r>
              <a:rPr lang="en-US" alt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Regular (Since it is not left nor right- Linear Grammar)</a:t>
            </a:r>
          </a:p>
        </p:txBody>
      </p:sp>
      <p:graphicFrame>
        <p:nvGraphicFramePr>
          <p:cNvPr id="30725" name="Object 4">
            <a:extLst>
              <a:ext uri="{FF2B5EF4-FFF2-40B4-BE49-F238E27FC236}">
                <a16:creationId xmlns:a16="http://schemas.microsoft.com/office/drawing/2014/main" id="{8F1B3FED-CC26-0057-2953-D6C055EBC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573756"/>
              </p:ext>
            </p:extLst>
          </p:nvPr>
        </p:nvGraphicFramePr>
        <p:xfrm>
          <a:off x="3695700" y="3000477"/>
          <a:ext cx="1866900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69696" progId="Equation.3">
                  <p:embed/>
                </p:oleObj>
              </mc:Choice>
              <mc:Fallback>
                <p:oleObj name="Equation" r:id="rId2" imgW="672808" imgH="469696" progId="Equation.3">
                  <p:embed/>
                  <p:pic>
                    <p:nvPicPr>
                      <p:cNvPr id="30725" name="Object 4">
                        <a:extLst>
                          <a:ext uri="{FF2B5EF4-FFF2-40B4-BE49-F238E27FC236}">
                            <a16:creationId xmlns:a16="http://schemas.microsoft.com/office/drawing/2014/main" id="{8F1B3FED-CC26-0057-2953-D6C055EBC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3000477"/>
                        <a:ext cx="1866900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5">
            <a:extLst>
              <a:ext uri="{FF2B5EF4-FFF2-40B4-BE49-F238E27FC236}">
                <a16:creationId xmlns:a16="http://schemas.microsoft.com/office/drawing/2014/main" id="{F90642DE-3AC3-A996-FF7A-F32ABF00D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621" y="2409786"/>
            <a:ext cx="2419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Grammar G:</a:t>
            </a:r>
          </a:p>
        </p:txBody>
      </p:sp>
      <p:graphicFrame>
        <p:nvGraphicFramePr>
          <p:cNvPr id="30727" name="Object 6">
            <a:extLst>
              <a:ext uri="{FF2B5EF4-FFF2-40B4-BE49-F238E27FC236}">
                <a16:creationId xmlns:a16="http://schemas.microsoft.com/office/drawing/2014/main" id="{8A50225C-D881-F056-C7E9-29A0E729A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455137"/>
              </p:ext>
            </p:extLst>
          </p:nvPr>
        </p:nvGraphicFramePr>
        <p:xfrm>
          <a:off x="2438400" y="4225131"/>
          <a:ext cx="349408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4" imgW="939392" imgH="203112" progId="Equation.3">
                  <p:embed/>
                </p:oleObj>
              </mc:Choice>
              <mc:Fallback>
                <p:oleObj name="معادلة" r:id="rId4" imgW="939392" imgH="203112" progId="Equation.3">
                  <p:embed/>
                  <p:pic>
                    <p:nvPicPr>
                      <p:cNvPr id="30727" name="Object 6">
                        <a:extLst>
                          <a:ext uri="{FF2B5EF4-FFF2-40B4-BE49-F238E27FC236}">
                            <a16:creationId xmlns:a16="http://schemas.microsoft.com/office/drawing/2014/main" id="{8A50225C-D881-F056-C7E9-29A0E729A1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225131"/>
                        <a:ext cx="349408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1380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3893B57D-DA8A-125F-3D72-5452123DD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b="1" dirty="0">
                <a:solidFill>
                  <a:srgbClr val="7030A0"/>
                </a:solidFill>
              </a:rPr>
              <a:t>Theorem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71B02A9-EA1D-E3B4-714A-0350282ED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ar-SA" sz="2800" dirty="0">
              <a:cs typeface="+mj-cs"/>
            </a:endParaRPr>
          </a:p>
          <a:p>
            <a:r>
              <a:rPr lang="en-US" altLang="ar-SA" sz="2800" dirty="0">
                <a:cs typeface="+mj-cs"/>
              </a:rPr>
              <a:t>A Language       is regular </a:t>
            </a:r>
          </a:p>
          <a:p>
            <a:r>
              <a:rPr lang="en-US" altLang="ar-SA" sz="2800" dirty="0">
                <a:cs typeface="+mj-cs"/>
              </a:rPr>
              <a:t>if and only if</a:t>
            </a:r>
          </a:p>
          <a:p>
            <a:r>
              <a:rPr lang="en-US" altLang="ar-SA" sz="2800" dirty="0">
                <a:cs typeface="+mj-cs"/>
              </a:rPr>
              <a:t>there is a grammar         such that   </a:t>
            </a:r>
          </a:p>
        </p:txBody>
      </p:sp>
      <p:graphicFrame>
        <p:nvGraphicFramePr>
          <p:cNvPr id="31749" name="Object 4">
            <a:extLst>
              <a:ext uri="{FF2B5EF4-FFF2-40B4-BE49-F238E27FC236}">
                <a16:creationId xmlns:a16="http://schemas.microsoft.com/office/drawing/2014/main" id="{0D8689D1-7AF5-D6FC-424B-0EB4002C02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982194"/>
              </p:ext>
            </p:extLst>
          </p:nvPr>
        </p:nvGraphicFramePr>
        <p:xfrm>
          <a:off x="3010685" y="2461126"/>
          <a:ext cx="303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68140" progId="Equation.3">
                  <p:embed/>
                </p:oleObj>
              </mc:Choice>
              <mc:Fallback>
                <p:oleObj name="Equation" r:id="rId2" imgW="304668" imgH="368140" progId="Equation.3">
                  <p:embed/>
                  <p:pic>
                    <p:nvPicPr>
                      <p:cNvPr id="31749" name="Object 4">
                        <a:extLst>
                          <a:ext uri="{FF2B5EF4-FFF2-40B4-BE49-F238E27FC236}">
                            <a16:creationId xmlns:a16="http://schemas.microsoft.com/office/drawing/2014/main" id="{0D8689D1-7AF5-D6FC-424B-0EB4002C0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685" y="2461126"/>
                        <a:ext cx="3032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5">
            <a:extLst>
              <a:ext uri="{FF2B5EF4-FFF2-40B4-BE49-F238E27FC236}">
                <a16:creationId xmlns:a16="http://schemas.microsoft.com/office/drawing/2014/main" id="{34C0D8F2-E832-DE79-C434-4F41BF62E9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3028"/>
              </p:ext>
            </p:extLst>
          </p:nvPr>
        </p:nvGraphicFramePr>
        <p:xfrm>
          <a:off x="4070684" y="3586704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300" imgH="381000" progId="Equation.3">
                  <p:embed/>
                </p:oleObj>
              </mc:Choice>
              <mc:Fallback>
                <p:oleObj name="Equation" r:id="rId4" imgW="368300" imgH="381000" progId="Equation.3">
                  <p:embed/>
                  <p:pic>
                    <p:nvPicPr>
                      <p:cNvPr id="31750" name="Object 5">
                        <a:extLst>
                          <a:ext uri="{FF2B5EF4-FFF2-40B4-BE49-F238E27FC236}">
                            <a16:creationId xmlns:a16="http://schemas.microsoft.com/office/drawing/2014/main" id="{34C0D8F2-E832-DE79-C434-4F41BF62E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684" y="3586704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6">
            <a:extLst>
              <a:ext uri="{FF2B5EF4-FFF2-40B4-BE49-F238E27FC236}">
                <a16:creationId xmlns:a16="http://schemas.microsoft.com/office/drawing/2014/main" id="{92301CF9-7B24-0880-E6E6-769306A95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311892"/>
              </p:ext>
            </p:extLst>
          </p:nvPr>
        </p:nvGraphicFramePr>
        <p:xfrm>
          <a:off x="6336632" y="3536906"/>
          <a:ext cx="1689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367" imgH="482391" progId="Equation.3">
                  <p:embed/>
                </p:oleObj>
              </mc:Choice>
              <mc:Fallback>
                <p:oleObj name="Equation" r:id="rId6" imgW="1688367" imgH="482391" progId="Equation.3">
                  <p:embed/>
                  <p:pic>
                    <p:nvPicPr>
                      <p:cNvPr id="31751" name="Object 6">
                        <a:extLst>
                          <a:ext uri="{FF2B5EF4-FFF2-40B4-BE49-F238E27FC236}">
                            <a16:creationId xmlns:a16="http://schemas.microsoft.com/office/drawing/2014/main" id="{92301CF9-7B24-0880-E6E6-769306A95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632" y="3536906"/>
                        <a:ext cx="1689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734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B0BBC8D-387F-4ACB-2B01-8AED00C5E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Example 1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74E0D41-983B-0E0F-078A-A113B37A3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707" y="1905000"/>
            <a:ext cx="11632366" cy="4648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grammar generates the language on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 = {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 consisting of all strings with no more than three a’s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C1B3A3A-90C2-DC82-3A6C-7122DFFA7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10668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Example 2 </a:t>
            </a:r>
            <a:r>
              <a:rPr lang="en-US" altLang="en-US" sz="2000" b="1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82D9A38-D930-E4A4-D793-824BC6BB5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0863" y="2324100"/>
            <a:ext cx="10491537" cy="2209800"/>
          </a:xfrm>
        </p:spPr>
        <p:txBody>
          <a:bodyPr/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grammar, you should be able to say what language it generates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set notation to define the language generated by the following grammar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185E10B8-E447-F972-99DF-0B0BAC4C2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3962400"/>
            <a:ext cx="2730235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	S </a:t>
            </a:r>
            <a:r>
              <a:rPr lang="en-US" altLang="en-US" sz="2800" dirty="0"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sym typeface="Symbol" panose="05050102010706020507" pitchFamily="18" charset="2"/>
              </a:rPr>
              <a:t>aaSB</a:t>
            </a:r>
            <a:r>
              <a:rPr lang="en-US" altLang="en-US" sz="2800" dirty="0"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B  </a:t>
            </a:r>
            <a:r>
              <a:rPr lang="en-US" altLang="en-US" dirty="0" err="1">
                <a:sym typeface="Symbol" panose="05050102010706020507" pitchFamily="18" charset="2"/>
              </a:rPr>
              <a:t>bB</a:t>
            </a:r>
            <a:r>
              <a:rPr lang="en-US" altLang="en-US" dirty="0">
                <a:sym typeface="Symbol" panose="05050102010706020507" pitchFamily="18" charset="2"/>
              </a:rPr>
              <a:t> | b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FA0BA3C-56A4-E558-DAED-DDA48D336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0668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Example 2 (2)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27DC1E1-6D2D-D6F0-C40D-8FFA55A9C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411" y="1467852"/>
            <a:ext cx="10667999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S </a:t>
            </a:r>
            <a:r>
              <a:rPr lang="en-US" altLang="en-US" sz="2800" dirty="0"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sym typeface="Symbol" panose="05050102010706020507" pitchFamily="18" charset="2"/>
              </a:rPr>
              <a:t>aaSB</a:t>
            </a:r>
            <a:r>
              <a:rPr lang="en-US" altLang="en-US" sz="2800" dirty="0">
                <a:sym typeface="Symbol" panose="05050102010706020507" pitchFamily="18" charset="2"/>
              </a:rPr>
              <a:t> | </a:t>
            </a:r>
            <a:r>
              <a:rPr lang="el-GR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B  </a:t>
            </a:r>
            <a:r>
              <a:rPr lang="en-US" altLang="en-US" sz="2800" dirty="0" err="1">
                <a:sym typeface="Symbol" panose="05050102010706020507" pitchFamily="18" charset="2"/>
              </a:rPr>
              <a:t>bB</a:t>
            </a:r>
            <a:r>
              <a:rPr lang="en-US" altLang="en-US" sz="2800" dirty="0">
                <a:sym typeface="Symbol" panose="05050102010706020507" pitchFamily="18" charset="2"/>
              </a:rPr>
              <a:t> | b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It helps to list some of the strings that can be formed: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aabbbb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aaaaSBB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ym typeface="Symbol" panose="05050102010706020507" pitchFamily="18" charset="2"/>
              </a:rPr>
              <a:t>aaSB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aaaaSBB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aaaaBbb</a:t>
            </a:r>
            <a:r>
              <a:rPr lang="en-US" altLang="en-US" sz="2400" dirty="0">
                <a:sym typeface="Symbol" panose="05050102010706020507" pitchFamily="18" charset="2"/>
              </a:rPr>
              <a:t>  </a:t>
            </a:r>
            <a:r>
              <a:rPr lang="en-US" altLang="en-US" sz="2400" dirty="0" err="1">
                <a:sym typeface="Symbol" panose="05050102010706020507" pitchFamily="18" charset="2"/>
              </a:rPr>
              <a:t>aaaabbb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What is the pattern?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L = {(aa)</a:t>
            </a:r>
            <a:r>
              <a:rPr lang="en-US" altLang="en-US" sz="2800" baseline="30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 err="1">
                <a:sym typeface="Symbol" panose="05050102010706020507" pitchFamily="18" charset="2"/>
              </a:rPr>
              <a:t>b</a:t>
            </a:r>
            <a:r>
              <a:rPr lang="en-US" altLang="en-US" sz="2800" baseline="30000" dirty="0" err="1">
                <a:sym typeface="Symbol" panose="05050102010706020507" pitchFamily="18" charset="2"/>
              </a:rPr>
              <a:t>n</a:t>
            </a:r>
            <a:r>
              <a:rPr lang="en-US" altLang="en-US" sz="2800" dirty="0" err="1">
                <a:sym typeface="Symbol" panose="05050102010706020507" pitchFamily="18" charset="2"/>
              </a:rPr>
              <a:t>b</a:t>
            </a:r>
            <a:r>
              <a:rPr lang="en-US" altLang="en-US" sz="2800" baseline="30000" dirty="0">
                <a:sym typeface="Symbol" panose="05050102010706020507" pitchFamily="18" charset="2"/>
              </a:rPr>
              <a:t>*</a:t>
            </a:r>
            <a:r>
              <a:rPr lang="en-US" altLang="en-US" sz="2800" dirty="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FD9CB07-8442-B646-C3FD-4E1B96889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Example 3 </a:t>
            </a:r>
            <a:r>
              <a:rPr lang="en-US" altLang="en-US" sz="2000" b="1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D22F707-EE08-4A6E-F1F7-EDCA0ADD4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3368" y="1937084"/>
            <a:ext cx="9392653" cy="4311316"/>
          </a:xfrm>
        </p:spPr>
        <p:txBody>
          <a:bodyPr/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regular (right-linear) grammar for the language consisting of all strings over {a, b, c} that begin with a, contain exactly two b’s, and end with cc</a:t>
            </a:r>
          </a:p>
          <a:p>
            <a:pPr>
              <a:buFontTx/>
              <a:buNone/>
            </a:pPr>
            <a:r>
              <a:rPr lang="en-US" altLang="en-US" dirty="0"/>
              <a:t>	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A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cA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B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cB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C 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cD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D  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18F8C88-CC5C-CBCC-6DD3-210252EB5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6002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Theorem 1</a:t>
            </a:r>
            <a:r>
              <a:rPr lang="en-US" altLang="en-US" sz="2000" dirty="0">
                <a:solidFill>
                  <a:srgbClr val="FF0000"/>
                </a:solidFill>
              </a:rPr>
              <a:t>(1)</a:t>
            </a:r>
            <a:br>
              <a:rPr lang="en-US" altLang="en-US" sz="2000" dirty="0">
                <a:solidFill>
                  <a:srgbClr val="FF0000"/>
                </a:solidFill>
              </a:rPr>
            </a:br>
            <a:br>
              <a:rPr lang="en-US" altLang="en-US" sz="2000" dirty="0"/>
            </a:br>
            <a:r>
              <a:rPr lang="en-US" altLang="en-US" sz="2800" dirty="0">
                <a:solidFill>
                  <a:srgbClr val="FF0000"/>
                </a:solidFill>
              </a:rPr>
              <a:t> G                      NDFA</a:t>
            </a:r>
            <a:endParaRPr lang="en-US" altLang="en-US" sz="2000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711F684-4F76-90EA-1B0D-7041EADA0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759" y="1676400"/>
            <a:ext cx="11438020" cy="4876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language generated by a right-linear grammar is regular.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a procedure for automatically constructing an NDFA that mimics the derivations of a right-linear grammar.</a:t>
            </a:r>
          </a:p>
        </p:txBody>
      </p:sp>
      <p:cxnSp>
        <p:nvCxnSpPr>
          <p:cNvPr id="8" name="رابط كسهم مستقيم 7">
            <a:extLst>
              <a:ext uri="{FF2B5EF4-FFF2-40B4-BE49-F238E27FC236}">
                <a16:creationId xmlns:a16="http://schemas.microsoft.com/office/drawing/2014/main" id="{C4A7E015-CB64-42A7-A08B-8A11D24BBBAF}"/>
              </a:ext>
            </a:extLst>
          </p:cNvPr>
          <p:cNvCxnSpPr>
            <a:cxnSpLocks/>
          </p:cNvCxnSpPr>
          <p:nvPr/>
        </p:nvCxnSpPr>
        <p:spPr bwMode="auto">
          <a:xfrm>
            <a:off x="5293895" y="1491916"/>
            <a:ext cx="114500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65E9B943-79FB-82D4-FB96-2AE64BAFD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5642" y="1743993"/>
            <a:ext cx="11566358" cy="4648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sentential forms produced by a right linear grammar have exactly one variable, which occurs as the rightmost symbol.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that our grammar has a production rule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that, during the derivation of a string, there is a step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wcD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wcdE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We can construct an NDFA which has states D and E, and an arc labeled d from D to E.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NDFAs can be converted to DFAs.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languages accepted by DFAs are regular.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F65BC4-087B-EC6E-EDB7-8BB4F5A25DA4}"/>
              </a:ext>
            </a:extLst>
          </p:cNvPr>
          <p:cNvSpPr txBox="1">
            <a:spLocks noChangeArrowheads="1"/>
          </p:cNvSpPr>
          <p:nvPr/>
        </p:nvSpPr>
        <p:spPr>
          <a:xfrm>
            <a:off x="1742574" y="111709"/>
            <a:ext cx="77724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>
                <a:solidFill>
                  <a:srgbClr val="FF0000"/>
                </a:solidFill>
              </a:rPr>
              <a:t>Theorem 1</a:t>
            </a:r>
            <a:r>
              <a:rPr lang="en-US" altLang="en-US" sz="2000" dirty="0">
                <a:solidFill>
                  <a:srgbClr val="FF0000"/>
                </a:solidFill>
              </a:rPr>
              <a:t>(2)</a:t>
            </a:r>
            <a:br>
              <a:rPr lang="en-US" altLang="en-US" sz="2000" dirty="0">
                <a:solidFill>
                  <a:srgbClr val="FF0000"/>
                </a:solidFill>
              </a:rPr>
            </a:br>
            <a:br>
              <a:rPr lang="en-US" altLang="en-US" sz="2000" dirty="0"/>
            </a:br>
            <a:r>
              <a:rPr lang="en-US" altLang="en-US" sz="2800" dirty="0">
                <a:solidFill>
                  <a:srgbClr val="FF0000"/>
                </a:solidFill>
              </a:rPr>
              <a:t> G                      NDFA</a:t>
            </a:r>
            <a:endParaRPr lang="en-US" altLang="en-US" sz="2000" dirty="0"/>
          </a:p>
        </p:txBody>
      </p:sp>
      <p:cxnSp>
        <p:nvCxnSpPr>
          <p:cNvPr id="6" name="رابط كسهم مستقيم 5">
            <a:extLst>
              <a:ext uri="{FF2B5EF4-FFF2-40B4-BE49-F238E27FC236}">
                <a16:creationId xmlns:a16="http://schemas.microsoft.com/office/drawing/2014/main" id="{CB07378D-F252-455A-AB07-72B6250EEC54}"/>
              </a:ext>
            </a:extLst>
          </p:cNvPr>
          <p:cNvCxnSpPr>
            <a:cxnSpLocks/>
          </p:cNvCxnSpPr>
          <p:nvPr/>
        </p:nvCxnSpPr>
        <p:spPr bwMode="auto">
          <a:xfrm>
            <a:off x="4942974" y="1407694"/>
            <a:ext cx="115302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0D9CFE3D-A54D-FE9C-57D8-48DE92084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" y="1780674"/>
            <a:ext cx="11357811" cy="4848726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Construction: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variable 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grammar there will be a state in the automaton labeled 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spcBef>
                <a:spcPct val="0"/>
              </a:spcBef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state of the automaton will be labeled 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will correspond to the S variable in the grammar.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production rule 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automaton will have transitions such that  </a:t>
            </a:r>
            <a:r>
              <a:rPr lang="el-GR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δ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…a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endParaRPr lang="en-US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spcBef>
                <a:spcPct val="0"/>
              </a:spcBef>
              <a:buFontTx/>
              <a:buNone/>
            </a:pPr>
            <a:endParaRPr lang="en-US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production rule 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…a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automaton will have transitions such that  </a:t>
            </a:r>
            <a:r>
              <a:rPr lang="el-GR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δ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…a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final</a:t>
            </a:r>
            <a:endParaRPr lang="el-GR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l-GR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4AE79742-B7FF-E584-EFE2-5C4E763F7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r>
              <a:rPr lang="en-US" altLang="en-US" sz="5400" dirty="0">
                <a:solidFill>
                  <a:srgbClr val="FF0000"/>
                </a:solidFill>
              </a:rPr>
              <a:t>Theorem 1</a:t>
            </a:r>
            <a:r>
              <a:rPr lang="en-US" altLang="en-US" sz="2400" dirty="0">
                <a:solidFill>
                  <a:srgbClr val="FF0000"/>
                </a:solidFill>
              </a:rPr>
              <a:t>(3)</a:t>
            </a:r>
            <a:br>
              <a:rPr lang="en-US" altLang="en-US" sz="2400" dirty="0">
                <a:solidFill>
                  <a:srgbClr val="FF0000"/>
                </a:solidFill>
              </a:rPr>
            </a:br>
            <a:r>
              <a:rPr lang="en-US" altLang="en-US" sz="2000" dirty="0">
                <a:solidFill>
                  <a:srgbClr val="FF0000"/>
                </a:solidFill>
              </a:rPr>
              <a:t> G                      NDFA</a:t>
            </a:r>
            <a:endParaRPr lang="en-US" altLang="en-US" sz="2000" dirty="0"/>
          </a:p>
        </p:txBody>
      </p:sp>
      <p:cxnSp>
        <p:nvCxnSpPr>
          <p:cNvPr id="8" name="رابط كسهم مستقيم 7">
            <a:extLst>
              <a:ext uri="{FF2B5EF4-FFF2-40B4-BE49-F238E27FC236}">
                <a16:creationId xmlns:a16="http://schemas.microsoft.com/office/drawing/2014/main" id="{F267EEFF-5C5F-47D1-96BA-82810AE0E7E1}"/>
              </a:ext>
            </a:extLst>
          </p:cNvPr>
          <p:cNvCxnSpPr/>
          <p:nvPr/>
        </p:nvCxnSpPr>
        <p:spPr bwMode="auto">
          <a:xfrm>
            <a:off x="2739189" y="1006642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1" name="Text Box 18">
            <a:extLst>
              <a:ext uri="{FF2B5EF4-FFF2-40B4-BE49-F238E27FC236}">
                <a16:creationId xmlns:a16="http://schemas.microsoft.com/office/drawing/2014/main" id="{85D12DA0-848E-1FE2-309F-39A0D8847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6003"/>
            <a:ext cx="8001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Construct an NDFA that accepts the language generated by the grammar: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	S </a:t>
            </a:r>
            <a:r>
              <a:rPr lang="en-US" altLang="en-US" sz="2800" dirty="0">
                <a:sym typeface="Symbol" panose="05050102010706020507" pitchFamily="18" charset="2"/>
              </a:rPr>
              <a:t> </a:t>
            </a:r>
            <a:r>
              <a:rPr lang="en-US" altLang="en-US" sz="2800" dirty="0" err="1">
                <a:sym typeface="Symbol" panose="05050102010706020507" pitchFamily="18" charset="2"/>
              </a:rPr>
              <a:t>aA</a:t>
            </a:r>
            <a:r>
              <a:rPr lang="en-US" altLang="en-US" sz="2800" dirty="0">
                <a:sym typeface="Symbol" panose="05050102010706020507" pitchFamily="18" charset="2"/>
              </a:rPr>
              <a:t>  		convert to:</a:t>
            </a:r>
            <a:r>
              <a:rPr lang="en-US" altLang="en-US" sz="2800" dirty="0"/>
              <a:t>	V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</a:t>
            </a:r>
            <a:r>
              <a:rPr lang="en-US" altLang="en-US" sz="2800" dirty="0"/>
              <a:t> aV</a:t>
            </a:r>
            <a:r>
              <a:rPr lang="en-US" altLang="en-US" sz="2800" baseline="-25000" dirty="0"/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	A </a:t>
            </a:r>
            <a:r>
              <a:rPr lang="en-US" altLang="en-US" sz="2800" dirty="0">
                <a:sym typeface="Symbol" panose="05050102010706020507" pitchFamily="18" charset="2"/>
              </a:rPr>
              <a:t></a:t>
            </a:r>
            <a:r>
              <a:rPr lang="en-US" altLang="en-US" sz="2800" dirty="0" err="1">
                <a:sym typeface="Symbol" panose="05050102010706020507" pitchFamily="18" charset="2"/>
              </a:rPr>
              <a:t>abS</a:t>
            </a:r>
            <a:r>
              <a:rPr lang="en-US" altLang="en-US" sz="2800" dirty="0">
                <a:sym typeface="Symbol" panose="05050102010706020507" pitchFamily="18" charset="2"/>
              </a:rPr>
              <a:t> | b		</a:t>
            </a:r>
            <a:r>
              <a:rPr lang="en-US" altLang="en-US" sz="2800" dirty="0"/>
              <a:t>		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</a:t>
            </a:r>
            <a:r>
              <a:rPr lang="en-US" altLang="en-US" sz="2800" dirty="0"/>
              <a:t> abV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| b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7DD90B54-3A27-1560-1B65-273BAF850C19}"/>
              </a:ext>
            </a:extLst>
          </p:cNvPr>
          <p:cNvGrpSpPr/>
          <p:nvPr/>
        </p:nvGrpSpPr>
        <p:grpSpPr>
          <a:xfrm>
            <a:off x="5562600" y="3838575"/>
            <a:ext cx="6629400" cy="2514600"/>
            <a:chOff x="2438400" y="3733800"/>
            <a:chExt cx="6629400" cy="2514600"/>
          </a:xfrm>
        </p:grpSpPr>
        <p:sp>
          <p:nvSpPr>
            <p:cNvPr id="47106" name="Oval 3">
              <a:extLst>
                <a:ext uri="{FF2B5EF4-FFF2-40B4-BE49-F238E27FC236}">
                  <a16:creationId xmlns:a16="http://schemas.microsoft.com/office/drawing/2014/main" id="{09361741-B791-9046-2273-51C9A99FC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886200"/>
              <a:ext cx="609600" cy="6096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47107" name="Oval 4">
              <a:extLst>
                <a:ext uri="{FF2B5EF4-FFF2-40B4-BE49-F238E27FC236}">
                  <a16:creationId xmlns:a16="http://schemas.microsoft.com/office/drawing/2014/main" id="{2D972021-9101-B0F1-5671-C2F79361E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3886200"/>
              <a:ext cx="609600" cy="6096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47108" name="Oval 5">
              <a:extLst>
                <a:ext uri="{FF2B5EF4-FFF2-40B4-BE49-F238E27FC236}">
                  <a16:creationId xmlns:a16="http://schemas.microsoft.com/office/drawing/2014/main" id="{7F446B91-A533-C33D-8BDB-B3832F063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3886200"/>
              <a:ext cx="609600" cy="6096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47109" name="Oval 6">
              <a:extLst>
                <a:ext uri="{FF2B5EF4-FFF2-40B4-BE49-F238E27FC236}">
                  <a16:creationId xmlns:a16="http://schemas.microsoft.com/office/drawing/2014/main" id="{E13D347A-0E6B-2A3F-AEFF-3B79EE7B2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5638800"/>
              <a:ext cx="609600" cy="6096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47110" name="Oval 7">
              <a:extLst>
                <a:ext uri="{FF2B5EF4-FFF2-40B4-BE49-F238E27FC236}">
                  <a16:creationId xmlns:a16="http://schemas.microsoft.com/office/drawing/2014/main" id="{6B18B3CA-6B61-DBFA-6DFF-4E1CE89DA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733800"/>
              <a:ext cx="914400" cy="9144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47111" name="Line 8">
              <a:extLst>
                <a:ext uri="{FF2B5EF4-FFF2-40B4-BE49-F238E27FC236}">
                  <a16:creationId xmlns:a16="http://schemas.microsoft.com/office/drawing/2014/main" id="{04A611FD-F1A0-BE1E-A792-EB49287AF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191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2" name="Line 9">
              <a:extLst>
                <a:ext uri="{FF2B5EF4-FFF2-40B4-BE49-F238E27FC236}">
                  <a16:creationId xmlns:a16="http://schemas.microsoft.com/office/drawing/2014/main" id="{F528E41E-D966-4FB9-179B-7FAD416BE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41910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3" name="Line 10">
              <a:extLst>
                <a:ext uri="{FF2B5EF4-FFF2-40B4-BE49-F238E27FC236}">
                  <a16:creationId xmlns:a16="http://schemas.microsoft.com/office/drawing/2014/main" id="{5201E53D-375A-43BC-94D1-D55706CA0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000" y="4191000"/>
              <a:ext cx="2895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4" name="Text Box 11">
              <a:extLst>
                <a:ext uri="{FF2B5EF4-FFF2-40B4-BE49-F238E27FC236}">
                  <a16:creationId xmlns:a16="http://schemas.microsoft.com/office/drawing/2014/main" id="{67000129-F059-3D7F-F2FF-D21182F7F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39624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V</a:t>
              </a:r>
              <a:r>
                <a:rPr lang="en-US" altLang="en-US" sz="2400" baseline="-25000"/>
                <a:t>0</a:t>
              </a:r>
            </a:p>
          </p:txBody>
        </p:sp>
        <p:sp>
          <p:nvSpPr>
            <p:cNvPr id="47115" name="Text Box 12">
              <a:extLst>
                <a:ext uri="{FF2B5EF4-FFF2-40B4-BE49-F238E27FC236}">
                  <a16:creationId xmlns:a16="http://schemas.microsoft.com/office/drawing/2014/main" id="{6ED2C389-2EA4-DD4D-4A71-62C7DA5E8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9624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V</a:t>
              </a:r>
              <a:r>
                <a:rPr lang="en-US" altLang="en-US" sz="2400" baseline="-25000"/>
                <a:t>1</a:t>
              </a:r>
            </a:p>
          </p:txBody>
        </p:sp>
        <p:sp>
          <p:nvSpPr>
            <p:cNvPr id="47116" name="Text Box 13">
              <a:extLst>
                <a:ext uri="{FF2B5EF4-FFF2-40B4-BE49-F238E27FC236}">
                  <a16:creationId xmlns:a16="http://schemas.microsoft.com/office/drawing/2014/main" id="{80335732-C2B6-2058-C239-EAF6864EC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3962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V</a:t>
              </a:r>
              <a:r>
                <a:rPr lang="en-US" altLang="en-US" sz="2400" baseline="-25000"/>
                <a:t>f</a:t>
              </a:r>
            </a:p>
          </p:txBody>
        </p:sp>
        <p:sp>
          <p:nvSpPr>
            <p:cNvPr id="47117" name="Text Box 14">
              <a:extLst>
                <a:ext uri="{FF2B5EF4-FFF2-40B4-BE49-F238E27FC236}">
                  <a16:creationId xmlns:a16="http://schemas.microsoft.com/office/drawing/2014/main" id="{867144C1-8A8F-AF64-EEAE-9796F9621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47244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</a:t>
              </a:r>
            </a:p>
          </p:txBody>
        </p:sp>
        <p:sp>
          <p:nvSpPr>
            <p:cNvPr id="47118" name="Text Box 15">
              <a:extLst>
                <a:ext uri="{FF2B5EF4-FFF2-40B4-BE49-F238E27FC236}">
                  <a16:creationId xmlns:a16="http://schemas.microsoft.com/office/drawing/2014/main" id="{D6178445-262E-A5D2-1205-5601CBCE1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48006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47119" name="Text Box 16">
              <a:extLst>
                <a:ext uri="{FF2B5EF4-FFF2-40B4-BE49-F238E27FC236}">
                  <a16:creationId xmlns:a16="http://schemas.microsoft.com/office/drawing/2014/main" id="{16E5CB92-DF13-BD0D-0925-F46FF5B01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7338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47120" name="Text Box 17">
              <a:extLst>
                <a:ext uri="{FF2B5EF4-FFF2-40B4-BE49-F238E27FC236}">
                  <a16:creationId xmlns:a16="http://schemas.microsoft.com/office/drawing/2014/main" id="{0903D685-0FD8-F43C-F309-D2D5E8F3D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38100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b</a:t>
              </a:r>
            </a:p>
          </p:txBody>
        </p:sp>
        <p:sp>
          <p:nvSpPr>
            <p:cNvPr id="47122" name="Line 19">
              <a:extLst>
                <a:ext uri="{FF2B5EF4-FFF2-40B4-BE49-F238E27FC236}">
                  <a16:creationId xmlns:a16="http://schemas.microsoft.com/office/drawing/2014/main" id="{83F221FC-61A2-F20B-3F84-3F6C5FD79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1600" y="4419600"/>
              <a:ext cx="12192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23" name="Line 20">
              <a:extLst>
                <a:ext uri="{FF2B5EF4-FFF2-40B4-BE49-F238E27FC236}">
                  <a16:creationId xmlns:a16="http://schemas.microsoft.com/office/drawing/2014/main" id="{D1CC0BE1-3064-2F8A-1F04-B2AE1CEBC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9000" y="4267200"/>
              <a:ext cx="13716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26" name="Rectangle 2">
            <a:extLst>
              <a:ext uri="{FF2B5EF4-FFF2-40B4-BE49-F238E27FC236}">
                <a16:creationId xmlns:a16="http://schemas.microsoft.com/office/drawing/2014/main" id="{CBAE678E-949D-2866-21E1-B0AD7B3DB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Theorem 1</a:t>
            </a:r>
            <a:r>
              <a:rPr lang="en-US" altLang="en-US" sz="2000" dirty="0">
                <a:solidFill>
                  <a:srgbClr val="FF0000"/>
                </a:solidFill>
              </a:rPr>
              <a:t>(4)</a:t>
            </a:r>
            <a:br>
              <a:rPr lang="en-US" altLang="en-US" sz="2000" dirty="0">
                <a:solidFill>
                  <a:srgbClr val="FF0000"/>
                </a:solidFill>
              </a:rPr>
            </a:br>
            <a:r>
              <a:rPr lang="en-US" altLang="en-US" sz="2000" dirty="0">
                <a:solidFill>
                  <a:srgbClr val="FF0000"/>
                </a:solidFill>
              </a:rPr>
              <a:t> G                      NDFA</a:t>
            </a:r>
          </a:p>
        </p:txBody>
      </p:sp>
      <p:cxnSp>
        <p:nvCxnSpPr>
          <p:cNvPr id="25" name="رابط كسهم مستقيم 24">
            <a:extLst>
              <a:ext uri="{FF2B5EF4-FFF2-40B4-BE49-F238E27FC236}">
                <a16:creationId xmlns:a16="http://schemas.microsoft.com/office/drawing/2014/main" id="{4A8CBA3B-8677-4EF5-A9CA-8D64C9458D93}"/>
              </a:ext>
            </a:extLst>
          </p:cNvPr>
          <p:cNvCxnSpPr/>
          <p:nvPr/>
        </p:nvCxnSpPr>
        <p:spPr bwMode="auto">
          <a:xfrm>
            <a:off x="2743200" y="1038726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>
            <a:extLst>
              <a:ext uri="{FF2B5EF4-FFF2-40B4-BE49-F238E27FC236}">
                <a16:creationId xmlns:a16="http://schemas.microsoft.com/office/drawing/2014/main" id="{F4D81D3E-DB8F-E6EB-F963-7D1E1120E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3532" y="2133600"/>
            <a:ext cx="11405936" cy="3922295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regular language can be generated by a right-linear grammar.</a:t>
            </a:r>
          </a:p>
          <a:p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  </a:t>
            </a:r>
          </a:p>
          <a:p>
            <a:pPr lvl="1" algn="just">
              <a:buFontTx/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Specify a procedure for automatically constructing a right-linear grammar from the DFA.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444ACC-EB68-42C1-9022-777DE60BE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(1)</a:t>
            </a:r>
            <a:b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</a:p>
        </p:txBody>
      </p:sp>
      <p:cxnSp>
        <p:nvCxnSpPr>
          <p:cNvPr id="8" name="رابط كسهم مستقيم 7">
            <a:extLst>
              <a:ext uri="{FF2B5EF4-FFF2-40B4-BE49-F238E27FC236}">
                <a16:creationId xmlns:a16="http://schemas.microsoft.com/office/drawing/2014/main" id="{51DD06E0-08FF-4D68-A0CE-90B7BC9DA4C2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F7FBBC26-EA8D-A427-5832-8B171E475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5641" y="1905000"/>
            <a:ext cx="11036969" cy="464819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regular language L, let M = (Q,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F) be a DFA that accepts L.  Let Q = {q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…,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grammar G = (V, T, S, P) with: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 = {q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…,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= {a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a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 = q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 = {} initially.  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the set of production rules, is constructed as follows: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A4D7A4D-209A-4A12-8A37-F50A7117F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(2)</a:t>
            </a:r>
            <a:b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</a:p>
        </p:txBody>
      </p:sp>
      <p:cxnSp>
        <p:nvCxnSpPr>
          <p:cNvPr id="8" name="رابط كسهم مستقيم 7">
            <a:extLst>
              <a:ext uri="{FF2B5EF4-FFF2-40B4-BE49-F238E27FC236}">
                <a16:creationId xmlns:a16="http://schemas.microsoft.com/office/drawing/2014/main" id="{3B6B53E2-A65A-4159-9959-2D606EB87DD6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92FB866F-B340-618E-8863-5527DA75D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799" y="2021304"/>
            <a:ext cx="9625263" cy="453189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transition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l-G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the transition table of M, add to P the production: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 F, then add to P the production: 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4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l-GR" altLang="en-US" sz="4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F9B2F6F-EF93-48D9-A162-686B8802B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(3)</a:t>
            </a:r>
            <a:br>
              <a:rPr lang="en-U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  <a:endParaRPr lang="en-US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8" name="رابط كسهم مستقيم 7">
            <a:extLst>
              <a:ext uri="{FF2B5EF4-FFF2-40B4-BE49-F238E27FC236}">
                <a16:creationId xmlns:a16="http://schemas.microsoft.com/office/drawing/2014/main" id="{E236C60D-2B38-46A2-9762-3E3248D663DD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1F442F46-11ED-4A09-A83C-EFB8198B2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7726" y="2133600"/>
            <a:ext cx="11213432" cy="44196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Construct a right-linear grammar for the language L = L(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build an NDFA for L:</a:t>
            </a:r>
          </a:p>
          <a:p>
            <a:pPr>
              <a:spcBef>
                <a:spcPct val="0"/>
              </a:spcBef>
              <a:buFontTx/>
              <a:buNone/>
            </a:pPr>
            <a:endParaRPr lang="el-GR" altLang="en-US" sz="4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03" name="Oval 4">
            <a:extLst>
              <a:ext uri="{FF2B5EF4-FFF2-40B4-BE49-F238E27FC236}">
                <a16:creationId xmlns:a16="http://schemas.microsoft.com/office/drawing/2014/main" id="{E00C420D-F883-BD7E-4C30-6D46CBC12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86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000"/>
          </a:p>
        </p:txBody>
      </p:sp>
      <p:sp>
        <p:nvSpPr>
          <p:cNvPr id="51204" name="Oval 5">
            <a:extLst>
              <a:ext uri="{FF2B5EF4-FFF2-40B4-BE49-F238E27FC236}">
                <a16:creationId xmlns:a16="http://schemas.microsoft.com/office/drawing/2014/main" id="{E9E02D54-B51B-F171-E189-E7D02EBFD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886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000"/>
          </a:p>
        </p:txBody>
      </p:sp>
      <p:sp>
        <p:nvSpPr>
          <p:cNvPr id="51205" name="Oval 6">
            <a:extLst>
              <a:ext uri="{FF2B5EF4-FFF2-40B4-BE49-F238E27FC236}">
                <a16:creationId xmlns:a16="http://schemas.microsoft.com/office/drawing/2014/main" id="{5C772FB2-B202-94AA-10AA-0AD35A135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886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000"/>
          </a:p>
        </p:txBody>
      </p:sp>
      <p:sp>
        <p:nvSpPr>
          <p:cNvPr id="51206" name="Oval 7">
            <a:extLst>
              <a:ext uri="{FF2B5EF4-FFF2-40B4-BE49-F238E27FC236}">
                <a16:creationId xmlns:a16="http://schemas.microsoft.com/office/drawing/2014/main" id="{698D4AE2-306C-A2ED-F77E-752E4E58B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886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000"/>
          </a:p>
        </p:txBody>
      </p:sp>
      <p:sp>
        <p:nvSpPr>
          <p:cNvPr id="51207" name="Text Box 8">
            <a:extLst>
              <a:ext uri="{FF2B5EF4-FFF2-40B4-BE49-F238E27FC236}">
                <a16:creationId xmlns:a16="http://schemas.microsoft.com/office/drawing/2014/main" id="{CC06088A-D021-CB76-6522-4F098326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962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q</a:t>
            </a:r>
            <a:r>
              <a:rPr lang="en-US" altLang="en-US" sz="2400" baseline="-25000"/>
              <a:t>0</a:t>
            </a:r>
          </a:p>
        </p:txBody>
      </p:sp>
      <p:sp>
        <p:nvSpPr>
          <p:cNvPr id="51208" name="Line 9">
            <a:extLst>
              <a:ext uri="{FF2B5EF4-FFF2-40B4-BE49-F238E27FC236}">
                <a16:creationId xmlns:a16="http://schemas.microsoft.com/office/drawing/2014/main" id="{EABF49CE-961E-B612-46C9-97C2BBA45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19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Line 10">
            <a:extLst>
              <a:ext uri="{FF2B5EF4-FFF2-40B4-BE49-F238E27FC236}">
                <a16:creationId xmlns:a16="http://schemas.microsoft.com/office/drawing/2014/main" id="{A84362E4-39A9-3A9D-381C-F73B5098F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Text Box 11">
            <a:extLst>
              <a:ext uri="{FF2B5EF4-FFF2-40B4-BE49-F238E27FC236}">
                <a16:creationId xmlns:a16="http://schemas.microsoft.com/office/drawing/2014/main" id="{2F4013DF-E04D-349F-E903-EFDEE5ABB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962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q</a:t>
            </a:r>
            <a:r>
              <a:rPr lang="en-US" altLang="en-US" sz="2400" baseline="-25000"/>
              <a:t>1</a:t>
            </a:r>
          </a:p>
        </p:txBody>
      </p:sp>
      <p:sp>
        <p:nvSpPr>
          <p:cNvPr id="51211" name="Text Box 12">
            <a:extLst>
              <a:ext uri="{FF2B5EF4-FFF2-40B4-BE49-F238E27FC236}">
                <a16:creationId xmlns:a16="http://schemas.microsoft.com/office/drawing/2014/main" id="{569D382C-069E-8E16-E385-35F2BA913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10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51212" name="Line 13">
            <a:extLst>
              <a:ext uri="{FF2B5EF4-FFF2-40B4-BE49-F238E27FC236}">
                <a16:creationId xmlns:a16="http://schemas.microsoft.com/office/drawing/2014/main" id="{3F2FC3E4-C9AC-D931-B9F7-492A443FB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Text Box 14">
            <a:extLst>
              <a:ext uri="{FF2B5EF4-FFF2-40B4-BE49-F238E27FC236}">
                <a16:creationId xmlns:a16="http://schemas.microsoft.com/office/drawing/2014/main" id="{7E1A3544-0186-DFDE-C085-BCFF9A820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962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q</a:t>
            </a:r>
            <a:r>
              <a:rPr lang="en-US" altLang="en-US" sz="2400" baseline="-25000"/>
              <a:t>2</a:t>
            </a:r>
          </a:p>
        </p:txBody>
      </p:sp>
      <p:sp>
        <p:nvSpPr>
          <p:cNvPr id="51214" name="Rectangle 15">
            <a:extLst>
              <a:ext uri="{FF2B5EF4-FFF2-40B4-BE49-F238E27FC236}">
                <a16:creationId xmlns:a16="http://schemas.microsoft.com/office/drawing/2014/main" id="{B4D42B8D-9B7B-96F8-B6DE-6E0491080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8100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51215" name="Freeform 16">
            <a:extLst>
              <a:ext uri="{FF2B5EF4-FFF2-40B4-BE49-F238E27FC236}">
                <a16:creationId xmlns:a16="http://schemas.microsoft.com/office/drawing/2014/main" id="{48D2FC0C-4CD5-C295-5645-929339BE4C6B}"/>
              </a:ext>
            </a:extLst>
          </p:cNvPr>
          <p:cNvSpPr>
            <a:spLocks/>
          </p:cNvSpPr>
          <p:nvPr/>
        </p:nvSpPr>
        <p:spPr bwMode="auto">
          <a:xfrm>
            <a:off x="6108700" y="4419600"/>
            <a:ext cx="1231900" cy="850900"/>
          </a:xfrm>
          <a:custGeom>
            <a:avLst/>
            <a:gdLst>
              <a:gd name="T0" fmla="*/ 2147483646 w 776"/>
              <a:gd name="T1" fmla="*/ 0 h 536"/>
              <a:gd name="T2" fmla="*/ 2147483646 w 776"/>
              <a:gd name="T3" fmla="*/ 2147483646 h 536"/>
              <a:gd name="T4" fmla="*/ 2147483646 w 776"/>
              <a:gd name="T5" fmla="*/ 2147483646 h 536"/>
              <a:gd name="T6" fmla="*/ 2147483646 w 776"/>
              <a:gd name="T7" fmla="*/ 2147483646 h 536"/>
              <a:gd name="T8" fmla="*/ 2147483646 w 776"/>
              <a:gd name="T9" fmla="*/ 0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6"/>
              <a:gd name="T16" fmla="*/ 0 h 536"/>
              <a:gd name="T17" fmla="*/ 776 w 77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6" h="536">
                <a:moveTo>
                  <a:pt x="232" y="0"/>
                </a:moveTo>
                <a:cubicBezTo>
                  <a:pt x="116" y="124"/>
                  <a:pt x="0" y="248"/>
                  <a:pt x="40" y="336"/>
                </a:cubicBezTo>
                <a:cubicBezTo>
                  <a:pt x="80" y="424"/>
                  <a:pt x="352" y="536"/>
                  <a:pt x="472" y="528"/>
                </a:cubicBezTo>
                <a:cubicBezTo>
                  <a:pt x="592" y="520"/>
                  <a:pt x="744" y="376"/>
                  <a:pt x="760" y="288"/>
                </a:cubicBezTo>
                <a:cubicBezTo>
                  <a:pt x="776" y="200"/>
                  <a:pt x="672" y="100"/>
                  <a:pt x="56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17">
            <a:extLst>
              <a:ext uri="{FF2B5EF4-FFF2-40B4-BE49-F238E27FC236}">
                <a16:creationId xmlns:a16="http://schemas.microsoft.com/office/drawing/2014/main" id="{7CBE69F1-0D34-BA86-6D10-E5A5A151AD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0400" y="4419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Text Box 18">
            <a:extLst>
              <a:ext uri="{FF2B5EF4-FFF2-40B4-BE49-F238E27FC236}">
                <a16:creationId xmlns:a16="http://schemas.microsoft.com/office/drawing/2014/main" id="{2BB647F1-D1C1-05D8-AFB8-874D54C90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105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51218" name="Line 19">
            <a:extLst>
              <a:ext uri="{FF2B5EF4-FFF2-40B4-BE49-F238E27FC236}">
                <a16:creationId xmlns:a16="http://schemas.microsoft.com/office/drawing/2014/main" id="{5FC41613-2B8E-E6CC-BAA9-95DEA9EE9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Rectangle 20">
            <a:extLst>
              <a:ext uri="{FF2B5EF4-FFF2-40B4-BE49-F238E27FC236}">
                <a16:creationId xmlns:a16="http://schemas.microsoft.com/office/drawing/2014/main" id="{60AF7A1F-638B-0B82-B538-837374844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100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51220" name="Oval 21">
            <a:extLst>
              <a:ext uri="{FF2B5EF4-FFF2-40B4-BE49-F238E27FC236}">
                <a16:creationId xmlns:a16="http://schemas.microsoft.com/office/drawing/2014/main" id="{3D5316B2-854C-A3DD-367B-424FDA6E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810000"/>
            <a:ext cx="8382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000"/>
          </a:p>
        </p:txBody>
      </p:sp>
      <p:sp>
        <p:nvSpPr>
          <p:cNvPr id="51221" name="Text Box 22">
            <a:extLst>
              <a:ext uri="{FF2B5EF4-FFF2-40B4-BE49-F238E27FC236}">
                <a16:creationId xmlns:a16="http://schemas.microsoft.com/office/drawing/2014/main" id="{B8FA89B2-8E9F-4307-1D24-B34421681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962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q</a:t>
            </a:r>
            <a:r>
              <a:rPr lang="en-US" altLang="en-US" sz="2400" baseline="-25000"/>
              <a:t>f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523C1206-70AB-46C6-8F4A-BAFABAECE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(4)</a:t>
            </a:r>
            <a:b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</a:p>
        </p:txBody>
      </p:sp>
      <p:cxnSp>
        <p:nvCxnSpPr>
          <p:cNvPr id="27" name="رابط كسهم مستقيم 26">
            <a:extLst>
              <a:ext uri="{FF2B5EF4-FFF2-40B4-BE49-F238E27FC236}">
                <a16:creationId xmlns:a16="http://schemas.microsoft.com/office/drawing/2014/main" id="{CFFE5516-DF64-4DAA-B6AF-0BA411C69F27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1AFD6F7B-3288-0C2B-D731-FBD8B29BD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610600" cy="5181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FontTx/>
              <a:buNone/>
            </a:pPr>
            <a:endParaRPr lang="el-GR" altLang="en-US" sz="40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2241" name="Text Box 18">
            <a:extLst>
              <a:ext uri="{FF2B5EF4-FFF2-40B4-BE49-F238E27FC236}">
                <a16:creationId xmlns:a16="http://schemas.microsoft.com/office/drawing/2014/main" id="{A34EF36C-6D88-CD61-0069-3B273F84D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7432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/>
              <a:t>b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ABFB7752-09E8-31D7-BFD3-BACC68922537}"/>
              </a:ext>
            </a:extLst>
          </p:cNvPr>
          <p:cNvGrpSpPr/>
          <p:nvPr/>
        </p:nvGrpSpPr>
        <p:grpSpPr>
          <a:xfrm>
            <a:off x="2438400" y="2036679"/>
            <a:ext cx="7010400" cy="1460500"/>
            <a:chOff x="2057400" y="1447800"/>
            <a:chExt cx="7010400" cy="1460500"/>
          </a:xfrm>
        </p:grpSpPr>
        <p:sp>
          <p:nvSpPr>
            <p:cNvPr id="52227" name="Oval 4">
              <a:extLst>
                <a:ext uri="{FF2B5EF4-FFF2-40B4-BE49-F238E27FC236}">
                  <a16:creationId xmlns:a16="http://schemas.microsoft.com/office/drawing/2014/main" id="{7A7A18DB-B1F3-926B-23B7-2C80691FA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1524000"/>
              <a:ext cx="685800" cy="6858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52228" name="Oval 5">
              <a:extLst>
                <a:ext uri="{FF2B5EF4-FFF2-40B4-BE49-F238E27FC236}">
                  <a16:creationId xmlns:a16="http://schemas.microsoft.com/office/drawing/2014/main" id="{4B15D179-72D6-CA96-6EB6-DF2420C30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1524000"/>
              <a:ext cx="685800" cy="6858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52229" name="Oval 6">
              <a:extLst>
                <a:ext uri="{FF2B5EF4-FFF2-40B4-BE49-F238E27FC236}">
                  <a16:creationId xmlns:a16="http://schemas.microsoft.com/office/drawing/2014/main" id="{CBCCD94F-4060-B064-23F9-7F17BD8C3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1524000"/>
              <a:ext cx="685800" cy="6858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52230" name="Oval 7">
              <a:extLst>
                <a:ext uri="{FF2B5EF4-FFF2-40B4-BE49-F238E27FC236}">
                  <a16:creationId xmlns:a16="http://schemas.microsoft.com/office/drawing/2014/main" id="{EF479455-5A93-69C6-D794-70AAAC1B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400" y="1524000"/>
              <a:ext cx="685800" cy="6858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52231" name="Text Box 8">
              <a:extLst>
                <a:ext uri="{FF2B5EF4-FFF2-40B4-BE49-F238E27FC236}">
                  <a16:creationId xmlns:a16="http://schemas.microsoft.com/office/drawing/2014/main" id="{85272F16-424B-CA43-0111-6BC7C6BBE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1600200"/>
              <a:ext cx="914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q</a:t>
              </a:r>
              <a:r>
                <a:rPr lang="en-US" altLang="en-US" sz="2400" baseline="-25000"/>
                <a:t>0</a:t>
              </a:r>
            </a:p>
          </p:txBody>
        </p:sp>
        <p:sp>
          <p:nvSpPr>
            <p:cNvPr id="52232" name="Line 9">
              <a:extLst>
                <a:ext uri="{FF2B5EF4-FFF2-40B4-BE49-F238E27FC236}">
                  <a16:creationId xmlns:a16="http://schemas.microsoft.com/office/drawing/2014/main" id="{4384D521-9677-0A38-D820-657302E59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18288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3" name="Line 10">
              <a:extLst>
                <a:ext uri="{FF2B5EF4-FFF2-40B4-BE49-F238E27FC236}">
                  <a16:creationId xmlns:a16="http://schemas.microsoft.com/office/drawing/2014/main" id="{09496686-C3A4-C29C-C8A3-D69A9C64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18288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4" name="Text Box 11">
              <a:extLst>
                <a:ext uri="{FF2B5EF4-FFF2-40B4-BE49-F238E27FC236}">
                  <a16:creationId xmlns:a16="http://schemas.microsoft.com/office/drawing/2014/main" id="{80CF2405-A7B7-0078-1E32-B0582460A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1600200"/>
              <a:ext cx="1066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q</a:t>
              </a:r>
              <a:r>
                <a:rPr lang="en-US" altLang="en-US" sz="2400" baseline="-25000"/>
                <a:t>1</a:t>
              </a:r>
            </a:p>
          </p:txBody>
        </p:sp>
        <p:sp>
          <p:nvSpPr>
            <p:cNvPr id="52235" name="Text Box 12">
              <a:extLst>
                <a:ext uri="{FF2B5EF4-FFF2-40B4-BE49-F238E27FC236}">
                  <a16:creationId xmlns:a16="http://schemas.microsoft.com/office/drawing/2014/main" id="{B411D2E7-B79D-BA75-047E-102061F1F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144780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52236" name="Line 13">
              <a:extLst>
                <a:ext uri="{FF2B5EF4-FFF2-40B4-BE49-F238E27FC236}">
                  <a16:creationId xmlns:a16="http://schemas.microsoft.com/office/drawing/2014/main" id="{46315DD9-76AC-2BEC-2AA1-3B994F9B7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18288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7" name="Text Box 14">
              <a:extLst>
                <a:ext uri="{FF2B5EF4-FFF2-40B4-BE49-F238E27FC236}">
                  <a16:creationId xmlns:a16="http://schemas.microsoft.com/office/drawing/2014/main" id="{58E9E4C8-5226-41A5-0F02-D51492500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160020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q</a:t>
              </a:r>
              <a:r>
                <a:rPr lang="en-US" altLang="en-US" sz="2400" baseline="-25000"/>
                <a:t>2</a:t>
              </a:r>
            </a:p>
          </p:txBody>
        </p:sp>
        <p:sp>
          <p:nvSpPr>
            <p:cNvPr id="52238" name="Rectangle 15">
              <a:extLst>
                <a:ext uri="{FF2B5EF4-FFF2-40B4-BE49-F238E27FC236}">
                  <a16:creationId xmlns:a16="http://schemas.microsoft.com/office/drawing/2014/main" id="{0085307B-A2A9-92E1-30FC-E31BB851A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14478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52239" name="Freeform 16">
              <a:extLst>
                <a:ext uri="{FF2B5EF4-FFF2-40B4-BE49-F238E27FC236}">
                  <a16:creationId xmlns:a16="http://schemas.microsoft.com/office/drawing/2014/main" id="{B1D8BE37-2549-D9CE-0FEF-726C883CF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300" y="2057400"/>
              <a:ext cx="1231900" cy="850900"/>
            </a:xfrm>
            <a:custGeom>
              <a:avLst/>
              <a:gdLst>
                <a:gd name="T0" fmla="*/ 2147483646 w 776"/>
                <a:gd name="T1" fmla="*/ 0 h 536"/>
                <a:gd name="T2" fmla="*/ 2147483646 w 776"/>
                <a:gd name="T3" fmla="*/ 2147483646 h 536"/>
                <a:gd name="T4" fmla="*/ 2147483646 w 776"/>
                <a:gd name="T5" fmla="*/ 2147483646 h 536"/>
                <a:gd name="T6" fmla="*/ 2147483646 w 776"/>
                <a:gd name="T7" fmla="*/ 2147483646 h 536"/>
                <a:gd name="T8" fmla="*/ 2147483646 w 776"/>
                <a:gd name="T9" fmla="*/ 0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6"/>
                <a:gd name="T16" fmla="*/ 0 h 536"/>
                <a:gd name="T17" fmla="*/ 776 w 776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6" h="536">
                  <a:moveTo>
                    <a:pt x="232" y="0"/>
                  </a:moveTo>
                  <a:cubicBezTo>
                    <a:pt x="116" y="124"/>
                    <a:pt x="0" y="248"/>
                    <a:pt x="40" y="336"/>
                  </a:cubicBezTo>
                  <a:cubicBezTo>
                    <a:pt x="80" y="424"/>
                    <a:pt x="352" y="536"/>
                    <a:pt x="472" y="528"/>
                  </a:cubicBezTo>
                  <a:cubicBezTo>
                    <a:pt x="592" y="520"/>
                    <a:pt x="744" y="376"/>
                    <a:pt x="760" y="288"/>
                  </a:cubicBezTo>
                  <a:cubicBezTo>
                    <a:pt x="776" y="200"/>
                    <a:pt x="672" y="100"/>
                    <a:pt x="568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0" name="Line 17">
              <a:extLst>
                <a:ext uri="{FF2B5EF4-FFF2-40B4-BE49-F238E27FC236}">
                  <a16:creationId xmlns:a16="http://schemas.microsoft.com/office/drawing/2014/main" id="{89F64800-E88E-057C-98B8-6FA0D3A68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8000" y="2057400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2" name="Line 19">
              <a:extLst>
                <a:ext uri="{FF2B5EF4-FFF2-40B4-BE49-F238E27FC236}">
                  <a16:creationId xmlns:a16="http://schemas.microsoft.com/office/drawing/2014/main" id="{56AD9C6C-EBFF-B719-8793-A9E8BCDE8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1828800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3" name="Rectangle 20">
              <a:extLst>
                <a:ext uri="{FF2B5EF4-FFF2-40B4-BE49-F238E27FC236}">
                  <a16:creationId xmlns:a16="http://schemas.microsoft.com/office/drawing/2014/main" id="{C873FC51-F49C-0CF8-0C0C-D73508BAA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4478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52244" name="Oval 21">
              <a:extLst>
                <a:ext uri="{FF2B5EF4-FFF2-40B4-BE49-F238E27FC236}">
                  <a16:creationId xmlns:a16="http://schemas.microsoft.com/office/drawing/2014/main" id="{78257547-7E0F-3618-50C1-771BFF210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1447800"/>
              <a:ext cx="838200" cy="8382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52245" name="Text Box 22">
              <a:extLst>
                <a:ext uri="{FF2B5EF4-FFF2-40B4-BE49-F238E27FC236}">
                  <a16:creationId xmlns:a16="http://schemas.microsoft.com/office/drawing/2014/main" id="{E98903E9-2C0A-1FB8-1B41-A960DF3E0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1600200"/>
              <a:ext cx="1066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q</a:t>
              </a:r>
              <a:r>
                <a:rPr lang="en-US" altLang="en-US" sz="2400" baseline="-25000"/>
                <a:t>f</a:t>
              </a:r>
            </a:p>
          </p:txBody>
        </p:sp>
      </p:grpSp>
      <p:sp>
        <p:nvSpPr>
          <p:cNvPr id="52246" name="Text Box 23">
            <a:extLst>
              <a:ext uri="{FF2B5EF4-FFF2-40B4-BE49-F238E27FC236}">
                <a16:creationId xmlns:a16="http://schemas.microsoft.com/office/drawing/2014/main" id="{FB5D56CA-78D9-DB3E-5433-0C32FA72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429001"/>
            <a:ext cx="83820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P = {} initially.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Add to P a rule for each transition in the NDFA: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	q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 aq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aseline="-250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q</a:t>
            </a:r>
            <a:r>
              <a:rPr lang="en-US" altLang="en-US" sz="2400" baseline="-25000" dirty="0">
                <a:sym typeface="Symbol" panose="05050102010706020507" pitchFamily="18" charset="2"/>
              </a:rPr>
              <a:t>1 </a:t>
            </a:r>
            <a:r>
              <a:rPr lang="en-US" altLang="en-US" sz="2400" dirty="0">
                <a:sym typeface="Symbol" panose="05050102010706020507" pitchFamily="18" charset="2"/>
              </a:rPr>
              <a:t> aq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 bq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aseline="-250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 </a:t>
            </a:r>
            <a:r>
              <a:rPr lang="en-US" altLang="en-US" sz="2400" dirty="0" err="1">
                <a:sym typeface="Symbol" panose="05050102010706020507" pitchFamily="18" charset="2"/>
              </a:rPr>
              <a:t>aq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f</a:t>
            </a:r>
            <a:r>
              <a:rPr lang="en-US" altLang="en-US" sz="2400" baseline="-25000" dirty="0">
                <a:sym typeface="Symbol" panose="05050102010706020507" pitchFamily="18" charset="2"/>
              </a:rPr>
              <a:t>  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Since </a:t>
            </a:r>
            <a:r>
              <a:rPr lang="en-US" altLang="en-US" sz="2400" dirty="0" err="1">
                <a:sym typeface="Symbol" panose="05050102010706020507" pitchFamily="18" charset="2"/>
              </a:rPr>
              <a:t>q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 is in F, add to P the production: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dirty="0" err="1">
                <a:sym typeface="Symbol" panose="05050102010706020507" pitchFamily="18" charset="2"/>
              </a:rPr>
              <a:t>q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  </a:t>
            </a:r>
            <a:r>
              <a:rPr lang="el-GR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endParaRPr lang="en-US" altLang="en-US" sz="2400" dirty="0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991458A3-8E4E-435D-8438-7C760F8A8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(5)</a:t>
            </a:r>
            <a:br>
              <a:rPr lang="en-US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  <a:endParaRPr lang="en-US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8" name="رابط كسهم مستقيم 27">
            <a:extLst>
              <a:ext uri="{FF2B5EF4-FFF2-40B4-BE49-F238E27FC236}">
                <a16:creationId xmlns:a16="http://schemas.microsoft.com/office/drawing/2014/main" id="{7BEF7C7D-4A5F-4798-87DC-81E9F178B4B1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5DEFD237-E91D-3440-34EE-F8B0643B1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610600" cy="5181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FontTx/>
              <a:buNone/>
            </a:pPr>
            <a:endParaRPr lang="el-GR" altLang="en-US" sz="40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CF449C0C-104D-CF88-3211-0D2FD22C072C}"/>
              </a:ext>
            </a:extLst>
          </p:cNvPr>
          <p:cNvGrpSpPr/>
          <p:nvPr/>
        </p:nvGrpSpPr>
        <p:grpSpPr>
          <a:xfrm>
            <a:off x="2029326" y="1943101"/>
            <a:ext cx="6939742" cy="1752600"/>
            <a:chOff x="2029326" y="1943101"/>
            <a:chExt cx="6939742" cy="1752600"/>
          </a:xfrm>
        </p:grpSpPr>
        <p:grpSp>
          <p:nvGrpSpPr>
            <p:cNvPr id="3" name="مجموعة 2">
              <a:extLst>
                <a:ext uri="{FF2B5EF4-FFF2-40B4-BE49-F238E27FC236}">
                  <a16:creationId xmlns:a16="http://schemas.microsoft.com/office/drawing/2014/main" id="{62FD5973-D8B4-2F0B-4FD2-A8EDF01A4984}"/>
                </a:ext>
              </a:extLst>
            </p:cNvPr>
            <p:cNvGrpSpPr/>
            <p:nvPr/>
          </p:nvGrpSpPr>
          <p:grpSpPr>
            <a:xfrm>
              <a:off x="2029326" y="1943101"/>
              <a:ext cx="6858000" cy="1752600"/>
              <a:chOff x="2057400" y="1447800"/>
              <a:chExt cx="6858000" cy="1752600"/>
            </a:xfrm>
          </p:grpSpPr>
          <p:grpSp>
            <p:nvGrpSpPr>
              <p:cNvPr id="2" name="مجموعة 1">
                <a:extLst>
                  <a:ext uri="{FF2B5EF4-FFF2-40B4-BE49-F238E27FC236}">
                    <a16:creationId xmlns:a16="http://schemas.microsoft.com/office/drawing/2014/main" id="{26963F0D-6DC7-12D4-E4E0-5164FB17910E}"/>
                  </a:ext>
                </a:extLst>
              </p:cNvPr>
              <p:cNvGrpSpPr/>
              <p:nvPr/>
            </p:nvGrpSpPr>
            <p:grpSpPr>
              <a:xfrm>
                <a:off x="2057400" y="1447800"/>
                <a:ext cx="6781800" cy="1752600"/>
                <a:chOff x="2057400" y="1447800"/>
                <a:chExt cx="6781800" cy="1752600"/>
              </a:xfrm>
            </p:grpSpPr>
            <p:sp>
              <p:nvSpPr>
                <p:cNvPr id="53251" name="Oval 4">
                  <a:extLst>
                    <a:ext uri="{FF2B5EF4-FFF2-40B4-BE49-F238E27FC236}">
                      <a16:creationId xmlns:a16="http://schemas.microsoft.com/office/drawing/2014/main" id="{93CE2BA5-E180-1B37-40CD-85123E687D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0800" y="1524000"/>
                  <a:ext cx="685800" cy="685800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ar-SA" altLang="en-US" sz="2000"/>
                </a:p>
              </p:txBody>
            </p:sp>
            <p:sp>
              <p:nvSpPr>
                <p:cNvPr id="53252" name="Oval 5">
                  <a:extLst>
                    <a:ext uri="{FF2B5EF4-FFF2-40B4-BE49-F238E27FC236}">
                      <a16:creationId xmlns:a16="http://schemas.microsoft.com/office/drawing/2014/main" id="{D141FFC5-2960-0041-C294-61C44C4D81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9600" y="1524000"/>
                  <a:ext cx="685800" cy="685800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ar-SA" altLang="en-US" sz="2000"/>
                </a:p>
              </p:txBody>
            </p:sp>
            <p:sp>
              <p:nvSpPr>
                <p:cNvPr id="53253" name="Oval 6">
                  <a:extLst>
                    <a:ext uri="{FF2B5EF4-FFF2-40B4-BE49-F238E27FC236}">
                      <a16:creationId xmlns:a16="http://schemas.microsoft.com/office/drawing/2014/main" id="{E9DCE798-1711-7DF7-9B6B-79F82E4845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8400" y="1524000"/>
                  <a:ext cx="685800" cy="685800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ar-SA" altLang="en-US" sz="2000"/>
                </a:p>
              </p:txBody>
            </p:sp>
            <p:sp>
              <p:nvSpPr>
                <p:cNvPr id="53254" name="Oval 7">
                  <a:extLst>
                    <a:ext uri="{FF2B5EF4-FFF2-40B4-BE49-F238E27FC236}">
                      <a16:creationId xmlns:a16="http://schemas.microsoft.com/office/drawing/2014/main" id="{15350644-DBF9-6D8F-7237-940F81CA31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53400" y="1524000"/>
                  <a:ext cx="685800" cy="685800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ar-SA" altLang="en-US" sz="2000"/>
                </a:p>
              </p:txBody>
            </p:sp>
            <p:sp>
              <p:nvSpPr>
                <p:cNvPr id="53255" name="Text Box 8">
                  <a:extLst>
                    <a:ext uri="{FF2B5EF4-FFF2-40B4-BE49-F238E27FC236}">
                      <a16:creationId xmlns:a16="http://schemas.microsoft.com/office/drawing/2014/main" id="{B338CC88-65D4-8906-0FB2-1834ED95A3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14600" y="1600200"/>
                  <a:ext cx="914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400"/>
                    <a:t>q</a:t>
                  </a:r>
                  <a:r>
                    <a:rPr lang="en-US" altLang="en-US" sz="2400" baseline="-25000"/>
                    <a:t>0</a:t>
                  </a:r>
                </a:p>
              </p:txBody>
            </p:sp>
            <p:sp>
              <p:nvSpPr>
                <p:cNvPr id="53256" name="Line 9">
                  <a:extLst>
                    <a:ext uri="{FF2B5EF4-FFF2-40B4-BE49-F238E27FC236}">
                      <a16:creationId xmlns:a16="http://schemas.microsoft.com/office/drawing/2014/main" id="{EB9264E4-8B2D-2723-E895-38ED784292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7400" y="1828800"/>
                  <a:ext cx="533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57" name="Line 10">
                  <a:extLst>
                    <a:ext uri="{FF2B5EF4-FFF2-40B4-BE49-F238E27FC236}">
                      <a16:creationId xmlns:a16="http://schemas.microsoft.com/office/drawing/2014/main" id="{48F8C28C-8251-E074-ADBC-4535FF093F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600" y="1828800"/>
                  <a:ext cx="11430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58" name="Text Box 11">
                  <a:extLst>
                    <a:ext uri="{FF2B5EF4-FFF2-40B4-BE49-F238E27FC236}">
                      <a16:creationId xmlns:a16="http://schemas.microsoft.com/office/drawing/2014/main" id="{E19DA654-A346-3ED4-29C3-E43746C748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67200" y="1600200"/>
                  <a:ext cx="10668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400"/>
                    <a:t>q</a:t>
                  </a:r>
                  <a:r>
                    <a:rPr lang="en-US" altLang="en-US" sz="2400" baseline="-25000"/>
                    <a:t>1</a:t>
                  </a:r>
                </a:p>
              </p:txBody>
            </p:sp>
            <p:sp>
              <p:nvSpPr>
                <p:cNvPr id="53259" name="Text Box 12">
                  <a:extLst>
                    <a:ext uri="{FF2B5EF4-FFF2-40B4-BE49-F238E27FC236}">
                      <a16:creationId xmlns:a16="http://schemas.microsoft.com/office/drawing/2014/main" id="{6C7E2487-C7A6-60AD-58D8-03421CB857F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00400" y="1447800"/>
                  <a:ext cx="11430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400"/>
                    <a:t>a</a:t>
                  </a:r>
                </a:p>
              </p:txBody>
            </p:sp>
            <p:sp>
              <p:nvSpPr>
                <p:cNvPr id="53260" name="Line 13">
                  <a:extLst>
                    <a:ext uri="{FF2B5EF4-FFF2-40B4-BE49-F238E27FC236}">
                      <a16:creationId xmlns:a16="http://schemas.microsoft.com/office/drawing/2014/main" id="{5BCE0CEA-A448-0A18-981B-4FA4A0D6CF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05400" y="1828800"/>
                  <a:ext cx="11430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61" name="Text Box 14">
                  <a:extLst>
                    <a:ext uri="{FF2B5EF4-FFF2-40B4-BE49-F238E27FC236}">
                      <a16:creationId xmlns:a16="http://schemas.microsoft.com/office/drawing/2014/main" id="{2BC3B7B0-768D-05CF-604F-76CDE299A4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19800" y="1600200"/>
                  <a:ext cx="11430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400"/>
                    <a:t>q</a:t>
                  </a:r>
                  <a:r>
                    <a:rPr lang="en-US" altLang="en-US" sz="2400" baseline="-25000"/>
                    <a:t>2</a:t>
                  </a:r>
                </a:p>
              </p:txBody>
            </p:sp>
            <p:sp>
              <p:nvSpPr>
                <p:cNvPr id="53262" name="Rectangle 15">
                  <a:extLst>
                    <a:ext uri="{FF2B5EF4-FFF2-40B4-BE49-F238E27FC236}">
                      <a16:creationId xmlns:a16="http://schemas.microsoft.com/office/drawing/2014/main" id="{6F23C3AD-4C43-319B-E4F8-BA17A2CE7A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00" y="1447800"/>
                  <a:ext cx="319088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/>
                    <a:t>a</a:t>
                  </a:r>
                </a:p>
              </p:txBody>
            </p:sp>
            <p:sp>
              <p:nvSpPr>
                <p:cNvPr id="53263" name="Freeform 16">
                  <a:extLst>
                    <a:ext uri="{FF2B5EF4-FFF2-40B4-BE49-F238E27FC236}">
                      <a16:creationId xmlns:a16="http://schemas.microsoft.com/office/drawing/2014/main" id="{4FB7F2BD-2FC0-BFBC-5918-1743901A4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56300" y="2057400"/>
                  <a:ext cx="1231900" cy="850900"/>
                </a:xfrm>
                <a:custGeom>
                  <a:avLst/>
                  <a:gdLst>
                    <a:gd name="T0" fmla="*/ 2147483646 w 776"/>
                    <a:gd name="T1" fmla="*/ 0 h 536"/>
                    <a:gd name="T2" fmla="*/ 2147483646 w 776"/>
                    <a:gd name="T3" fmla="*/ 2147483646 h 536"/>
                    <a:gd name="T4" fmla="*/ 2147483646 w 776"/>
                    <a:gd name="T5" fmla="*/ 2147483646 h 536"/>
                    <a:gd name="T6" fmla="*/ 2147483646 w 776"/>
                    <a:gd name="T7" fmla="*/ 2147483646 h 536"/>
                    <a:gd name="T8" fmla="*/ 2147483646 w 776"/>
                    <a:gd name="T9" fmla="*/ 0 h 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76"/>
                    <a:gd name="T16" fmla="*/ 0 h 536"/>
                    <a:gd name="T17" fmla="*/ 776 w 776"/>
                    <a:gd name="T18" fmla="*/ 536 h 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76" h="536">
                      <a:moveTo>
                        <a:pt x="232" y="0"/>
                      </a:moveTo>
                      <a:cubicBezTo>
                        <a:pt x="116" y="124"/>
                        <a:pt x="0" y="248"/>
                        <a:pt x="40" y="336"/>
                      </a:cubicBezTo>
                      <a:cubicBezTo>
                        <a:pt x="80" y="424"/>
                        <a:pt x="352" y="536"/>
                        <a:pt x="472" y="528"/>
                      </a:cubicBezTo>
                      <a:cubicBezTo>
                        <a:pt x="592" y="520"/>
                        <a:pt x="744" y="376"/>
                        <a:pt x="760" y="288"/>
                      </a:cubicBezTo>
                      <a:cubicBezTo>
                        <a:pt x="776" y="200"/>
                        <a:pt x="672" y="100"/>
                        <a:pt x="568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64" name="Line 17">
                  <a:extLst>
                    <a:ext uri="{FF2B5EF4-FFF2-40B4-BE49-F238E27FC236}">
                      <a16:creationId xmlns:a16="http://schemas.microsoft.com/office/drawing/2014/main" id="{DF5F0FA6-BFFC-BC0E-A744-58CA42A194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858000" y="2057400"/>
                  <a:ext cx="152400" cy="1524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65" name="Text Box 18">
                  <a:extLst>
                    <a:ext uri="{FF2B5EF4-FFF2-40B4-BE49-F238E27FC236}">
                      <a16:creationId xmlns:a16="http://schemas.microsoft.com/office/drawing/2014/main" id="{326A5ECC-2B58-6E1A-8103-4BDD241A38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15000" y="2743200"/>
                  <a:ext cx="10668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400"/>
                    <a:t>b</a:t>
                  </a:r>
                </a:p>
              </p:txBody>
            </p:sp>
            <p:sp>
              <p:nvSpPr>
                <p:cNvPr id="53266" name="Line 19">
                  <a:extLst>
                    <a:ext uri="{FF2B5EF4-FFF2-40B4-BE49-F238E27FC236}">
                      <a16:creationId xmlns:a16="http://schemas.microsoft.com/office/drawing/2014/main" id="{F4BF96A2-8605-7060-C4CD-CB4E06F7EC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34200" y="1828800"/>
                  <a:ext cx="11430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267" name="Rectangle 20">
                  <a:extLst>
                    <a:ext uri="{FF2B5EF4-FFF2-40B4-BE49-F238E27FC236}">
                      <a16:creationId xmlns:a16="http://schemas.microsoft.com/office/drawing/2014/main" id="{84B69E80-2871-AFB9-B5C0-091300077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15200" y="1447800"/>
                  <a:ext cx="319088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400"/>
                    <a:t>a</a:t>
                  </a:r>
                </a:p>
              </p:txBody>
            </p:sp>
          </p:grpSp>
          <p:sp>
            <p:nvSpPr>
              <p:cNvPr id="53268" name="Oval 21">
                <a:extLst>
                  <a:ext uri="{FF2B5EF4-FFF2-40B4-BE49-F238E27FC236}">
                    <a16:creationId xmlns:a16="http://schemas.microsoft.com/office/drawing/2014/main" id="{63405854-F6B3-18A2-8222-6AFD3DAE0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7200" y="1447800"/>
                <a:ext cx="8382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ar-SA" altLang="en-US" sz="2000"/>
              </a:p>
            </p:txBody>
          </p:sp>
        </p:grpSp>
        <p:sp>
          <p:nvSpPr>
            <p:cNvPr id="53269" name="Text Box 22">
              <a:extLst>
                <a:ext uri="{FF2B5EF4-FFF2-40B4-BE49-F238E27FC236}">
                  <a16:creationId xmlns:a16="http://schemas.microsoft.com/office/drawing/2014/main" id="{58AFBF08-7BD0-9B84-C9DF-156E632DC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268" y="2155156"/>
              <a:ext cx="1066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q</a:t>
              </a:r>
              <a:r>
                <a:rPr lang="en-US" altLang="en-US" sz="2400" baseline="-25000"/>
                <a:t>f</a:t>
              </a:r>
            </a:p>
          </p:txBody>
        </p:sp>
      </p:grpSp>
      <p:sp>
        <p:nvSpPr>
          <p:cNvPr id="53270" name="Text Box 23">
            <a:extLst>
              <a:ext uri="{FF2B5EF4-FFF2-40B4-BE49-F238E27FC236}">
                <a16:creationId xmlns:a16="http://schemas.microsoft.com/office/drawing/2014/main" id="{51EF2BAE-B43C-D61F-B70F-C0133A48F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581401"/>
            <a:ext cx="8610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Now P = 		You can convert to normal grammar notation: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{q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 aq</a:t>
            </a:r>
            <a:r>
              <a:rPr lang="en-US" altLang="en-US" sz="2400" baseline="-25000" dirty="0">
                <a:sym typeface="Symbol" panose="05050102010706020507" pitchFamily="18" charset="2"/>
              </a:rPr>
              <a:t>1		</a:t>
            </a:r>
            <a:r>
              <a:rPr lang="en-US" altLang="en-US" sz="2400" dirty="0"/>
              <a:t>S </a:t>
            </a:r>
            <a:r>
              <a:rPr lang="en-US" altLang="en-US" sz="2400" dirty="0">
                <a:sym typeface="Symbol" panose="05050102010706020507" pitchFamily="18" charset="2"/>
              </a:rPr>
              <a:t> </a:t>
            </a:r>
            <a:r>
              <a:rPr lang="en-US" altLang="en-US" sz="2400" dirty="0" err="1">
                <a:sym typeface="Symbol" panose="05050102010706020507" pitchFamily="18" charset="2"/>
              </a:rPr>
              <a:t>aA</a:t>
            </a:r>
            <a:endParaRPr lang="en-US" altLang="en-US" sz="2400" baseline="-250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q</a:t>
            </a:r>
            <a:r>
              <a:rPr lang="en-US" altLang="en-US" sz="2400" baseline="-25000" dirty="0">
                <a:sym typeface="Symbol" panose="05050102010706020507" pitchFamily="18" charset="2"/>
              </a:rPr>
              <a:t>1 </a:t>
            </a:r>
            <a:r>
              <a:rPr lang="en-US" altLang="en-US" sz="2400" dirty="0">
                <a:sym typeface="Symbol" panose="05050102010706020507" pitchFamily="18" charset="2"/>
              </a:rPr>
              <a:t> aq</a:t>
            </a:r>
            <a:r>
              <a:rPr lang="en-US" altLang="en-US" sz="2400" baseline="-25000" dirty="0">
                <a:sym typeface="Symbol" panose="05050102010706020507" pitchFamily="18" charset="2"/>
              </a:rPr>
              <a:t>2		</a:t>
            </a:r>
            <a:r>
              <a:rPr lang="en-US" altLang="en-US" sz="2400" dirty="0">
                <a:sym typeface="Symbol" panose="05050102010706020507" pitchFamily="18" charset="2"/>
              </a:rPr>
              <a:t>A  </a:t>
            </a:r>
            <a:r>
              <a:rPr lang="en-US" altLang="en-US" sz="2400" dirty="0" err="1">
                <a:sym typeface="Symbol" panose="05050102010706020507" pitchFamily="18" charset="2"/>
              </a:rPr>
              <a:t>aB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 bq</a:t>
            </a:r>
            <a:r>
              <a:rPr lang="en-US" altLang="en-US" sz="2400" baseline="-25000" dirty="0">
                <a:sym typeface="Symbol" panose="05050102010706020507" pitchFamily="18" charset="2"/>
              </a:rPr>
              <a:t>2		</a:t>
            </a:r>
            <a:r>
              <a:rPr lang="en-US" altLang="en-US" sz="2400" dirty="0">
                <a:sym typeface="Symbol" panose="05050102010706020507" pitchFamily="18" charset="2"/>
              </a:rPr>
              <a:t>B  </a:t>
            </a:r>
            <a:r>
              <a:rPr lang="en-US" altLang="en-US" sz="2400" dirty="0" err="1">
                <a:sym typeface="Symbol" panose="05050102010706020507" pitchFamily="18" charset="2"/>
              </a:rPr>
              <a:t>bB</a:t>
            </a:r>
            <a:endParaRPr lang="en-US" altLang="en-US" sz="2400" baseline="-25000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q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 </a:t>
            </a:r>
            <a:r>
              <a:rPr lang="en-US" altLang="en-US" sz="2400" dirty="0" err="1">
                <a:sym typeface="Symbol" panose="05050102010706020507" pitchFamily="18" charset="2"/>
              </a:rPr>
              <a:t>aq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f</a:t>
            </a:r>
            <a:r>
              <a:rPr lang="en-US" altLang="en-US" sz="2400" baseline="-25000" dirty="0">
                <a:sym typeface="Symbol" panose="05050102010706020507" pitchFamily="18" charset="2"/>
              </a:rPr>
              <a:t>  		</a:t>
            </a:r>
            <a:r>
              <a:rPr lang="en-US" altLang="en-US" sz="2400" dirty="0">
                <a:sym typeface="Symbol" panose="05050102010706020507" pitchFamily="18" charset="2"/>
              </a:rPr>
              <a:t>B  </a:t>
            </a:r>
            <a:r>
              <a:rPr lang="en-US" altLang="en-US" sz="2400" dirty="0" err="1">
                <a:sym typeface="Symbol" panose="05050102010706020507" pitchFamily="18" charset="2"/>
              </a:rPr>
              <a:t>aC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sym typeface="Symbol" panose="05050102010706020507" pitchFamily="18" charset="2"/>
              </a:rPr>
              <a:t>q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  </a:t>
            </a:r>
            <a:r>
              <a:rPr lang="el-GR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λ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 }		</a:t>
            </a:r>
            <a:r>
              <a:rPr lang="en-US" altLang="en-US" sz="2400" dirty="0">
                <a:sym typeface="Symbol" panose="05050102010706020507" pitchFamily="18" charset="2"/>
              </a:rPr>
              <a:t>C  </a:t>
            </a:r>
            <a:r>
              <a:rPr lang="el-GR" altLang="en-US" sz="2400" dirty="0">
                <a:sym typeface="Symbol" panose="05050102010706020507" pitchFamily="18" charset="2"/>
              </a:rPr>
              <a:t>λ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7823C54F-71DE-4635-8CBC-64E18E0E7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Theorem 2</a:t>
            </a: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(6)</a:t>
            </a:r>
            <a:b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DFA                 G</a:t>
            </a:r>
          </a:p>
        </p:txBody>
      </p:sp>
      <p:cxnSp>
        <p:nvCxnSpPr>
          <p:cNvPr id="28" name="رابط كسهم مستقيم 27">
            <a:extLst>
              <a:ext uri="{FF2B5EF4-FFF2-40B4-BE49-F238E27FC236}">
                <a16:creationId xmlns:a16="http://schemas.microsoft.com/office/drawing/2014/main" id="{44D8D2C7-DC05-4BA1-8498-E226D1962747}"/>
              </a:ext>
            </a:extLst>
          </p:cNvPr>
          <p:cNvCxnSpPr/>
          <p:nvPr/>
        </p:nvCxnSpPr>
        <p:spPr bwMode="auto">
          <a:xfrm>
            <a:off x="5943600" y="990600"/>
            <a:ext cx="68580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41CF26C-E112-42B9-FB20-15DDE92AB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852" y="0"/>
            <a:ext cx="11647357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 ways of specifying regular languages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8B206BF-3543-C46D-CFFF-FF9F41DE5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610600" cy="5181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endParaRPr lang="en-US" altLang="en-US"/>
          </a:p>
          <a:p>
            <a:pPr>
              <a:spcBef>
                <a:spcPct val="0"/>
              </a:spcBef>
              <a:buFontTx/>
              <a:buNone/>
            </a:pPr>
            <a:endParaRPr lang="el-GR" altLang="en-US" sz="40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3386F312-E002-3230-F2DA-76F2C0D21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2192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ar-SA" altLang="en-US" sz="2400">
              <a:sym typeface="Symbol" panose="05050102010706020507" pitchFamily="18" charset="2"/>
            </a:endParaRP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32D46994-5F4C-879B-F688-1E1ED495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371600"/>
            <a:ext cx="81534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Regular expressions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DFA		NDFA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Regular grammars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D9F99B60-7FC7-071F-ADC3-6DBECE82ABA6}"/>
              </a:ext>
            </a:extLst>
          </p:cNvPr>
          <p:cNvGrpSpPr/>
          <p:nvPr/>
        </p:nvGrpSpPr>
        <p:grpSpPr>
          <a:xfrm>
            <a:off x="2057400" y="1752600"/>
            <a:ext cx="7750176" cy="3429000"/>
            <a:chOff x="2057400" y="1752600"/>
            <a:chExt cx="7750176" cy="3429000"/>
          </a:xfrm>
        </p:grpSpPr>
        <p:sp>
          <p:nvSpPr>
            <p:cNvPr id="31750" name="Rectangle 6">
              <a:extLst>
                <a:ext uri="{FF2B5EF4-FFF2-40B4-BE49-F238E27FC236}">
                  <a16:creationId xmlns:a16="http://schemas.microsoft.com/office/drawing/2014/main" id="{09486FA1-B173-37BF-04FE-BCB6717B1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752600"/>
              <a:ext cx="2743200" cy="5334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31751" name="Rectangle 7">
              <a:extLst>
                <a:ext uri="{FF2B5EF4-FFF2-40B4-BE49-F238E27FC236}">
                  <a16:creationId xmlns:a16="http://schemas.microsoft.com/office/drawing/2014/main" id="{1027869C-934E-29F7-FBCA-8FA9294A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3200400"/>
              <a:ext cx="838200" cy="4572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31752" name="Rectangle 8">
              <a:extLst>
                <a:ext uri="{FF2B5EF4-FFF2-40B4-BE49-F238E27FC236}">
                  <a16:creationId xmlns:a16="http://schemas.microsoft.com/office/drawing/2014/main" id="{3C7A7A5D-1D1B-27FA-894F-1F094A410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200400"/>
              <a:ext cx="990600" cy="4572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31753" name="Rectangle 9">
              <a:extLst>
                <a:ext uri="{FF2B5EF4-FFF2-40B4-BE49-F238E27FC236}">
                  <a16:creationId xmlns:a16="http://schemas.microsoft.com/office/drawing/2014/main" id="{978F2608-0E9A-4C8C-62A6-35D23C02F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4648200"/>
              <a:ext cx="2667000" cy="5334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31754" name="Text Box 10">
              <a:extLst>
                <a:ext uri="{FF2B5EF4-FFF2-40B4-BE49-F238E27FC236}">
                  <a16:creationId xmlns:a16="http://schemas.microsoft.com/office/drawing/2014/main" id="{61DA65CA-BFEA-7FFF-A4BB-6CBFB6548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1" y="3200400"/>
              <a:ext cx="3025775" cy="4572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Regular languages</a:t>
              </a:r>
            </a:p>
          </p:txBody>
        </p:sp>
        <p:sp>
          <p:nvSpPr>
            <p:cNvPr id="31755" name="Rectangle 11">
              <a:extLst>
                <a:ext uri="{FF2B5EF4-FFF2-40B4-BE49-F238E27FC236}">
                  <a16:creationId xmlns:a16="http://schemas.microsoft.com/office/drawing/2014/main" id="{8CEB93F7-DE5E-3E1F-36EA-35440CD3F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200400"/>
              <a:ext cx="2667000" cy="4572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ar-SA" altLang="en-US" sz="2000"/>
            </a:p>
          </p:txBody>
        </p:sp>
        <p:sp>
          <p:nvSpPr>
            <p:cNvPr id="31756" name="Line 12">
              <a:extLst>
                <a:ext uri="{FF2B5EF4-FFF2-40B4-BE49-F238E27FC236}">
                  <a16:creationId xmlns:a16="http://schemas.microsoft.com/office/drawing/2014/main" id="{26552216-1072-C33C-E3A7-F9FB169517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400" y="3657600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Line 13">
              <a:extLst>
                <a:ext uri="{FF2B5EF4-FFF2-40B4-BE49-F238E27FC236}">
                  <a16:creationId xmlns:a16="http://schemas.microsoft.com/office/drawing/2014/main" id="{124221BA-A653-9C71-B2BA-C246F0DAC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2286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Line 14">
              <a:extLst>
                <a:ext uri="{FF2B5EF4-FFF2-40B4-BE49-F238E27FC236}">
                  <a16:creationId xmlns:a16="http://schemas.microsoft.com/office/drawing/2014/main" id="{9201B709-400C-4817-B696-28D1C07C6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3657600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Line 15">
              <a:extLst>
                <a:ext uri="{FF2B5EF4-FFF2-40B4-BE49-F238E27FC236}">
                  <a16:creationId xmlns:a16="http://schemas.microsoft.com/office/drawing/2014/main" id="{23B1CC3F-111E-D657-0BA4-6060F9FC0D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2286000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Line 16">
              <a:extLst>
                <a:ext uri="{FF2B5EF4-FFF2-40B4-BE49-F238E27FC236}">
                  <a16:creationId xmlns:a16="http://schemas.microsoft.com/office/drawing/2014/main" id="{92794398-ADB1-695F-9F20-53D99C5BA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33528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761" name="Line 17">
              <a:extLst>
                <a:ext uri="{FF2B5EF4-FFF2-40B4-BE49-F238E27FC236}">
                  <a16:creationId xmlns:a16="http://schemas.microsoft.com/office/drawing/2014/main" id="{E570ED34-B711-B9B3-A2DB-40C026B64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95600" y="35814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Line 18">
              <a:extLst>
                <a:ext uri="{FF2B5EF4-FFF2-40B4-BE49-F238E27FC236}">
                  <a16:creationId xmlns:a16="http://schemas.microsoft.com/office/drawing/2014/main" id="{96C0AA4D-D799-64F2-79D7-45A13DAD9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1981200"/>
              <a:ext cx="21336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3" name="Line 19">
              <a:extLst>
                <a:ext uri="{FF2B5EF4-FFF2-40B4-BE49-F238E27FC236}">
                  <a16:creationId xmlns:a16="http://schemas.microsoft.com/office/drawing/2014/main" id="{CE5D0C59-2BB1-97B0-BD9B-499F2473E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342900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4" name="Line 20">
              <a:extLst>
                <a:ext uri="{FF2B5EF4-FFF2-40B4-BE49-F238E27FC236}">
                  <a16:creationId xmlns:a16="http://schemas.microsoft.com/office/drawing/2014/main" id="{AACA373B-FA09-FF9A-7CF3-4CCE25F30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3581400"/>
              <a:ext cx="2209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5" name="Text Box 21">
              <a:extLst>
                <a:ext uri="{FF2B5EF4-FFF2-40B4-BE49-F238E27FC236}">
                  <a16:creationId xmlns:a16="http://schemas.microsoft.com/office/drawing/2014/main" id="{4FE67992-94E4-C96D-4D48-C64C55395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2057400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describe</a:t>
              </a:r>
            </a:p>
          </p:txBody>
        </p:sp>
        <p:sp>
          <p:nvSpPr>
            <p:cNvPr id="31766" name="Text Box 22">
              <a:extLst>
                <a:ext uri="{FF2B5EF4-FFF2-40B4-BE49-F238E27FC236}">
                  <a16:creationId xmlns:a16="http://schemas.microsoft.com/office/drawing/2014/main" id="{81BF69B6-73A7-745A-7480-85D039B8D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971800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accept</a:t>
              </a:r>
            </a:p>
          </p:txBody>
        </p:sp>
        <p:sp>
          <p:nvSpPr>
            <p:cNvPr id="31767" name="Text Box 23">
              <a:extLst>
                <a:ext uri="{FF2B5EF4-FFF2-40B4-BE49-F238E27FC236}">
                  <a16:creationId xmlns:a16="http://schemas.microsoft.com/office/drawing/2014/main" id="{AAAA44C5-3E2D-660F-E41A-0D2AFE45C9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4114800"/>
              <a:ext cx="1905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generate</a:t>
              </a:r>
            </a:p>
          </p:txBody>
        </p:sp>
      </p:grp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7B864FA6-79B7-3A98-E6B2-80703C8B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83" y="4781319"/>
            <a:ext cx="5452311" cy="125776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D590C790-076D-57F5-FD32-67CE20FE44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ar-SA" dirty="0"/>
            </a:br>
            <a:r>
              <a:rPr lang="en-US" altLang="ar-SA" dirty="0">
                <a:solidFill>
                  <a:srgbClr val="0070C0"/>
                </a:solidFill>
              </a:rPr>
              <a:t>Regular Grammars </a:t>
            </a:r>
            <a:br>
              <a:rPr lang="en-US" altLang="ar-SA" dirty="0"/>
            </a:br>
            <a:r>
              <a:rPr lang="en-US" altLang="ar-SA" dirty="0">
                <a:solidFill>
                  <a:srgbClr val="FF0000"/>
                </a:solidFill>
              </a:rPr>
              <a:t>Generate</a:t>
            </a:r>
            <a:br>
              <a:rPr lang="en-US" altLang="ar-SA" dirty="0"/>
            </a:br>
            <a:r>
              <a:rPr lang="en-US" altLang="ar-SA" dirty="0">
                <a:solidFill>
                  <a:srgbClr val="0070C0"/>
                </a:solidFill>
              </a:rPr>
              <a:t>Regular Languages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68B00EE-E92C-0C19-3706-7DF538F255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E95FE17-E9DE-AE21-DB1A-E7587646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B510518-5AB7-2464-EC20-37C02314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431C736E-4554-CBE3-7944-260CB76A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2" y="93033"/>
            <a:ext cx="10972800" cy="647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124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2F51ED6-77DC-E32B-134C-20937813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D36F1F9-8D61-33CA-F62F-B8FFBF44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8D8FD767-41F0-8474-27E7-CA97BEABA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4" y="0"/>
            <a:ext cx="11069052" cy="64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33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3" name="Object 4">
            <a:extLst>
              <a:ext uri="{FF2B5EF4-FFF2-40B4-BE49-F238E27FC236}">
                <a16:creationId xmlns:a16="http://schemas.microsoft.com/office/drawing/2014/main" id="{65EFB76C-10D6-287E-90A9-65642373A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524000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" imgH="381000" progId="Equation.3">
                  <p:embed/>
                </p:oleObj>
              </mc:Choice>
              <mc:Fallback>
                <p:oleObj name="Equation" r:id="rId2" imgW="368300" imgH="381000" progId="Equation.3">
                  <p:embed/>
                  <p:pic>
                    <p:nvPicPr>
                      <p:cNvPr id="7173" name="Object 4">
                        <a:extLst>
                          <a:ext uri="{FF2B5EF4-FFF2-40B4-BE49-F238E27FC236}">
                            <a16:creationId xmlns:a16="http://schemas.microsoft.com/office/drawing/2014/main" id="{65EFB76C-10D6-287E-90A9-65642373A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524000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5">
            <a:extLst>
              <a:ext uri="{FF2B5EF4-FFF2-40B4-BE49-F238E27FC236}">
                <a16:creationId xmlns:a16="http://schemas.microsoft.com/office/drawing/2014/main" id="{E7FE5785-C08B-3320-6EBC-0AE0BBA70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667001"/>
          <a:ext cx="9652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200" imgH="482600" progId="Equation.3">
                  <p:embed/>
                </p:oleObj>
              </mc:Choice>
              <mc:Fallback>
                <p:oleObj name="Equation" r:id="rId4" imgW="965200" imgH="482600" progId="Equation.3">
                  <p:embed/>
                  <p:pic>
                    <p:nvPicPr>
                      <p:cNvPr id="7174" name="Object 5">
                        <a:extLst>
                          <a:ext uri="{FF2B5EF4-FFF2-40B4-BE49-F238E27FC236}">
                            <a16:creationId xmlns:a16="http://schemas.microsoft.com/office/drawing/2014/main" id="{E7FE5785-C08B-3320-6EBC-0AE0BBA70F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667001"/>
                        <a:ext cx="9652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EC3B40DE-5A03-6818-3ADC-D30B95EDE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1" y="50292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85" imgH="368140" progId="Equation.3">
                  <p:embed/>
                </p:oleObj>
              </mc:Choice>
              <mc:Fallback>
                <p:oleObj name="Equation" r:id="rId6" imgW="495085" imgH="368140" progId="Equation.3">
                  <p:embed/>
                  <p:pic>
                    <p:nvPicPr>
                      <p:cNvPr id="7175" name="Object 7">
                        <a:extLst>
                          <a:ext uri="{FF2B5EF4-FFF2-40B4-BE49-F238E27FC236}">
                            <a16:creationId xmlns:a16="http://schemas.microsoft.com/office/drawing/2014/main" id="{EC3B40DE-5A03-6818-3ADC-D30B95EDE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5029200"/>
                        <a:ext cx="4937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>
            <a:extLst>
              <a:ext uri="{FF2B5EF4-FFF2-40B4-BE49-F238E27FC236}">
                <a16:creationId xmlns:a16="http://schemas.microsoft.com/office/drawing/2014/main" id="{903FDC6F-FE60-9E57-4F92-261930E517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5638801"/>
          <a:ext cx="2476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76500" imgH="482600" progId="Equation.3">
                  <p:embed/>
                </p:oleObj>
              </mc:Choice>
              <mc:Fallback>
                <p:oleObj name="Equation" r:id="rId8" imgW="2476500" imgH="482600" progId="Equation.3">
                  <p:embed/>
                  <p:pic>
                    <p:nvPicPr>
                      <p:cNvPr id="7176" name="Object 8">
                        <a:extLst>
                          <a:ext uri="{FF2B5EF4-FFF2-40B4-BE49-F238E27FC236}">
                            <a16:creationId xmlns:a16="http://schemas.microsoft.com/office/drawing/2014/main" id="{903FDC6F-FE60-9E57-4F92-261930E517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638801"/>
                        <a:ext cx="24765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68751574-02B6-FED2-BC86-C673262E5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457200" y="74949"/>
            <a:ext cx="11277600" cy="614613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BDE3C771-CBFD-04C1-7EDA-CDDD71AA6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 sz="3200" dirty="0">
                <a:solidFill>
                  <a:srgbClr val="00B0F0"/>
                </a:solidFill>
              </a:rPr>
              <a:t>Grammar       is right-linear</a:t>
            </a:r>
          </a:p>
          <a:p>
            <a:endParaRPr lang="en-US" altLang="ar-SA" dirty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C363C937-6C4E-C94A-4783-F7E0265705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504536"/>
              </p:ext>
            </p:extLst>
          </p:nvPr>
        </p:nvGraphicFramePr>
        <p:xfrm>
          <a:off x="2913898" y="195696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" imgH="381000" progId="Equation.3">
                  <p:embed/>
                </p:oleObj>
              </mc:Choice>
              <mc:Fallback>
                <p:oleObj name="Equation" r:id="rId2" imgW="368300" imgH="381000" progId="Equation.3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C363C937-6C4E-C94A-4783-F7E026570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898" y="195696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13">
            <a:extLst>
              <a:ext uri="{FF2B5EF4-FFF2-40B4-BE49-F238E27FC236}">
                <a16:creationId xmlns:a16="http://schemas.microsoft.com/office/drawing/2014/main" id="{D8A36931-EF4E-BF8B-0777-174EAFF5F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210" y="2738159"/>
            <a:ext cx="1874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Example:</a:t>
            </a:r>
          </a:p>
        </p:txBody>
      </p:sp>
      <p:graphicFrame>
        <p:nvGraphicFramePr>
          <p:cNvPr id="8198" name="Object 18">
            <a:extLst>
              <a:ext uri="{FF2B5EF4-FFF2-40B4-BE49-F238E27FC236}">
                <a16:creationId xmlns:a16="http://schemas.microsoft.com/office/drawing/2014/main" id="{5862655F-01FE-E6DC-2FEA-2255A700B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0" y="2743200"/>
          <a:ext cx="20701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1866900" progId="Equation.3">
                  <p:embed/>
                </p:oleObj>
              </mc:Choice>
              <mc:Fallback>
                <p:oleObj name="Equation" r:id="rId4" imgW="2070100" imgH="1866900" progId="Equation.3">
                  <p:embed/>
                  <p:pic>
                    <p:nvPicPr>
                      <p:cNvPr id="8198" name="Object 18">
                        <a:extLst>
                          <a:ext uri="{FF2B5EF4-FFF2-40B4-BE49-F238E27FC236}">
                            <a16:creationId xmlns:a16="http://schemas.microsoft.com/office/drawing/2014/main" id="{5862655F-01FE-E6DC-2FEA-2255A700B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2743200"/>
                        <a:ext cx="20701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CB0BA508-AF39-2AA6-4597-81A5B8151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7305" y="1845734"/>
            <a:ext cx="10658375" cy="4023360"/>
          </a:xfrm>
        </p:spPr>
        <p:txBody>
          <a:bodyPr>
            <a:normAutofit/>
          </a:bodyPr>
          <a:lstStyle/>
          <a:p>
            <a:r>
              <a:rPr lang="en-US" altLang="ar-SA" sz="2800" dirty="0">
                <a:cs typeface="+mj-cs"/>
              </a:rPr>
              <a:t>Construct NFA         such that</a:t>
            </a:r>
          </a:p>
          <a:p>
            <a:r>
              <a:rPr lang="en-US" altLang="ar-SA" sz="2800" dirty="0">
                <a:cs typeface="+mj-cs"/>
              </a:rPr>
              <a:t>every state is a variable:</a:t>
            </a:r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C2B51A0A-6946-C621-96F6-BEE8EB8FB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340014"/>
              </p:ext>
            </p:extLst>
          </p:nvPr>
        </p:nvGraphicFramePr>
        <p:xfrm>
          <a:off x="2744787" y="1845734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85" imgH="368140" progId="Equation.3">
                  <p:embed/>
                </p:oleObj>
              </mc:Choice>
              <mc:Fallback>
                <p:oleObj name="Equation" r:id="rId2" imgW="495085" imgH="368140" progId="Equation.3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C2B51A0A-6946-C621-96F6-BEE8EB8FB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7" y="1845734"/>
                        <a:ext cx="4937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6B8C76D3-77AF-0EFE-8B94-E29A17A36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0" y="4724400"/>
          <a:ext cx="20701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1866900" progId="Equation.3">
                  <p:embed/>
                </p:oleObj>
              </mc:Choice>
              <mc:Fallback>
                <p:oleObj name="Equation" r:id="rId4" imgW="2070100" imgH="1866900" progId="Equation.3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6B8C76D3-77AF-0EFE-8B94-E29A17A36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724400"/>
                        <a:ext cx="20701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Oval 6">
            <a:extLst>
              <a:ext uri="{FF2B5EF4-FFF2-40B4-BE49-F238E27FC236}">
                <a16:creationId xmlns:a16="http://schemas.microsoft.com/office/drawing/2014/main" id="{6EA7287F-9E83-B300-CAC4-FD4816529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23" name="Oval 7">
            <a:extLst>
              <a:ext uri="{FF2B5EF4-FFF2-40B4-BE49-F238E27FC236}">
                <a16:creationId xmlns:a16="http://schemas.microsoft.com/office/drawing/2014/main" id="{51F08CA9-EBD8-3452-ACE1-C0EA7C3AC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1415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24" name="Oval 8">
            <a:extLst>
              <a:ext uri="{FF2B5EF4-FFF2-40B4-BE49-F238E27FC236}">
                <a16:creationId xmlns:a16="http://schemas.microsoft.com/office/drawing/2014/main" id="{2AE81966-B776-EF06-9C59-A115FCA58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9226" name="Object 11">
            <a:extLst>
              <a:ext uri="{FF2B5EF4-FFF2-40B4-BE49-F238E27FC236}">
                <a16:creationId xmlns:a16="http://schemas.microsoft.com/office/drawing/2014/main" id="{903CA615-FD8F-7BA2-FE35-57A3C6F4D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68" imgH="380835" progId="Equation.3">
                  <p:embed/>
                </p:oleObj>
              </mc:Choice>
              <mc:Fallback>
                <p:oleObj name="Equation" r:id="rId6" imgW="304668" imgH="380835" progId="Equation.3">
                  <p:embed/>
                  <p:pic>
                    <p:nvPicPr>
                      <p:cNvPr id="9226" name="Object 11">
                        <a:extLst>
                          <a:ext uri="{FF2B5EF4-FFF2-40B4-BE49-F238E27FC236}">
                            <a16:creationId xmlns:a16="http://schemas.microsoft.com/office/drawing/2014/main" id="{903CA615-FD8F-7BA2-FE35-57A3C6F4D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3">
            <a:extLst>
              <a:ext uri="{FF2B5EF4-FFF2-40B4-BE49-F238E27FC236}">
                <a16:creationId xmlns:a16="http://schemas.microsoft.com/office/drawing/2014/main" id="{78113573-8F25-0987-226D-5043107B0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362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368300" progId="Equation.3">
                  <p:embed/>
                </p:oleObj>
              </mc:Choice>
              <mc:Fallback>
                <p:oleObj name="Equation" r:id="rId8" imgW="330200" imgH="368300" progId="Equation.3">
                  <p:embed/>
                  <p:pic>
                    <p:nvPicPr>
                      <p:cNvPr id="9228" name="Object 13">
                        <a:extLst>
                          <a:ext uri="{FF2B5EF4-FFF2-40B4-BE49-F238E27FC236}">
                            <a16:creationId xmlns:a16="http://schemas.microsoft.com/office/drawing/2014/main" id="{78113573-8F25-0987-226D-5043107B0C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3622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4">
            <a:extLst>
              <a:ext uri="{FF2B5EF4-FFF2-40B4-BE49-F238E27FC236}">
                <a16:creationId xmlns:a16="http://schemas.microsoft.com/office/drawing/2014/main" id="{1C8CEBDC-AAF4-A5C0-C92F-F1AA610F2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368300" progId="Equation.3">
                  <p:embed/>
                </p:oleObj>
              </mc:Choice>
              <mc:Fallback>
                <p:oleObj name="Equation" r:id="rId10" imgW="330200" imgH="368300" progId="Equation.3">
                  <p:embed/>
                  <p:pic>
                    <p:nvPicPr>
                      <p:cNvPr id="9229" name="Object 14">
                        <a:extLst>
                          <a:ext uri="{FF2B5EF4-FFF2-40B4-BE49-F238E27FC236}">
                            <a16:creationId xmlns:a16="http://schemas.microsoft.com/office/drawing/2014/main" id="{1C8CEBDC-AAF4-A5C0-C92F-F1AA610F2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15">
            <a:extLst>
              <a:ext uri="{FF2B5EF4-FFF2-40B4-BE49-F238E27FC236}">
                <a16:creationId xmlns:a16="http://schemas.microsoft.com/office/drawing/2014/main" id="{2BAFEA0A-DB33-3845-B403-1E2B4065C5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31" name="Text Box 17">
            <a:extLst>
              <a:ext uri="{FF2B5EF4-FFF2-40B4-BE49-F238E27FC236}">
                <a16:creationId xmlns:a16="http://schemas.microsoft.com/office/drawing/2014/main" id="{0044B203-0989-C7FA-B3A8-C15B241A6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00" y="2895600"/>
            <a:ext cx="2191626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special</a:t>
            </a:r>
          </a:p>
          <a:p>
            <a:r>
              <a:rPr lang="en-US" altLang="ar-SA"/>
              <a:t>final state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A2B8BF94-6566-98C5-894C-BABF89384498}"/>
              </a:ext>
            </a:extLst>
          </p:cNvPr>
          <p:cNvGrpSpPr/>
          <p:nvPr/>
        </p:nvGrpSpPr>
        <p:grpSpPr>
          <a:xfrm>
            <a:off x="7467600" y="3055949"/>
            <a:ext cx="874712" cy="838656"/>
            <a:chOff x="7467600" y="3055949"/>
            <a:chExt cx="874712" cy="838656"/>
          </a:xfrm>
        </p:grpSpPr>
        <p:sp>
          <p:nvSpPr>
            <p:cNvPr id="9225" name="Oval 9">
              <a:extLst>
                <a:ext uri="{FF2B5EF4-FFF2-40B4-BE49-F238E27FC236}">
                  <a16:creationId xmlns:a16="http://schemas.microsoft.com/office/drawing/2014/main" id="{B51858D2-C44A-C9A9-0DDE-FBB12886F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9227" name="Object 12">
              <a:extLst>
                <a:ext uri="{FF2B5EF4-FFF2-40B4-BE49-F238E27FC236}">
                  <a16:creationId xmlns:a16="http://schemas.microsoft.com/office/drawing/2014/main" id="{AA83982C-6B76-70F2-8182-B7DBA6C034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235783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20474" imgH="520474" progId="Equation.3">
                    <p:embed/>
                  </p:oleObj>
                </mc:Choice>
                <mc:Fallback>
                  <p:oleObj name="Equation" r:id="rId12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Oval 18">
              <a:extLst>
                <a:ext uri="{FF2B5EF4-FFF2-40B4-BE49-F238E27FC236}">
                  <a16:creationId xmlns:a16="http://schemas.microsoft.com/office/drawing/2014/main" id="{AE773FAB-B52B-6508-7282-7677C1FB9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881BA140-A087-DA84-B054-69A9A6056F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ar-SA" sz="2800" b="1" dirty="0"/>
              <a:t>Add edges for each production:</a:t>
            </a:r>
          </a:p>
        </p:txBody>
      </p:sp>
      <p:sp>
        <p:nvSpPr>
          <p:cNvPr id="10244" name="Oval 4">
            <a:extLst>
              <a:ext uri="{FF2B5EF4-FFF2-40B4-BE49-F238E27FC236}">
                <a16:creationId xmlns:a16="http://schemas.microsoft.com/office/drawing/2014/main" id="{BC17518A-D820-918D-3665-4B8D47FD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45" name="Oval 5">
            <a:extLst>
              <a:ext uri="{FF2B5EF4-FFF2-40B4-BE49-F238E27FC236}">
                <a16:creationId xmlns:a16="http://schemas.microsoft.com/office/drawing/2014/main" id="{715613D9-5443-4FA4-71AD-44BEA3A1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1415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9F7D59AA-DFF7-C531-5C31-8F7827F49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3E11E8C4-078C-C869-E3EA-192C282A10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3E11E8C4-078C-C869-E3EA-192C282A10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99D9F0D4-B17C-D74C-DE74-83EC56B21F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362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0250" name="Object 10">
                        <a:extLst>
                          <a:ext uri="{FF2B5EF4-FFF2-40B4-BE49-F238E27FC236}">
                            <a16:creationId xmlns:a16="http://schemas.microsoft.com/office/drawing/2014/main" id="{99D9F0D4-B17C-D74C-DE74-83EC56B21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3622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D887813A-E7CB-48CC-3652-16EDA612D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0251" name="Object 11">
                        <a:extLst>
                          <a:ext uri="{FF2B5EF4-FFF2-40B4-BE49-F238E27FC236}">
                            <a16:creationId xmlns:a16="http://schemas.microsoft.com/office/drawing/2014/main" id="{D887813A-E7CB-48CC-3652-16EDA612D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Line 12">
            <a:extLst>
              <a:ext uri="{FF2B5EF4-FFF2-40B4-BE49-F238E27FC236}">
                <a16:creationId xmlns:a16="http://schemas.microsoft.com/office/drawing/2014/main" id="{20479C49-0EC1-10A0-BC95-FE803C709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D1FA26E7-61F1-9E8D-05C8-EEF7A8665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5908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54" name="Object 14">
            <a:extLst>
              <a:ext uri="{FF2B5EF4-FFF2-40B4-BE49-F238E27FC236}">
                <a16:creationId xmlns:a16="http://schemas.microsoft.com/office/drawing/2014/main" id="{631FB738-B9B2-BC4E-E637-B457708EF4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1" y="2590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0254" name="Object 14">
                        <a:extLst>
                          <a:ext uri="{FF2B5EF4-FFF2-40B4-BE49-F238E27FC236}">
                            <a16:creationId xmlns:a16="http://schemas.microsoft.com/office/drawing/2014/main" id="{631FB738-B9B2-BC4E-E637-B457708EF4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2590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>
            <a:extLst>
              <a:ext uri="{FF2B5EF4-FFF2-40B4-BE49-F238E27FC236}">
                <a16:creationId xmlns:a16="http://schemas.microsoft.com/office/drawing/2014/main" id="{4F6FA243-DCC0-9A22-9350-9C51A788B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334000"/>
          <a:ext cx="143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5100" imgH="381000" progId="Equation.3">
                  <p:embed/>
                </p:oleObj>
              </mc:Choice>
              <mc:Fallback>
                <p:oleObj name="Equation" r:id="rId10" imgW="1435100" imgH="381000" progId="Equation.3">
                  <p:embed/>
                  <p:pic>
                    <p:nvPicPr>
                      <p:cNvPr id="10255" name="Object 15">
                        <a:extLst>
                          <a:ext uri="{FF2B5EF4-FFF2-40B4-BE49-F238E27FC236}">
                            <a16:creationId xmlns:a16="http://schemas.microsoft.com/office/drawing/2014/main" id="{4F6FA243-DCC0-9A22-9350-9C51A788B4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34000"/>
                        <a:ext cx="1435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11E386C-0E9F-1CC9-3A41-93FB49EE7B18}"/>
              </a:ext>
            </a:extLst>
          </p:cNvPr>
          <p:cNvGrpSpPr/>
          <p:nvPr/>
        </p:nvGrpSpPr>
        <p:grpSpPr>
          <a:xfrm>
            <a:off x="7467599" y="3055948"/>
            <a:ext cx="858253" cy="822306"/>
            <a:chOff x="7467599" y="3055948"/>
            <a:chExt cx="858253" cy="822306"/>
          </a:xfrm>
        </p:grpSpPr>
        <p:sp>
          <p:nvSpPr>
            <p:cNvPr id="10247" name="Oval 7">
              <a:extLst>
                <a:ext uri="{FF2B5EF4-FFF2-40B4-BE49-F238E27FC236}">
                  <a16:creationId xmlns:a16="http://schemas.microsoft.com/office/drawing/2014/main" id="{7309A2B4-B815-9A89-E9B1-EC9CE79AC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599" y="3055949"/>
              <a:ext cx="858253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10249" name="Object 9">
              <a:extLst>
                <a:ext uri="{FF2B5EF4-FFF2-40B4-BE49-F238E27FC236}">
                  <a16:creationId xmlns:a16="http://schemas.microsoft.com/office/drawing/2014/main" id="{BADAC4B2-CA10-4E2E-6F6C-9D399D45C8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9184817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20474" imgH="520474" progId="Equation.3">
                    <p:embed/>
                  </p:oleObj>
                </mc:Choice>
                <mc:Fallback>
                  <p:oleObj name="Equation" r:id="rId12" imgW="520474" imgH="520474" progId="Equation.3">
                    <p:embed/>
                    <p:pic>
                      <p:nvPicPr>
                        <p:cNvPr id="10249" name="Object 9">
                          <a:extLst>
                            <a:ext uri="{FF2B5EF4-FFF2-40B4-BE49-F238E27FC236}">
                              <a16:creationId xmlns:a16="http://schemas.microsoft.com/office/drawing/2014/main" id="{BADAC4B2-CA10-4E2E-6F6C-9D399D45C8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6" name="Oval 16">
              <a:extLst>
                <a:ext uri="{FF2B5EF4-FFF2-40B4-BE49-F238E27FC236}">
                  <a16:creationId xmlns:a16="http://schemas.microsoft.com/office/drawing/2014/main" id="{42E0349E-4678-DFC6-F1BE-0ED627DED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3926" y="3055948"/>
              <a:ext cx="510424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0619D381-DA98-3E86-4AE3-0F7AD749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6803D61-A5DD-4029-AF73-63E6B886A2E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D5B3D4D-95F4-1EF2-7897-BB1CEFABA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1268" name="Oval 4">
            <a:extLst>
              <a:ext uri="{FF2B5EF4-FFF2-40B4-BE49-F238E27FC236}">
                <a16:creationId xmlns:a16="http://schemas.microsoft.com/office/drawing/2014/main" id="{59FACE79-7E15-20A8-BC43-5B5CDBED7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69" name="Oval 5">
            <a:extLst>
              <a:ext uri="{FF2B5EF4-FFF2-40B4-BE49-F238E27FC236}">
                <a16:creationId xmlns:a16="http://schemas.microsoft.com/office/drawing/2014/main" id="{8BEDCF2D-D0EC-A484-3432-6AF5816E0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1415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70" name="Oval 6">
            <a:extLst>
              <a:ext uri="{FF2B5EF4-FFF2-40B4-BE49-F238E27FC236}">
                <a16:creationId xmlns:a16="http://schemas.microsoft.com/office/drawing/2014/main" id="{62417FC1-AB73-6B13-C40D-10A5E5E65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1272" name="Object 8">
            <a:extLst>
              <a:ext uri="{FF2B5EF4-FFF2-40B4-BE49-F238E27FC236}">
                <a16:creationId xmlns:a16="http://schemas.microsoft.com/office/drawing/2014/main" id="{2298015D-D7EC-2855-1976-E94F30F89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1272" name="Object 8">
                        <a:extLst>
                          <a:ext uri="{FF2B5EF4-FFF2-40B4-BE49-F238E27FC236}">
                            <a16:creationId xmlns:a16="http://schemas.microsoft.com/office/drawing/2014/main" id="{2298015D-D7EC-2855-1976-E94F30F890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A6ABA5AA-E2D5-557F-5CED-4A23C2DC2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362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A6ABA5AA-E2D5-557F-5CED-4A23C2DC2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3622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FDF78CDF-EC22-C09E-F5D2-E9A541FF6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1275" name="Object 11">
                        <a:extLst>
                          <a:ext uri="{FF2B5EF4-FFF2-40B4-BE49-F238E27FC236}">
                            <a16:creationId xmlns:a16="http://schemas.microsoft.com/office/drawing/2014/main" id="{FDF78CDF-EC22-C09E-F5D2-E9A541FF6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Line 12">
            <a:extLst>
              <a:ext uri="{FF2B5EF4-FFF2-40B4-BE49-F238E27FC236}">
                <a16:creationId xmlns:a16="http://schemas.microsoft.com/office/drawing/2014/main" id="{4ABE1473-DADA-E2CD-5DFC-DA9B65508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98C12ED3-45B2-1339-BC32-38E35D890E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5908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278" name="Object 14">
            <a:extLst>
              <a:ext uri="{FF2B5EF4-FFF2-40B4-BE49-F238E27FC236}">
                <a16:creationId xmlns:a16="http://schemas.microsoft.com/office/drawing/2014/main" id="{0310FA5E-5907-1AA6-7859-CDA2094EB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2514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1278" name="Object 14">
                        <a:extLst>
                          <a:ext uri="{FF2B5EF4-FFF2-40B4-BE49-F238E27FC236}">
                            <a16:creationId xmlns:a16="http://schemas.microsoft.com/office/drawing/2014/main" id="{0310FA5E-5907-1AA6-7859-CDA2094EB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2514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5">
            <a:extLst>
              <a:ext uri="{FF2B5EF4-FFF2-40B4-BE49-F238E27FC236}">
                <a16:creationId xmlns:a16="http://schemas.microsoft.com/office/drawing/2014/main" id="{1C6AA451-9CB4-DDF8-7B2A-8508A284C8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257801"/>
          <a:ext cx="1993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3900" imgH="482600" progId="Equation.3">
                  <p:embed/>
                </p:oleObj>
              </mc:Choice>
              <mc:Fallback>
                <p:oleObj name="Equation" r:id="rId10" imgW="1993900" imgH="482600" progId="Equation.3">
                  <p:embed/>
                  <p:pic>
                    <p:nvPicPr>
                      <p:cNvPr id="11279" name="Object 15">
                        <a:extLst>
                          <a:ext uri="{FF2B5EF4-FFF2-40B4-BE49-F238E27FC236}">
                            <a16:creationId xmlns:a16="http://schemas.microsoft.com/office/drawing/2014/main" id="{1C6AA451-9CB4-DDF8-7B2A-8508A284C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57801"/>
                        <a:ext cx="1993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Line 16">
            <a:extLst>
              <a:ext uri="{FF2B5EF4-FFF2-40B4-BE49-F238E27FC236}">
                <a16:creationId xmlns:a16="http://schemas.microsoft.com/office/drawing/2014/main" id="{8B826975-9216-5268-2F52-93681ADA6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1281" name="Object 17">
            <a:extLst>
              <a:ext uri="{FF2B5EF4-FFF2-40B4-BE49-F238E27FC236}">
                <a16:creationId xmlns:a16="http://schemas.microsoft.com/office/drawing/2014/main" id="{AC8BFEAF-31C0-F33A-991B-279DA6521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3505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668" imgH="380835" progId="Equation.3">
                  <p:embed/>
                </p:oleObj>
              </mc:Choice>
              <mc:Fallback>
                <p:oleObj name="Equation" r:id="rId12" imgW="304668" imgH="380835" progId="Equation.3">
                  <p:embed/>
                  <p:pic>
                    <p:nvPicPr>
                      <p:cNvPr id="11281" name="Object 17">
                        <a:extLst>
                          <a:ext uri="{FF2B5EF4-FFF2-40B4-BE49-F238E27FC236}">
                            <a16:creationId xmlns:a16="http://schemas.microsoft.com/office/drawing/2014/main" id="{AC8BFEAF-31C0-F33A-991B-279DA6521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505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C77CF713-C53D-FC9A-FA13-E4B41B454283}"/>
              </a:ext>
            </a:extLst>
          </p:cNvPr>
          <p:cNvGrpSpPr/>
          <p:nvPr/>
        </p:nvGrpSpPr>
        <p:grpSpPr>
          <a:xfrm>
            <a:off x="7467600" y="3055949"/>
            <a:ext cx="874712" cy="838656"/>
            <a:chOff x="7467600" y="3055949"/>
            <a:chExt cx="874712" cy="838656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B7309583-061D-15E1-4998-B15CBDE8A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8" name="Object 12">
              <a:extLst>
                <a:ext uri="{FF2B5EF4-FFF2-40B4-BE49-F238E27FC236}">
                  <a16:creationId xmlns:a16="http://schemas.microsoft.com/office/drawing/2014/main" id="{F72D6D9D-19F4-10CE-7878-DCC5C372D5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838535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20474" imgH="520474" progId="Equation.3">
                    <p:embed/>
                  </p:oleObj>
                </mc:Choice>
                <mc:Fallback>
                  <p:oleObj name="Equation" r:id="rId14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Oval 18">
              <a:extLst>
                <a:ext uri="{FF2B5EF4-FFF2-40B4-BE49-F238E27FC236}">
                  <a16:creationId xmlns:a16="http://schemas.microsoft.com/office/drawing/2014/main" id="{C33E8F86-4911-759A-0D43-B0A39A496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E7C6EDA6-9194-C7ED-4E51-06C59F2C8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2292" name="Oval 4">
            <a:extLst>
              <a:ext uri="{FF2B5EF4-FFF2-40B4-BE49-F238E27FC236}">
                <a16:creationId xmlns:a16="http://schemas.microsoft.com/office/drawing/2014/main" id="{D8F232A0-A89C-D409-E041-9DB23E4D1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293" name="Oval 5">
            <a:extLst>
              <a:ext uri="{FF2B5EF4-FFF2-40B4-BE49-F238E27FC236}">
                <a16:creationId xmlns:a16="http://schemas.microsoft.com/office/drawing/2014/main" id="{223B2C59-8E1E-2280-C06E-5E3EC0F0B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7699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294" name="Oval 6">
            <a:extLst>
              <a:ext uri="{FF2B5EF4-FFF2-40B4-BE49-F238E27FC236}">
                <a16:creationId xmlns:a16="http://schemas.microsoft.com/office/drawing/2014/main" id="{662524DC-8A2A-29C8-E1BA-C8DAF5DEA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2296" name="Object 8">
            <a:extLst>
              <a:ext uri="{FF2B5EF4-FFF2-40B4-BE49-F238E27FC236}">
                <a16:creationId xmlns:a16="http://schemas.microsoft.com/office/drawing/2014/main" id="{51C0C3A7-745E-58D4-B6A5-F080324E8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2296" name="Object 8">
                        <a:extLst>
                          <a:ext uri="{FF2B5EF4-FFF2-40B4-BE49-F238E27FC236}">
                            <a16:creationId xmlns:a16="http://schemas.microsoft.com/office/drawing/2014/main" id="{51C0C3A7-745E-58D4-B6A5-F080324E8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>
            <a:extLst>
              <a:ext uri="{FF2B5EF4-FFF2-40B4-BE49-F238E27FC236}">
                <a16:creationId xmlns:a16="http://schemas.microsoft.com/office/drawing/2014/main" id="{ACA387C3-3C7B-7F5A-E1FA-8D3B731D4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990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2298" name="Object 10">
                        <a:extLst>
                          <a:ext uri="{FF2B5EF4-FFF2-40B4-BE49-F238E27FC236}">
                            <a16:creationId xmlns:a16="http://schemas.microsoft.com/office/drawing/2014/main" id="{ACA387C3-3C7B-7F5A-E1FA-8D3B731D4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90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>
            <a:extLst>
              <a:ext uri="{FF2B5EF4-FFF2-40B4-BE49-F238E27FC236}">
                <a16:creationId xmlns:a16="http://schemas.microsoft.com/office/drawing/2014/main" id="{B6C788C5-00BF-1B08-0CEA-98C71995A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2299" name="Object 11">
                        <a:extLst>
                          <a:ext uri="{FF2B5EF4-FFF2-40B4-BE49-F238E27FC236}">
                            <a16:creationId xmlns:a16="http://schemas.microsoft.com/office/drawing/2014/main" id="{B6C788C5-00BF-1B08-0CEA-98C71995A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Line 12">
            <a:extLst>
              <a:ext uri="{FF2B5EF4-FFF2-40B4-BE49-F238E27FC236}">
                <a16:creationId xmlns:a16="http://schemas.microsoft.com/office/drawing/2014/main" id="{0E77AFA7-445C-9F21-305F-AC493E9B69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01" name="Line 13">
            <a:extLst>
              <a:ext uri="{FF2B5EF4-FFF2-40B4-BE49-F238E27FC236}">
                <a16:creationId xmlns:a16="http://schemas.microsoft.com/office/drawing/2014/main" id="{D83C452D-7976-DBF0-2BC9-DFED85654F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2302" name="Object 14">
            <a:extLst>
              <a:ext uri="{FF2B5EF4-FFF2-40B4-BE49-F238E27FC236}">
                <a16:creationId xmlns:a16="http://schemas.microsoft.com/office/drawing/2014/main" id="{30C8128B-8A36-5F03-5B0F-70A63BB0E0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1981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2302" name="Object 14">
                        <a:extLst>
                          <a:ext uri="{FF2B5EF4-FFF2-40B4-BE49-F238E27FC236}">
                            <a16:creationId xmlns:a16="http://schemas.microsoft.com/office/drawing/2014/main" id="{30C8128B-8A36-5F03-5B0F-70A63BB0E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1981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Line 16">
            <a:extLst>
              <a:ext uri="{FF2B5EF4-FFF2-40B4-BE49-F238E27FC236}">
                <a16:creationId xmlns:a16="http://schemas.microsoft.com/office/drawing/2014/main" id="{196DA14F-305B-3744-874D-78A92D648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304" name="Object 17">
            <a:extLst>
              <a:ext uri="{FF2B5EF4-FFF2-40B4-BE49-F238E27FC236}">
                <a16:creationId xmlns:a16="http://schemas.microsoft.com/office/drawing/2014/main" id="{A28F6310-3DD3-3A47-1636-D050C824B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3505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668" imgH="380835" progId="Equation.3">
                  <p:embed/>
                </p:oleObj>
              </mc:Choice>
              <mc:Fallback>
                <p:oleObj name="Equation" r:id="rId10" imgW="304668" imgH="380835" progId="Equation.3">
                  <p:embed/>
                  <p:pic>
                    <p:nvPicPr>
                      <p:cNvPr id="12304" name="Object 17">
                        <a:extLst>
                          <a:ext uri="{FF2B5EF4-FFF2-40B4-BE49-F238E27FC236}">
                            <a16:creationId xmlns:a16="http://schemas.microsoft.com/office/drawing/2014/main" id="{A28F6310-3DD3-3A47-1636-D050C824B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505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8">
            <a:extLst>
              <a:ext uri="{FF2B5EF4-FFF2-40B4-BE49-F238E27FC236}">
                <a16:creationId xmlns:a16="http://schemas.microsoft.com/office/drawing/2014/main" id="{A1323AA3-381C-709F-1A9C-AE88EC7BF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0" y="5073650"/>
          <a:ext cx="1993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900" imgH="1168400" progId="Equation.3">
                  <p:embed/>
                </p:oleObj>
              </mc:Choice>
              <mc:Fallback>
                <p:oleObj name="Equation" r:id="rId12" imgW="1993900" imgH="1168400" progId="Equation.3">
                  <p:embed/>
                  <p:pic>
                    <p:nvPicPr>
                      <p:cNvPr id="12305" name="Object 18">
                        <a:extLst>
                          <a:ext uri="{FF2B5EF4-FFF2-40B4-BE49-F238E27FC236}">
                            <a16:creationId xmlns:a16="http://schemas.microsoft.com/office/drawing/2014/main" id="{A1323AA3-381C-709F-1A9C-AE88EC7BF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5073650"/>
                        <a:ext cx="1993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Oval 19">
            <a:extLst>
              <a:ext uri="{FF2B5EF4-FFF2-40B4-BE49-F238E27FC236}">
                <a16:creationId xmlns:a16="http://schemas.microsoft.com/office/drawing/2014/main" id="{569386D2-7C28-C9F8-D336-4AFC51D3F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408249"/>
            <a:ext cx="5349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07" name="Line 20">
            <a:extLst>
              <a:ext uri="{FF2B5EF4-FFF2-40B4-BE49-F238E27FC236}">
                <a16:creationId xmlns:a16="http://schemas.microsoft.com/office/drawing/2014/main" id="{9C23B9F0-45A9-0A77-049D-7CF0CA629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08" name="Line 21">
            <a:extLst>
              <a:ext uri="{FF2B5EF4-FFF2-40B4-BE49-F238E27FC236}">
                <a16:creationId xmlns:a16="http://schemas.microsoft.com/office/drawing/2014/main" id="{AD0F16B3-7E78-B7CB-62FA-39C99A932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309" name="Object 22">
            <a:extLst>
              <a:ext uri="{FF2B5EF4-FFF2-40B4-BE49-F238E27FC236}">
                <a16:creationId xmlns:a16="http://schemas.microsoft.com/office/drawing/2014/main" id="{FE94F6C2-30A7-EC54-F531-5678D3841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1828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2309" name="Object 22">
                        <a:extLst>
                          <a:ext uri="{FF2B5EF4-FFF2-40B4-BE49-F238E27FC236}">
                            <a16:creationId xmlns:a16="http://schemas.microsoft.com/office/drawing/2014/main" id="{FE94F6C2-30A7-EC54-F531-5678D3841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828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3">
            <a:extLst>
              <a:ext uri="{FF2B5EF4-FFF2-40B4-BE49-F238E27FC236}">
                <a16:creationId xmlns:a16="http://schemas.microsoft.com/office/drawing/2014/main" id="{AACDD631-922A-26BB-AD77-A56E1B6F9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2310" name="Object 23">
                        <a:extLst>
                          <a:ext uri="{FF2B5EF4-FFF2-40B4-BE49-F238E27FC236}">
                            <a16:creationId xmlns:a16="http://schemas.microsoft.com/office/drawing/2014/main" id="{AACDD631-922A-26BB-AD77-A56E1B6F9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453F5B0-3B9C-9426-8756-C76BC8EEDC41}"/>
              </a:ext>
            </a:extLst>
          </p:cNvPr>
          <p:cNvGrpSpPr/>
          <p:nvPr/>
        </p:nvGrpSpPr>
        <p:grpSpPr>
          <a:xfrm>
            <a:off x="7467600" y="3055949"/>
            <a:ext cx="874712" cy="838656"/>
            <a:chOff x="7467600" y="3055949"/>
            <a:chExt cx="874712" cy="838656"/>
          </a:xfrm>
        </p:grpSpPr>
        <p:sp>
          <p:nvSpPr>
            <p:cNvPr id="3" name="Oval 9">
              <a:extLst>
                <a:ext uri="{FF2B5EF4-FFF2-40B4-BE49-F238E27FC236}">
                  <a16:creationId xmlns:a16="http://schemas.microsoft.com/office/drawing/2014/main" id="{73330E32-1F86-25A1-03FC-56A5B0BA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A272AD31-C666-E35A-A9FA-3C2CA92CCE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838535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520474" imgH="520474" progId="Equation.3">
                    <p:embed/>
                  </p:oleObj>
                </mc:Choice>
                <mc:Fallback>
                  <p:oleObj name="Equation" r:id="rId15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E3D94E54-FA7B-1EC4-4BC8-2DC5F7CF7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E79CCBF6-0AC7-8FBC-D379-4036A7297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3316" name="Oval 4">
            <a:extLst>
              <a:ext uri="{FF2B5EF4-FFF2-40B4-BE49-F238E27FC236}">
                <a16:creationId xmlns:a16="http://schemas.microsoft.com/office/drawing/2014/main" id="{58B96F3F-2ADF-0151-3872-59E19E37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17" name="Oval 5">
            <a:extLst>
              <a:ext uri="{FF2B5EF4-FFF2-40B4-BE49-F238E27FC236}">
                <a16:creationId xmlns:a16="http://schemas.microsoft.com/office/drawing/2014/main" id="{F26A6C8B-0785-4CAB-8C2A-DF4108E58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7699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18" name="Oval 6">
            <a:extLst>
              <a:ext uri="{FF2B5EF4-FFF2-40B4-BE49-F238E27FC236}">
                <a16:creationId xmlns:a16="http://schemas.microsoft.com/office/drawing/2014/main" id="{AFF11B8C-15E6-D5F1-061F-C6060827C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D9F34597-FAFF-0EF8-ACA6-ACBC3AD40F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D9F34597-FAFF-0EF8-ACA6-ACBC3AD40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>
            <a:extLst>
              <a:ext uri="{FF2B5EF4-FFF2-40B4-BE49-F238E27FC236}">
                <a16:creationId xmlns:a16="http://schemas.microsoft.com/office/drawing/2014/main" id="{98CCA6A0-BDD7-838D-D458-C9DBF2029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990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3322" name="Object 10">
                        <a:extLst>
                          <a:ext uri="{FF2B5EF4-FFF2-40B4-BE49-F238E27FC236}">
                            <a16:creationId xmlns:a16="http://schemas.microsoft.com/office/drawing/2014/main" id="{98CCA6A0-BDD7-838D-D458-C9DBF2029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90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>
            <a:extLst>
              <a:ext uri="{FF2B5EF4-FFF2-40B4-BE49-F238E27FC236}">
                <a16:creationId xmlns:a16="http://schemas.microsoft.com/office/drawing/2014/main" id="{14F15862-EAB3-391A-738C-DC1FEE585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3323" name="Object 11">
                        <a:extLst>
                          <a:ext uri="{FF2B5EF4-FFF2-40B4-BE49-F238E27FC236}">
                            <a16:creationId xmlns:a16="http://schemas.microsoft.com/office/drawing/2014/main" id="{14F15862-EAB3-391A-738C-DC1FEE5856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Line 12">
            <a:extLst>
              <a:ext uri="{FF2B5EF4-FFF2-40B4-BE49-F238E27FC236}">
                <a16:creationId xmlns:a16="http://schemas.microsoft.com/office/drawing/2014/main" id="{672FCA89-E9DD-4DBF-92C1-ED8AE6E6D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A1824DA0-435F-28B0-2E36-5CB8EEB150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3326" name="Object 14">
            <a:extLst>
              <a:ext uri="{FF2B5EF4-FFF2-40B4-BE49-F238E27FC236}">
                <a16:creationId xmlns:a16="http://schemas.microsoft.com/office/drawing/2014/main" id="{B3F2B8FA-FCA2-C0DC-86D7-6070CA31AD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1981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3326" name="Object 14">
                        <a:extLst>
                          <a:ext uri="{FF2B5EF4-FFF2-40B4-BE49-F238E27FC236}">
                            <a16:creationId xmlns:a16="http://schemas.microsoft.com/office/drawing/2014/main" id="{B3F2B8FA-FCA2-C0DC-86D7-6070CA31A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1981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Line 15">
            <a:extLst>
              <a:ext uri="{FF2B5EF4-FFF2-40B4-BE49-F238E27FC236}">
                <a16:creationId xmlns:a16="http://schemas.microsoft.com/office/drawing/2014/main" id="{9774E3AB-EB4A-0B4E-3A5D-16A1FAC2D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28" name="Object 16">
            <a:extLst>
              <a:ext uri="{FF2B5EF4-FFF2-40B4-BE49-F238E27FC236}">
                <a16:creationId xmlns:a16="http://schemas.microsoft.com/office/drawing/2014/main" id="{1A09F679-4339-0A61-DE96-E12B5A928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3505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668" imgH="380835" progId="Equation.3">
                  <p:embed/>
                </p:oleObj>
              </mc:Choice>
              <mc:Fallback>
                <p:oleObj name="Equation" r:id="rId10" imgW="304668" imgH="380835" progId="Equation.3">
                  <p:embed/>
                  <p:pic>
                    <p:nvPicPr>
                      <p:cNvPr id="13328" name="Object 16">
                        <a:extLst>
                          <a:ext uri="{FF2B5EF4-FFF2-40B4-BE49-F238E27FC236}">
                            <a16:creationId xmlns:a16="http://schemas.microsoft.com/office/drawing/2014/main" id="{1A09F679-4339-0A61-DE96-E12B5A928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505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17">
            <a:extLst>
              <a:ext uri="{FF2B5EF4-FFF2-40B4-BE49-F238E27FC236}">
                <a16:creationId xmlns:a16="http://schemas.microsoft.com/office/drawing/2014/main" id="{48D30853-41A6-9CCC-A0A0-512CF61FE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0" y="4775200"/>
          <a:ext cx="19939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900" imgH="1765300" progId="Equation.3">
                  <p:embed/>
                </p:oleObj>
              </mc:Choice>
              <mc:Fallback>
                <p:oleObj name="Equation" r:id="rId12" imgW="1993900" imgH="1765300" progId="Equation.3">
                  <p:embed/>
                  <p:pic>
                    <p:nvPicPr>
                      <p:cNvPr id="13329" name="Object 17">
                        <a:extLst>
                          <a:ext uri="{FF2B5EF4-FFF2-40B4-BE49-F238E27FC236}">
                            <a16:creationId xmlns:a16="http://schemas.microsoft.com/office/drawing/2014/main" id="{48D30853-41A6-9CCC-A0A0-512CF61FE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4775200"/>
                        <a:ext cx="19939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Oval 18">
            <a:extLst>
              <a:ext uri="{FF2B5EF4-FFF2-40B4-BE49-F238E27FC236}">
                <a16:creationId xmlns:a16="http://schemas.microsoft.com/office/drawing/2014/main" id="{8584966D-E382-C460-FFA3-81A959276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408249"/>
            <a:ext cx="569914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31" name="Line 19">
            <a:extLst>
              <a:ext uri="{FF2B5EF4-FFF2-40B4-BE49-F238E27FC236}">
                <a16:creationId xmlns:a16="http://schemas.microsoft.com/office/drawing/2014/main" id="{5CF5F8BB-9C4B-FA88-B4CD-4DF3FC8EC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32" name="Line 20">
            <a:extLst>
              <a:ext uri="{FF2B5EF4-FFF2-40B4-BE49-F238E27FC236}">
                <a16:creationId xmlns:a16="http://schemas.microsoft.com/office/drawing/2014/main" id="{393C2787-5066-FB8A-0AF0-66978F685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33" name="Object 21">
            <a:extLst>
              <a:ext uri="{FF2B5EF4-FFF2-40B4-BE49-F238E27FC236}">
                <a16:creationId xmlns:a16="http://schemas.microsoft.com/office/drawing/2014/main" id="{F19BE12C-56E0-456D-BD13-FF262676B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1828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3333" name="Object 21">
                        <a:extLst>
                          <a:ext uri="{FF2B5EF4-FFF2-40B4-BE49-F238E27FC236}">
                            <a16:creationId xmlns:a16="http://schemas.microsoft.com/office/drawing/2014/main" id="{F19BE12C-56E0-456D-BD13-FF262676B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828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2">
            <a:extLst>
              <a:ext uri="{FF2B5EF4-FFF2-40B4-BE49-F238E27FC236}">
                <a16:creationId xmlns:a16="http://schemas.microsoft.com/office/drawing/2014/main" id="{10B5E5B8-1B30-8021-799A-CC9322024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3334" name="Object 22">
                        <a:extLst>
                          <a:ext uri="{FF2B5EF4-FFF2-40B4-BE49-F238E27FC236}">
                            <a16:creationId xmlns:a16="http://schemas.microsoft.com/office/drawing/2014/main" id="{10B5E5B8-1B30-8021-799A-CC932202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9C1CBD2A-822F-1039-C06C-C90D35849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384314"/>
              </p:ext>
            </p:extLst>
          </p:nvPr>
        </p:nvGraphicFramePr>
        <p:xfrm>
          <a:off x="6698065" y="503904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93529" progId="Equation.3">
                  <p:embed/>
                </p:oleObj>
              </mc:Choice>
              <mc:Fallback>
                <p:oleObj name="Equation" r:id="rId15" imgW="253890" imgH="393529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9C1CBD2A-822F-1039-C06C-C90D35849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8065" y="503904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Freeform 25">
            <a:extLst>
              <a:ext uri="{FF2B5EF4-FFF2-40B4-BE49-F238E27FC236}">
                <a16:creationId xmlns:a16="http://schemas.microsoft.com/office/drawing/2014/main" id="{65E47726-1BF9-2E6F-125B-A13032A699B7}"/>
              </a:ext>
            </a:extLst>
          </p:cNvPr>
          <p:cNvSpPr>
            <a:spLocks/>
          </p:cNvSpPr>
          <p:nvPr/>
        </p:nvSpPr>
        <p:spPr bwMode="auto">
          <a:xfrm>
            <a:off x="5830094" y="4623883"/>
            <a:ext cx="1219200" cy="369332"/>
          </a:xfrm>
          <a:custGeom>
            <a:avLst/>
            <a:gdLst>
              <a:gd name="T0" fmla="*/ 2147483646 w 856"/>
              <a:gd name="T1" fmla="*/ 0 h 768"/>
              <a:gd name="T2" fmla="*/ 2147483646 w 856"/>
              <a:gd name="T3" fmla="*/ 2147483646 h 768"/>
              <a:gd name="T4" fmla="*/ 2147483646 w 856"/>
              <a:gd name="T5" fmla="*/ 2147483646 h 768"/>
              <a:gd name="T6" fmla="*/ 2147483646 w 856"/>
              <a:gd name="T7" fmla="*/ 2147483646 h 768"/>
              <a:gd name="T8" fmla="*/ 0 w 856"/>
              <a:gd name="T9" fmla="*/ 2147483646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6"/>
              <a:gd name="T16" fmla="*/ 0 h 768"/>
              <a:gd name="T17" fmla="*/ 856 w 85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73E9A9E-CB3A-E4A2-49D3-1B7BA1B4498A}"/>
              </a:ext>
            </a:extLst>
          </p:cNvPr>
          <p:cNvGrpSpPr/>
          <p:nvPr/>
        </p:nvGrpSpPr>
        <p:grpSpPr>
          <a:xfrm>
            <a:off x="7467600" y="3055949"/>
            <a:ext cx="874712" cy="838656"/>
            <a:chOff x="7467600" y="3055949"/>
            <a:chExt cx="874712" cy="838656"/>
          </a:xfrm>
        </p:grpSpPr>
        <p:sp>
          <p:nvSpPr>
            <p:cNvPr id="3" name="Oval 9">
              <a:extLst>
                <a:ext uri="{FF2B5EF4-FFF2-40B4-BE49-F238E27FC236}">
                  <a16:creationId xmlns:a16="http://schemas.microsoft.com/office/drawing/2014/main" id="{6F6A2C55-5CDF-1276-28AA-3DC175BC7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105EFA33-AABF-B1E0-69B7-B8B6B4B21E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0838535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20474" imgH="520474" progId="Equation.3">
                    <p:embed/>
                  </p:oleObj>
                </mc:Choice>
                <mc:Fallback>
                  <p:oleObj name="Equation" r:id="rId17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80D23285-B350-6531-CB47-41D01640F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565B3C00-4ABD-7E5F-AF5D-3A1D52B0E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4340" name="Oval 4">
            <a:extLst>
              <a:ext uri="{FF2B5EF4-FFF2-40B4-BE49-F238E27FC236}">
                <a16:creationId xmlns:a16="http://schemas.microsoft.com/office/drawing/2014/main" id="{E11E6F83-2589-6D5B-6A19-186159FD0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9797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41" name="Oval 5">
            <a:extLst>
              <a:ext uri="{FF2B5EF4-FFF2-40B4-BE49-F238E27FC236}">
                <a16:creationId xmlns:a16="http://schemas.microsoft.com/office/drawing/2014/main" id="{B6B17DD5-14BA-53CB-6DE1-3F6C09B91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7699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42" name="Oval 6">
            <a:extLst>
              <a:ext uri="{FF2B5EF4-FFF2-40B4-BE49-F238E27FC236}">
                <a16:creationId xmlns:a16="http://schemas.microsoft.com/office/drawing/2014/main" id="{52ACEF51-F331-EF22-FF5C-946265598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970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107B28A2-35AB-F824-8A38-19A41DB2E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32019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107B28A2-35AB-F824-8A38-19A41DB2E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32019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D9383512-CA67-DA6E-41FE-B94E31B88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990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4346" name="Object 10">
                        <a:extLst>
                          <a:ext uri="{FF2B5EF4-FFF2-40B4-BE49-F238E27FC236}">
                            <a16:creationId xmlns:a16="http://schemas.microsoft.com/office/drawing/2014/main" id="{D9383512-CA67-DA6E-41FE-B94E31B88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990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1">
            <a:extLst>
              <a:ext uri="{FF2B5EF4-FFF2-40B4-BE49-F238E27FC236}">
                <a16:creationId xmlns:a16="http://schemas.microsoft.com/office/drawing/2014/main" id="{6BF639CD-C2EE-1443-D6E1-AFEF8F553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1910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4347" name="Object 11">
                        <a:extLst>
                          <a:ext uri="{FF2B5EF4-FFF2-40B4-BE49-F238E27FC236}">
                            <a16:creationId xmlns:a16="http://schemas.microsoft.com/office/drawing/2014/main" id="{6BF639CD-C2EE-1443-D6E1-AFEF8F553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910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Line 12">
            <a:extLst>
              <a:ext uri="{FF2B5EF4-FFF2-40B4-BE49-F238E27FC236}">
                <a16:creationId xmlns:a16="http://schemas.microsoft.com/office/drawing/2014/main" id="{53087B05-1B78-6BBD-6AAE-4B0ABD552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75FD33D4-6A8C-024C-949E-3CC428236C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F31C418F-F457-52DA-534E-90485CA14B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1981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4350" name="Object 14">
                        <a:extLst>
                          <a:ext uri="{FF2B5EF4-FFF2-40B4-BE49-F238E27FC236}">
                            <a16:creationId xmlns:a16="http://schemas.microsoft.com/office/drawing/2014/main" id="{F31C418F-F457-52DA-534E-90485CA14B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1981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Line 15">
            <a:extLst>
              <a:ext uri="{FF2B5EF4-FFF2-40B4-BE49-F238E27FC236}">
                <a16:creationId xmlns:a16="http://schemas.microsoft.com/office/drawing/2014/main" id="{9F0905C4-17C1-D654-7870-729A470CA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352" name="Object 16">
            <a:extLst>
              <a:ext uri="{FF2B5EF4-FFF2-40B4-BE49-F238E27FC236}">
                <a16:creationId xmlns:a16="http://schemas.microsoft.com/office/drawing/2014/main" id="{E4017623-A949-C225-4373-9758A454B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3505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668" imgH="380835" progId="Equation.3">
                  <p:embed/>
                </p:oleObj>
              </mc:Choice>
              <mc:Fallback>
                <p:oleObj name="Equation" r:id="rId10" imgW="304668" imgH="380835" progId="Equation.3">
                  <p:embed/>
                  <p:pic>
                    <p:nvPicPr>
                      <p:cNvPr id="14352" name="Object 16">
                        <a:extLst>
                          <a:ext uri="{FF2B5EF4-FFF2-40B4-BE49-F238E27FC236}">
                            <a16:creationId xmlns:a16="http://schemas.microsoft.com/office/drawing/2014/main" id="{E4017623-A949-C225-4373-9758A454B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505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>
            <a:extLst>
              <a:ext uri="{FF2B5EF4-FFF2-40B4-BE49-F238E27FC236}">
                <a16:creationId xmlns:a16="http://schemas.microsoft.com/office/drawing/2014/main" id="{1038FE8A-E847-A52F-591C-D1CD16B4CE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0" y="4730750"/>
          <a:ext cx="19939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900" imgH="1854200" progId="Equation.3">
                  <p:embed/>
                </p:oleObj>
              </mc:Choice>
              <mc:Fallback>
                <p:oleObj name="Equation" r:id="rId12" imgW="1993900" imgH="1854200" progId="Equation.3">
                  <p:embed/>
                  <p:pic>
                    <p:nvPicPr>
                      <p:cNvPr id="14353" name="Object 17">
                        <a:extLst>
                          <a:ext uri="{FF2B5EF4-FFF2-40B4-BE49-F238E27FC236}">
                            <a16:creationId xmlns:a16="http://schemas.microsoft.com/office/drawing/2014/main" id="{1038FE8A-E847-A52F-591C-D1CD16B4CE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4730750"/>
                        <a:ext cx="19939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Oval 18">
            <a:extLst>
              <a:ext uri="{FF2B5EF4-FFF2-40B4-BE49-F238E27FC236}">
                <a16:creationId xmlns:a16="http://schemas.microsoft.com/office/drawing/2014/main" id="{CC080867-0015-45F9-0298-2295DB29D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408249"/>
            <a:ext cx="533400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5" name="Line 19">
            <a:extLst>
              <a:ext uri="{FF2B5EF4-FFF2-40B4-BE49-F238E27FC236}">
                <a16:creationId xmlns:a16="http://schemas.microsoft.com/office/drawing/2014/main" id="{3FA21830-9FB7-65C6-5416-F44A51BF1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56" name="Line 20">
            <a:extLst>
              <a:ext uri="{FF2B5EF4-FFF2-40B4-BE49-F238E27FC236}">
                <a16:creationId xmlns:a16="http://schemas.microsoft.com/office/drawing/2014/main" id="{7CDE7655-0C28-48CF-8136-19DDE76B7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357" name="Object 21">
            <a:extLst>
              <a:ext uri="{FF2B5EF4-FFF2-40B4-BE49-F238E27FC236}">
                <a16:creationId xmlns:a16="http://schemas.microsoft.com/office/drawing/2014/main" id="{4FF8A108-3CA4-22E1-0EC7-2DF6702CF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1828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4357" name="Object 21">
                        <a:extLst>
                          <a:ext uri="{FF2B5EF4-FFF2-40B4-BE49-F238E27FC236}">
                            <a16:creationId xmlns:a16="http://schemas.microsoft.com/office/drawing/2014/main" id="{4FF8A108-3CA4-22E1-0EC7-2DF6702CF1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828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D871D039-47B7-C33C-3B05-E66C8607A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3352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D871D039-47B7-C33C-3B05-E66C8607A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352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9" name="Object 23">
            <a:extLst>
              <a:ext uri="{FF2B5EF4-FFF2-40B4-BE49-F238E27FC236}">
                <a16:creationId xmlns:a16="http://schemas.microsoft.com/office/drawing/2014/main" id="{BFB51AA1-7B81-09DE-D7B0-5BED784389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147237"/>
              </p:ext>
            </p:extLst>
          </p:nvPr>
        </p:nvGraphicFramePr>
        <p:xfrm>
          <a:off x="6888164" y="5104933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93529" progId="Equation.3">
                  <p:embed/>
                </p:oleObj>
              </mc:Choice>
              <mc:Fallback>
                <p:oleObj name="Equation" r:id="rId15" imgW="253890" imgH="393529" progId="Equation.3">
                  <p:embed/>
                  <p:pic>
                    <p:nvPicPr>
                      <p:cNvPr id="14359" name="Object 23">
                        <a:extLst>
                          <a:ext uri="{FF2B5EF4-FFF2-40B4-BE49-F238E27FC236}">
                            <a16:creationId xmlns:a16="http://schemas.microsoft.com/office/drawing/2014/main" id="{BFB51AA1-7B81-09DE-D7B0-5BED78438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5104933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0" name="Freeform 24">
            <a:extLst>
              <a:ext uri="{FF2B5EF4-FFF2-40B4-BE49-F238E27FC236}">
                <a16:creationId xmlns:a16="http://schemas.microsoft.com/office/drawing/2014/main" id="{1C2C0C51-C541-D3CE-7FC1-C6015ADCCE9B}"/>
              </a:ext>
            </a:extLst>
          </p:cNvPr>
          <p:cNvSpPr>
            <a:spLocks/>
          </p:cNvSpPr>
          <p:nvPr/>
        </p:nvSpPr>
        <p:spPr bwMode="auto">
          <a:xfrm>
            <a:off x="5668964" y="4718667"/>
            <a:ext cx="1219200" cy="369332"/>
          </a:xfrm>
          <a:custGeom>
            <a:avLst/>
            <a:gdLst>
              <a:gd name="T0" fmla="*/ 2147483646 w 856"/>
              <a:gd name="T1" fmla="*/ 0 h 768"/>
              <a:gd name="T2" fmla="*/ 2147483646 w 856"/>
              <a:gd name="T3" fmla="*/ 2147483646 h 768"/>
              <a:gd name="T4" fmla="*/ 2147483646 w 856"/>
              <a:gd name="T5" fmla="*/ 2147483646 h 768"/>
              <a:gd name="T6" fmla="*/ 2147483646 w 856"/>
              <a:gd name="T7" fmla="*/ 2147483646 h 768"/>
              <a:gd name="T8" fmla="*/ 0 w 856"/>
              <a:gd name="T9" fmla="*/ 2147483646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6"/>
              <a:gd name="T16" fmla="*/ 0 h 768"/>
              <a:gd name="T17" fmla="*/ 856 w 85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62" name="Line 26">
            <a:extLst>
              <a:ext uri="{FF2B5EF4-FFF2-40B4-BE49-F238E27FC236}">
                <a16:creationId xmlns:a16="http://schemas.microsoft.com/office/drawing/2014/main" id="{646260F1-5794-3798-31A5-CACAE6FB4D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37338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9E129AE6-7724-D1D1-37A9-7AFDC8B13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3051" y="363696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9E129AE6-7724-D1D1-37A9-7AFDC8B13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1" y="363696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A9FA7827-9613-1C12-D41B-B9CFF3B19F93}"/>
              </a:ext>
            </a:extLst>
          </p:cNvPr>
          <p:cNvGrpSpPr/>
          <p:nvPr/>
        </p:nvGrpSpPr>
        <p:grpSpPr>
          <a:xfrm>
            <a:off x="7339015" y="3097676"/>
            <a:ext cx="874712" cy="838656"/>
            <a:chOff x="7467600" y="3055949"/>
            <a:chExt cx="874712" cy="838656"/>
          </a:xfrm>
        </p:grpSpPr>
        <p:sp>
          <p:nvSpPr>
            <p:cNvPr id="3" name="Oval 9">
              <a:extLst>
                <a:ext uri="{FF2B5EF4-FFF2-40B4-BE49-F238E27FC236}">
                  <a16:creationId xmlns:a16="http://schemas.microsoft.com/office/drawing/2014/main" id="{575BB99F-D4F5-51A2-9608-B64A632F3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FF68961F-4B85-94FE-31F5-00EDD113DF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1888180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20474" imgH="520474" progId="Equation.3">
                    <p:embed/>
                  </p:oleObj>
                </mc:Choice>
                <mc:Fallback>
                  <p:oleObj name="Equation" r:id="rId19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6C18C61C-31B4-D65F-C533-A5951111B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F4825EC4-5100-78D2-E194-28F0624A7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5364" name="Oval 4">
            <a:extLst>
              <a:ext uri="{FF2B5EF4-FFF2-40B4-BE49-F238E27FC236}">
                <a16:creationId xmlns:a16="http://schemas.microsoft.com/office/drawing/2014/main" id="{5DA2EC7A-8718-11A5-5408-9CC05E8B5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4463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65" name="Oval 5">
            <a:extLst>
              <a:ext uri="{FF2B5EF4-FFF2-40B4-BE49-F238E27FC236}">
                <a16:creationId xmlns:a16="http://schemas.microsoft.com/office/drawing/2014/main" id="{2C569F92-87FA-00A0-FB8D-C1A1C8D3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365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66" name="Oval 6">
            <a:extLst>
              <a:ext uri="{FF2B5EF4-FFF2-40B4-BE49-F238E27FC236}">
                <a16:creationId xmlns:a16="http://schemas.microsoft.com/office/drawing/2014/main" id="{F7C138CE-9FA1-5AF7-F5B5-6CC0B7B38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4369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5368" name="Object 8">
            <a:extLst>
              <a:ext uri="{FF2B5EF4-FFF2-40B4-BE49-F238E27FC236}">
                <a16:creationId xmlns:a16="http://schemas.microsoft.com/office/drawing/2014/main" id="{4BF323AF-CEA3-74C7-15F0-B79ED5DB6C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2588" y="266858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5368" name="Object 8">
                        <a:extLst>
                          <a:ext uri="{FF2B5EF4-FFF2-40B4-BE49-F238E27FC236}">
                            <a16:creationId xmlns:a16="http://schemas.microsoft.com/office/drawing/2014/main" id="{4BF323AF-CEA3-74C7-15F0-B79ED5DB6C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266858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>
            <a:extLst>
              <a:ext uri="{FF2B5EF4-FFF2-40B4-BE49-F238E27FC236}">
                <a16:creationId xmlns:a16="http://schemas.microsoft.com/office/drawing/2014/main" id="{2C8CBDEE-4DD4-A9C8-C798-DB7858D4F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57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5370" name="Object 10">
                        <a:extLst>
                          <a:ext uri="{FF2B5EF4-FFF2-40B4-BE49-F238E27FC236}">
                            <a16:creationId xmlns:a16="http://schemas.microsoft.com/office/drawing/2014/main" id="{2C8CBDEE-4DD4-A9C8-C798-DB7858D4F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572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>
            <a:extLst>
              <a:ext uri="{FF2B5EF4-FFF2-40B4-BE49-F238E27FC236}">
                <a16:creationId xmlns:a16="http://schemas.microsoft.com/office/drawing/2014/main" id="{7ED7816A-00C3-14C4-394B-AD5C2918FF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657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5371" name="Object 11">
                        <a:extLst>
                          <a:ext uri="{FF2B5EF4-FFF2-40B4-BE49-F238E27FC236}">
                            <a16:creationId xmlns:a16="http://schemas.microsoft.com/office/drawing/2014/main" id="{7ED7816A-00C3-14C4-394B-AD5C2918FF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657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2">
            <a:extLst>
              <a:ext uri="{FF2B5EF4-FFF2-40B4-BE49-F238E27FC236}">
                <a16:creationId xmlns:a16="http://schemas.microsoft.com/office/drawing/2014/main" id="{57129C0A-B536-0537-AC70-7D026B46E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73" name="Line 13">
            <a:extLst>
              <a:ext uri="{FF2B5EF4-FFF2-40B4-BE49-F238E27FC236}">
                <a16:creationId xmlns:a16="http://schemas.microsoft.com/office/drawing/2014/main" id="{06A9B224-D1F0-81F2-7584-7DE20A2CCB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7620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5374" name="Object 14">
            <a:extLst>
              <a:ext uri="{FF2B5EF4-FFF2-40B4-BE49-F238E27FC236}">
                <a16:creationId xmlns:a16="http://schemas.microsoft.com/office/drawing/2014/main" id="{A264F13A-7148-79CB-BFFD-7D81C55E3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1" y="144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5374" name="Object 14">
                        <a:extLst>
                          <a:ext uri="{FF2B5EF4-FFF2-40B4-BE49-F238E27FC236}">
                            <a16:creationId xmlns:a16="http://schemas.microsoft.com/office/drawing/2014/main" id="{A264F13A-7148-79CB-BFFD-7D81C55E3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144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Line 15">
            <a:extLst>
              <a:ext uri="{FF2B5EF4-FFF2-40B4-BE49-F238E27FC236}">
                <a16:creationId xmlns:a16="http://schemas.microsoft.com/office/drawing/2014/main" id="{6A664002-AAD8-5C38-676C-F56DD2C06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0480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376" name="Object 16">
            <a:extLst>
              <a:ext uri="{FF2B5EF4-FFF2-40B4-BE49-F238E27FC236}">
                <a16:creationId xmlns:a16="http://schemas.microsoft.com/office/drawing/2014/main" id="{7D28DD38-92A0-1A9B-1720-3333885D5E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1" y="29718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668" imgH="380835" progId="Equation.3">
                  <p:embed/>
                </p:oleObj>
              </mc:Choice>
              <mc:Fallback>
                <p:oleObj name="Equation" r:id="rId10" imgW="304668" imgH="380835" progId="Equation.3">
                  <p:embed/>
                  <p:pic>
                    <p:nvPicPr>
                      <p:cNvPr id="15376" name="Object 16">
                        <a:extLst>
                          <a:ext uri="{FF2B5EF4-FFF2-40B4-BE49-F238E27FC236}">
                            <a16:creationId xmlns:a16="http://schemas.microsoft.com/office/drawing/2014/main" id="{7D28DD38-92A0-1A9B-1720-3333885D5E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1" y="29718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7" name="Oval 18">
            <a:extLst>
              <a:ext uri="{FF2B5EF4-FFF2-40B4-BE49-F238E27FC236}">
                <a16:creationId xmlns:a16="http://schemas.microsoft.com/office/drawing/2014/main" id="{14AC85DD-C8E6-0CEF-3952-ACCD019D4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874849"/>
            <a:ext cx="569914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78" name="Line 19">
            <a:extLst>
              <a:ext uri="{FF2B5EF4-FFF2-40B4-BE49-F238E27FC236}">
                <a16:creationId xmlns:a16="http://schemas.microsoft.com/office/drawing/2014/main" id="{B94463FE-D613-21AC-8DFA-78160B44C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990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79" name="Line 20">
            <a:extLst>
              <a:ext uri="{FF2B5EF4-FFF2-40B4-BE49-F238E27FC236}">
                <a16:creationId xmlns:a16="http://schemas.microsoft.com/office/drawing/2014/main" id="{74F06020-8185-731A-48BA-7E21A8813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514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380" name="Object 21">
            <a:extLst>
              <a:ext uri="{FF2B5EF4-FFF2-40B4-BE49-F238E27FC236}">
                <a16:creationId xmlns:a16="http://schemas.microsoft.com/office/drawing/2014/main" id="{003CEBCF-B9EB-96FA-79A9-E6727E126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1295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5380" name="Object 21">
                        <a:extLst>
                          <a:ext uri="{FF2B5EF4-FFF2-40B4-BE49-F238E27FC236}">
                            <a16:creationId xmlns:a16="http://schemas.microsoft.com/office/drawing/2014/main" id="{003CEBCF-B9EB-96FA-79A9-E6727E126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1295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2">
            <a:extLst>
              <a:ext uri="{FF2B5EF4-FFF2-40B4-BE49-F238E27FC236}">
                <a16:creationId xmlns:a16="http://schemas.microsoft.com/office/drawing/2014/main" id="{9939C562-F3B0-733F-3327-3DECB711C5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2819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5381" name="Object 22">
                        <a:extLst>
                          <a:ext uri="{FF2B5EF4-FFF2-40B4-BE49-F238E27FC236}">
                            <a16:creationId xmlns:a16="http://schemas.microsoft.com/office/drawing/2014/main" id="{9939C562-F3B0-733F-3327-3DECB711C5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2819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3">
            <a:extLst>
              <a:ext uri="{FF2B5EF4-FFF2-40B4-BE49-F238E27FC236}">
                <a16:creationId xmlns:a16="http://schemas.microsoft.com/office/drawing/2014/main" id="{ED56C0BC-1001-6155-8A94-F65BDDEFE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669124"/>
              </p:ext>
            </p:extLst>
          </p:nvPr>
        </p:nvGraphicFramePr>
        <p:xfrm>
          <a:off x="6575909" y="4590759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15382" name="Object 23">
                        <a:extLst>
                          <a:ext uri="{FF2B5EF4-FFF2-40B4-BE49-F238E27FC236}">
                            <a16:creationId xmlns:a16="http://schemas.microsoft.com/office/drawing/2014/main" id="{ED56C0BC-1001-6155-8A94-F65BDDEFE8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909" y="4590759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3" name="Freeform 24">
            <a:extLst>
              <a:ext uri="{FF2B5EF4-FFF2-40B4-BE49-F238E27FC236}">
                <a16:creationId xmlns:a16="http://schemas.microsoft.com/office/drawing/2014/main" id="{0CE3323B-78C1-EC24-09C8-2BF9FDCF529C}"/>
              </a:ext>
            </a:extLst>
          </p:cNvPr>
          <p:cNvSpPr>
            <a:spLocks/>
          </p:cNvSpPr>
          <p:nvPr/>
        </p:nvSpPr>
        <p:spPr bwMode="auto">
          <a:xfrm>
            <a:off x="6126480" y="4184440"/>
            <a:ext cx="1219200" cy="369332"/>
          </a:xfrm>
          <a:custGeom>
            <a:avLst/>
            <a:gdLst>
              <a:gd name="T0" fmla="*/ 2147483646 w 856"/>
              <a:gd name="T1" fmla="*/ 0 h 768"/>
              <a:gd name="T2" fmla="*/ 2147483646 w 856"/>
              <a:gd name="T3" fmla="*/ 2147483646 h 768"/>
              <a:gd name="T4" fmla="*/ 2147483646 w 856"/>
              <a:gd name="T5" fmla="*/ 2147483646 h 768"/>
              <a:gd name="T6" fmla="*/ 2147483646 w 856"/>
              <a:gd name="T7" fmla="*/ 2147483646 h 768"/>
              <a:gd name="T8" fmla="*/ 0 w 856"/>
              <a:gd name="T9" fmla="*/ 2147483646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6"/>
              <a:gd name="T16" fmla="*/ 0 h 768"/>
              <a:gd name="T17" fmla="*/ 856 w 85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5" name="Line 26">
            <a:extLst>
              <a:ext uri="{FF2B5EF4-FFF2-40B4-BE49-F238E27FC236}">
                <a16:creationId xmlns:a16="http://schemas.microsoft.com/office/drawing/2014/main" id="{C2C91234-2498-4D5E-5818-22FDC4F18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2004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386" name="Object 27">
            <a:extLst>
              <a:ext uri="{FF2B5EF4-FFF2-40B4-BE49-F238E27FC236}">
                <a16:creationId xmlns:a16="http://schemas.microsoft.com/office/drawing/2014/main" id="{57B4E2A4-DC0C-949C-47BD-20B2527DC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4051" y="310356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5386" name="Object 27">
                        <a:extLst>
                          <a:ext uri="{FF2B5EF4-FFF2-40B4-BE49-F238E27FC236}">
                            <a16:creationId xmlns:a16="http://schemas.microsoft.com/office/drawing/2014/main" id="{57B4E2A4-DC0C-949C-47BD-20B2527DC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051" y="310356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7" name="Object 28">
            <a:extLst>
              <a:ext uri="{FF2B5EF4-FFF2-40B4-BE49-F238E27FC236}">
                <a16:creationId xmlns:a16="http://schemas.microsoft.com/office/drawing/2014/main" id="{A66B3CD6-9CF5-325E-4AD1-2409BD36A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791201"/>
          <a:ext cx="66817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80200" imgH="393700" progId="Equation.3">
                  <p:embed/>
                </p:oleObj>
              </mc:Choice>
              <mc:Fallback>
                <p:oleObj name="Equation" r:id="rId16" imgW="6680200" imgH="393700" progId="Equation.3">
                  <p:embed/>
                  <p:pic>
                    <p:nvPicPr>
                      <p:cNvPr id="15387" name="Object 28">
                        <a:extLst>
                          <a:ext uri="{FF2B5EF4-FFF2-40B4-BE49-F238E27FC236}">
                            <a16:creationId xmlns:a16="http://schemas.microsoft.com/office/drawing/2014/main" id="{A66B3CD6-9CF5-325E-4AD1-2409BD36A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791201"/>
                        <a:ext cx="66817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916F9B9-DDBE-BEFB-7645-95D387FC3EE8}"/>
              </a:ext>
            </a:extLst>
          </p:cNvPr>
          <p:cNvGrpSpPr/>
          <p:nvPr/>
        </p:nvGrpSpPr>
        <p:grpSpPr>
          <a:xfrm>
            <a:off x="7549166" y="2769763"/>
            <a:ext cx="874712" cy="838656"/>
            <a:chOff x="7467600" y="3055949"/>
            <a:chExt cx="874712" cy="838656"/>
          </a:xfrm>
        </p:grpSpPr>
        <p:sp>
          <p:nvSpPr>
            <p:cNvPr id="3" name="Oval 9">
              <a:extLst>
                <a:ext uri="{FF2B5EF4-FFF2-40B4-BE49-F238E27FC236}">
                  <a16:creationId xmlns:a16="http://schemas.microsoft.com/office/drawing/2014/main" id="{F8468E8C-6584-4AE6-2446-698E90E52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57992B87-097D-DD92-6F58-5089157A5A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344151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20474" imgH="520474" progId="Equation.3">
                    <p:embed/>
                  </p:oleObj>
                </mc:Choice>
                <mc:Fallback>
                  <p:oleObj name="Equation" r:id="rId18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2ABD5B54-D20A-56D9-3E47-EE240DB2C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9EA15116-52FA-A97A-271E-E91784AB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6919C25-FCDE-45A6-B17A-3FCFAF309D2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62202B3-5755-E3E7-4A35-F1B8D8382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 </a:t>
            </a:r>
          </a:p>
        </p:txBody>
      </p:sp>
      <p:sp>
        <p:nvSpPr>
          <p:cNvPr id="16388" name="Oval 4">
            <a:extLst>
              <a:ext uri="{FF2B5EF4-FFF2-40B4-BE49-F238E27FC236}">
                <a16:creationId xmlns:a16="http://schemas.microsoft.com/office/drawing/2014/main" id="{4C2E96B6-A77B-A00E-28CA-2598776FC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0559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389" name="Oval 5">
            <a:extLst>
              <a:ext uri="{FF2B5EF4-FFF2-40B4-BE49-F238E27FC236}">
                <a16:creationId xmlns:a16="http://schemas.microsoft.com/office/drawing/2014/main" id="{9C7179CC-2A8E-43C4-0EFF-25EE1A4B3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8461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390" name="Oval 6">
            <a:extLst>
              <a:ext uri="{FF2B5EF4-FFF2-40B4-BE49-F238E27FC236}">
                <a16:creationId xmlns:a16="http://schemas.microsoft.com/office/drawing/2014/main" id="{95D2B4BC-B9A7-AF7A-0F54-E42322F39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046549"/>
            <a:ext cx="687388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6392" name="Object 8">
            <a:extLst>
              <a:ext uri="{FF2B5EF4-FFF2-40B4-BE49-F238E27FC236}">
                <a16:creationId xmlns:a16="http://schemas.microsoft.com/office/drawing/2014/main" id="{50120E28-3D7F-0FE6-CB81-6EB606CC9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1" y="3276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668" imgH="380835" progId="Equation.3">
                  <p:embed/>
                </p:oleObj>
              </mc:Choice>
              <mc:Fallback>
                <p:oleObj name="Equation" r:id="rId2" imgW="304668" imgH="380835" progId="Equation.3">
                  <p:embed/>
                  <p:pic>
                    <p:nvPicPr>
                      <p:cNvPr id="16392" name="Object 8">
                        <a:extLst>
                          <a:ext uri="{FF2B5EF4-FFF2-40B4-BE49-F238E27FC236}">
                            <a16:creationId xmlns:a16="http://schemas.microsoft.com/office/drawing/2014/main" id="{50120E28-3D7F-0FE6-CB81-6EB606CC9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3276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>
            <a:extLst>
              <a:ext uri="{FF2B5EF4-FFF2-40B4-BE49-F238E27FC236}">
                <a16:creationId xmlns:a16="http://schemas.microsoft.com/office/drawing/2014/main" id="{9478085C-F28A-FC33-9799-8BA9BEFC8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0668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200" imgH="368300" progId="Equation.3">
                  <p:embed/>
                </p:oleObj>
              </mc:Choice>
              <mc:Fallback>
                <p:oleObj name="Equation" r:id="rId4" imgW="330200" imgH="368300" progId="Equation.3">
                  <p:embed/>
                  <p:pic>
                    <p:nvPicPr>
                      <p:cNvPr id="16394" name="Object 10">
                        <a:extLst>
                          <a:ext uri="{FF2B5EF4-FFF2-40B4-BE49-F238E27FC236}">
                            <a16:creationId xmlns:a16="http://schemas.microsoft.com/office/drawing/2014/main" id="{9478085C-F28A-FC33-9799-8BA9BEFC8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0668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>
            <a:extLst>
              <a:ext uri="{FF2B5EF4-FFF2-40B4-BE49-F238E27FC236}">
                <a16:creationId xmlns:a16="http://schemas.microsoft.com/office/drawing/2014/main" id="{BE495C74-61AC-9486-F15D-B9B52B2DE8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2672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368300" progId="Equation.3">
                  <p:embed/>
                </p:oleObj>
              </mc:Choice>
              <mc:Fallback>
                <p:oleObj name="Equation" r:id="rId6" imgW="330200" imgH="368300" progId="Equation.3">
                  <p:embed/>
                  <p:pic>
                    <p:nvPicPr>
                      <p:cNvPr id="16395" name="Object 11">
                        <a:extLst>
                          <a:ext uri="{FF2B5EF4-FFF2-40B4-BE49-F238E27FC236}">
                            <a16:creationId xmlns:a16="http://schemas.microsoft.com/office/drawing/2014/main" id="{BE495C74-61AC-9486-F15D-B9B52B2DE8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2672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Line 12">
            <a:extLst>
              <a:ext uri="{FF2B5EF4-FFF2-40B4-BE49-F238E27FC236}">
                <a16:creationId xmlns:a16="http://schemas.microsoft.com/office/drawing/2014/main" id="{BCF0F572-A226-98F5-ADFA-EEB7C9DF4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505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25BEE5FA-9839-8A0F-1343-3F6333FF4C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13716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6398" name="Object 14">
            <a:extLst>
              <a:ext uri="{FF2B5EF4-FFF2-40B4-BE49-F238E27FC236}">
                <a16:creationId xmlns:a16="http://schemas.microsoft.com/office/drawing/2014/main" id="{42704605-E97F-ACB9-7BCE-D10B28CE0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16398" name="Object 14">
                        <a:extLst>
                          <a:ext uri="{FF2B5EF4-FFF2-40B4-BE49-F238E27FC236}">
                            <a16:creationId xmlns:a16="http://schemas.microsoft.com/office/drawing/2014/main" id="{42704605-E97F-ACB9-7BCE-D10B28CE0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Line 15">
            <a:extLst>
              <a:ext uri="{FF2B5EF4-FFF2-40B4-BE49-F238E27FC236}">
                <a16:creationId xmlns:a16="http://schemas.microsoft.com/office/drawing/2014/main" id="{9C9A05D8-7D96-4CB5-9B80-EC73752A4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6576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00" name="Object 16">
            <a:extLst>
              <a:ext uri="{FF2B5EF4-FFF2-40B4-BE49-F238E27FC236}">
                <a16:creationId xmlns:a16="http://schemas.microsoft.com/office/drawing/2014/main" id="{E20B672B-BDF6-33AC-1019-92173BC33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5814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668" imgH="380835" progId="Equation.3">
                  <p:embed/>
                </p:oleObj>
              </mc:Choice>
              <mc:Fallback>
                <p:oleObj name="Equation" r:id="rId10" imgW="304668" imgH="380835" progId="Equation.3">
                  <p:embed/>
                  <p:pic>
                    <p:nvPicPr>
                      <p:cNvPr id="16400" name="Object 16">
                        <a:extLst>
                          <a:ext uri="{FF2B5EF4-FFF2-40B4-BE49-F238E27FC236}">
                            <a16:creationId xmlns:a16="http://schemas.microsoft.com/office/drawing/2014/main" id="{E20B672B-BDF6-33AC-1019-92173BC33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5814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Oval 17">
            <a:extLst>
              <a:ext uri="{FF2B5EF4-FFF2-40B4-BE49-F238E27FC236}">
                <a16:creationId xmlns:a16="http://schemas.microsoft.com/office/drawing/2014/main" id="{C98CFA46-6CEB-6593-04FB-A226FAA0B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484449"/>
            <a:ext cx="569914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402" name="Line 18">
            <a:extLst>
              <a:ext uri="{FF2B5EF4-FFF2-40B4-BE49-F238E27FC236}">
                <a16:creationId xmlns:a16="http://schemas.microsoft.com/office/drawing/2014/main" id="{29CBB2ED-4B91-4FC1-C247-D81D58D7B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600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403" name="Line 19">
            <a:extLst>
              <a:ext uri="{FF2B5EF4-FFF2-40B4-BE49-F238E27FC236}">
                <a16:creationId xmlns:a16="http://schemas.microsoft.com/office/drawing/2014/main" id="{8DC0869F-4D43-E456-AA20-ABE2FF522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124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04" name="Object 20">
            <a:extLst>
              <a:ext uri="{FF2B5EF4-FFF2-40B4-BE49-F238E27FC236}">
                <a16:creationId xmlns:a16="http://schemas.microsoft.com/office/drawing/2014/main" id="{0ED60C60-5306-D786-5543-18C06D7951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1905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6404" name="Object 20">
                        <a:extLst>
                          <a:ext uri="{FF2B5EF4-FFF2-40B4-BE49-F238E27FC236}">
                            <a16:creationId xmlns:a16="http://schemas.microsoft.com/office/drawing/2014/main" id="{0ED60C60-5306-D786-5543-18C06D7951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1905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1">
            <a:extLst>
              <a:ext uri="{FF2B5EF4-FFF2-40B4-BE49-F238E27FC236}">
                <a16:creationId xmlns:a16="http://schemas.microsoft.com/office/drawing/2014/main" id="{206DBA44-07CA-2422-3042-BCDCDA8D0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6405" name="Object 21">
                        <a:extLst>
                          <a:ext uri="{FF2B5EF4-FFF2-40B4-BE49-F238E27FC236}">
                            <a16:creationId xmlns:a16="http://schemas.microsoft.com/office/drawing/2014/main" id="{206DBA44-07CA-2422-3042-BCDCDA8D0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22">
            <a:extLst>
              <a:ext uri="{FF2B5EF4-FFF2-40B4-BE49-F238E27FC236}">
                <a16:creationId xmlns:a16="http://schemas.microsoft.com/office/drawing/2014/main" id="{AF0B7B58-463E-E4F9-8884-AB5DF9FA8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420074"/>
              </p:ext>
            </p:extLst>
          </p:nvPr>
        </p:nvGraphicFramePr>
        <p:xfrm>
          <a:off x="4789487" y="509698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93529" progId="Equation.3">
                  <p:embed/>
                </p:oleObj>
              </mc:Choice>
              <mc:Fallback>
                <p:oleObj name="Equation" r:id="rId13" imgW="253890" imgH="393529" progId="Equation.3">
                  <p:embed/>
                  <p:pic>
                    <p:nvPicPr>
                      <p:cNvPr id="16406" name="Object 22">
                        <a:extLst>
                          <a:ext uri="{FF2B5EF4-FFF2-40B4-BE49-F238E27FC236}">
                            <a16:creationId xmlns:a16="http://schemas.microsoft.com/office/drawing/2014/main" id="{AF0B7B58-463E-E4F9-8884-AB5DF9FA8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7" y="509698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Freeform 23">
            <a:extLst>
              <a:ext uri="{FF2B5EF4-FFF2-40B4-BE49-F238E27FC236}">
                <a16:creationId xmlns:a16="http://schemas.microsoft.com/office/drawing/2014/main" id="{A6B99486-6FD8-1AFB-B6B1-560093FD578D}"/>
              </a:ext>
            </a:extLst>
          </p:cNvPr>
          <p:cNvSpPr>
            <a:spLocks/>
          </p:cNvSpPr>
          <p:nvPr/>
        </p:nvSpPr>
        <p:spPr bwMode="auto">
          <a:xfrm>
            <a:off x="4306094" y="4746425"/>
            <a:ext cx="1219200" cy="369332"/>
          </a:xfrm>
          <a:custGeom>
            <a:avLst/>
            <a:gdLst>
              <a:gd name="T0" fmla="*/ 2147483646 w 856"/>
              <a:gd name="T1" fmla="*/ 0 h 768"/>
              <a:gd name="T2" fmla="*/ 2147483646 w 856"/>
              <a:gd name="T3" fmla="*/ 2147483646 h 768"/>
              <a:gd name="T4" fmla="*/ 2147483646 w 856"/>
              <a:gd name="T5" fmla="*/ 2147483646 h 768"/>
              <a:gd name="T6" fmla="*/ 2147483646 w 856"/>
              <a:gd name="T7" fmla="*/ 2147483646 h 768"/>
              <a:gd name="T8" fmla="*/ 0 w 856"/>
              <a:gd name="T9" fmla="*/ 2147483646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56"/>
              <a:gd name="T16" fmla="*/ 0 h 768"/>
              <a:gd name="T17" fmla="*/ 856 w 85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0353C356-868A-1550-8C43-4B0919249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38100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10" name="Object 26">
            <a:extLst>
              <a:ext uri="{FF2B5EF4-FFF2-40B4-BE49-F238E27FC236}">
                <a16:creationId xmlns:a16="http://schemas.microsoft.com/office/drawing/2014/main" id="{C497D39D-6916-0C61-3DC9-68992C9F1A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9051" y="371316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16410" name="Object 26">
                        <a:extLst>
                          <a:ext uri="{FF2B5EF4-FFF2-40B4-BE49-F238E27FC236}">
                            <a16:creationId xmlns:a16="http://schemas.microsoft.com/office/drawing/2014/main" id="{C497D39D-6916-0C61-3DC9-68992C9F1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1" y="371316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27">
            <a:extLst>
              <a:ext uri="{FF2B5EF4-FFF2-40B4-BE49-F238E27FC236}">
                <a16:creationId xmlns:a16="http://schemas.microsoft.com/office/drawing/2014/main" id="{3A849513-D5A8-D458-5223-2C6896B85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2600" y="1454150"/>
          <a:ext cx="19939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93900" imgH="1854200" progId="Equation.3">
                  <p:embed/>
                </p:oleObj>
              </mc:Choice>
              <mc:Fallback>
                <p:oleObj name="Equation" r:id="rId17" imgW="1993900" imgH="1854200" progId="Equation.3">
                  <p:embed/>
                  <p:pic>
                    <p:nvPicPr>
                      <p:cNvPr id="16411" name="Object 27">
                        <a:extLst>
                          <a:ext uri="{FF2B5EF4-FFF2-40B4-BE49-F238E27FC236}">
                            <a16:creationId xmlns:a16="http://schemas.microsoft.com/office/drawing/2014/main" id="{3A849513-D5A8-D458-5223-2C6896B85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2600" y="1454150"/>
                        <a:ext cx="19939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Object 28">
            <a:extLst>
              <a:ext uri="{FF2B5EF4-FFF2-40B4-BE49-F238E27FC236}">
                <a16:creationId xmlns:a16="http://schemas.microsoft.com/office/drawing/2014/main" id="{F03846FF-9E56-17BA-9283-B6A44A2214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838200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68300" imgH="381000" progId="Equation.3">
                  <p:embed/>
                </p:oleObj>
              </mc:Choice>
              <mc:Fallback>
                <p:oleObj name="Equation" r:id="rId19" imgW="368300" imgH="381000" progId="Equation.3">
                  <p:embed/>
                  <p:pic>
                    <p:nvPicPr>
                      <p:cNvPr id="16412" name="Object 28">
                        <a:extLst>
                          <a:ext uri="{FF2B5EF4-FFF2-40B4-BE49-F238E27FC236}">
                            <a16:creationId xmlns:a16="http://schemas.microsoft.com/office/drawing/2014/main" id="{F03846FF-9E56-17BA-9283-B6A44A2214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838200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>
            <a:extLst>
              <a:ext uri="{FF2B5EF4-FFF2-40B4-BE49-F238E27FC236}">
                <a16:creationId xmlns:a16="http://schemas.microsoft.com/office/drawing/2014/main" id="{7901C2B1-67B0-8676-2886-AA0C4D63D1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2286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85" imgH="368140" progId="Equation.3">
                  <p:embed/>
                </p:oleObj>
              </mc:Choice>
              <mc:Fallback>
                <p:oleObj name="Equation" r:id="rId21" imgW="495085" imgH="368140" progId="Equation.3">
                  <p:embed/>
                  <p:pic>
                    <p:nvPicPr>
                      <p:cNvPr id="16413" name="Object 29">
                        <a:extLst>
                          <a:ext uri="{FF2B5EF4-FFF2-40B4-BE49-F238E27FC236}">
                            <a16:creationId xmlns:a16="http://schemas.microsoft.com/office/drawing/2014/main" id="{7901C2B1-67B0-8676-2886-AA0C4D63D1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228600"/>
                        <a:ext cx="4937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4" name="Text Box 30">
            <a:extLst>
              <a:ext uri="{FF2B5EF4-FFF2-40B4-BE49-F238E27FC236}">
                <a16:creationId xmlns:a16="http://schemas.microsoft.com/office/drawing/2014/main" id="{F647896C-8B30-A3EC-73F0-AF7DC8960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28600"/>
            <a:ext cx="1898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Grammar</a:t>
            </a:r>
          </a:p>
        </p:txBody>
      </p:sp>
      <p:sp>
        <p:nvSpPr>
          <p:cNvPr id="16415" name="Text Box 36">
            <a:extLst>
              <a:ext uri="{FF2B5EF4-FFF2-40B4-BE49-F238E27FC236}">
                <a16:creationId xmlns:a16="http://schemas.microsoft.com/office/drawing/2014/main" id="{CEA10532-29F7-0359-52E0-10DB7615B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152400"/>
            <a:ext cx="1050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NFA</a:t>
            </a:r>
          </a:p>
        </p:txBody>
      </p:sp>
      <p:graphicFrame>
        <p:nvGraphicFramePr>
          <p:cNvPr id="16416" name="Object 38">
            <a:extLst>
              <a:ext uri="{FF2B5EF4-FFF2-40B4-BE49-F238E27FC236}">
                <a16:creationId xmlns:a16="http://schemas.microsoft.com/office/drawing/2014/main" id="{31B1FD1C-4CB0-0F1E-9BD2-7DB54726B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4800600"/>
          <a:ext cx="2832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832100" imgH="1168400" progId="Equation.3">
                  <p:embed/>
                </p:oleObj>
              </mc:Choice>
              <mc:Fallback>
                <p:oleObj name="Equation" r:id="rId23" imgW="2832100" imgH="1168400" progId="Equation.3">
                  <p:embed/>
                  <p:pic>
                    <p:nvPicPr>
                      <p:cNvPr id="16416" name="Object 38">
                        <a:extLst>
                          <a:ext uri="{FF2B5EF4-FFF2-40B4-BE49-F238E27FC236}">
                            <a16:creationId xmlns:a16="http://schemas.microsoft.com/office/drawing/2014/main" id="{31B1FD1C-4CB0-0F1E-9BD2-7DB54726B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800600"/>
                        <a:ext cx="28321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DA83104D-5D84-124F-758B-C9E56C5600A0}"/>
              </a:ext>
            </a:extLst>
          </p:cNvPr>
          <p:cNvGrpSpPr/>
          <p:nvPr/>
        </p:nvGrpSpPr>
        <p:grpSpPr>
          <a:xfrm>
            <a:off x="5834857" y="3191761"/>
            <a:ext cx="874712" cy="838656"/>
            <a:chOff x="7467600" y="3055949"/>
            <a:chExt cx="874712" cy="838656"/>
          </a:xfrm>
        </p:grpSpPr>
        <p:sp>
          <p:nvSpPr>
            <p:cNvPr id="3" name="Oval 9">
              <a:extLst>
                <a:ext uri="{FF2B5EF4-FFF2-40B4-BE49-F238E27FC236}">
                  <a16:creationId xmlns:a16="http://schemas.microsoft.com/office/drawing/2014/main" id="{9956E0ED-F081-4537-BA22-087A9BD59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055949"/>
              <a:ext cx="874712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4" name="Object 12">
              <a:extLst>
                <a:ext uri="{FF2B5EF4-FFF2-40B4-BE49-F238E27FC236}">
                  <a16:creationId xmlns:a16="http://schemas.microsoft.com/office/drawing/2014/main" id="{B7FDEA94-1A92-B73D-5B12-5C8BDB3FBE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200258"/>
                </p:ext>
              </p:extLst>
            </p:nvPr>
          </p:nvGraphicFramePr>
          <p:xfrm>
            <a:off x="7613650" y="3244850"/>
            <a:ext cx="520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520474" imgH="520474" progId="Equation.3">
                    <p:embed/>
                  </p:oleObj>
                </mc:Choice>
                <mc:Fallback>
                  <p:oleObj name="Equation" r:id="rId25" imgW="520474" imgH="520474" progId="Equation.3">
                    <p:embed/>
                    <p:pic>
                      <p:nvPicPr>
                        <p:cNvPr id="9227" name="Object 12">
                          <a:extLst>
                            <a:ext uri="{FF2B5EF4-FFF2-40B4-BE49-F238E27FC236}">
                              <a16:creationId xmlns:a16="http://schemas.microsoft.com/office/drawing/2014/main" id="{AA83982C-6B76-70F2-8182-B7DBA6C034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3650" y="3244850"/>
                          <a:ext cx="5207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44DE9AD3-B04A-C1B7-3F8F-787B36085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072300"/>
              <a:ext cx="58607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374F4BBF-2C5C-9F86-45FC-123B940CE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/>
              <a:t>In General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4668F26-547C-5E6D-78BB-7AEDD26B0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A right-linear grammar</a:t>
            </a:r>
          </a:p>
          <a:p>
            <a:endParaRPr lang="en-US" altLang="ar-SA"/>
          </a:p>
          <a:p>
            <a:r>
              <a:rPr lang="en-US" altLang="ar-SA"/>
              <a:t>has variables:</a:t>
            </a:r>
          </a:p>
          <a:p>
            <a:endParaRPr lang="en-US" altLang="ar-SA"/>
          </a:p>
          <a:p>
            <a:endParaRPr lang="en-US" altLang="ar-SA"/>
          </a:p>
          <a:p>
            <a:r>
              <a:rPr lang="en-US" altLang="ar-SA"/>
              <a:t>and productions: </a:t>
            </a:r>
          </a:p>
        </p:txBody>
      </p:sp>
      <p:graphicFrame>
        <p:nvGraphicFramePr>
          <p:cNvPr id="17413" name="Object 4">
            <a:extLst>
              <a:ext uri="{FF2B5EF4-FFF2-40B4-BE49-F238E27FC236}">
                <a16:creationId xmlns:a16="http://schemas.microsoft.com/office/drawing/2014/main" id="{22FCCA35-B07C-8A02-5A3F-2464EAE96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914400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" imgH="381000" progId="Equation.3">
                  <p:embed/>
                </p:oleObj>
              </mc:Choice>
              <mc:Fallback>
                <p:oleObj name="Equation" r:id="rId2" imgW="368300" imgH="381000" progId="Equation.3">
                  <p:embed/>
                  <p:pic>
                    <p:nvPicPr>
                      <p:cNvPr id="17413" name="Object 4">
                        <a:extLst>
                          <a:ext uri="{FF2B5EF4-FFF2-40B4-BE49-F238E27FC236}">
                            <a16:creationId xmlns:a16="http://schemas.microsoft.com/office/drawing/2014/main" id="{22FCCA35-B07C-8A02-5A3F-2464EAE960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914400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5">
            <a:extLst>
              <a:ext uri="{FF2B5EF4-FFF2-40B4-BE49-F238E27FC236}">
                <a16:creationId xmlns:a16="http://schemas.microsoft.com/office/drawing/2014/main" id="{E071B635-8817-6146-DE49-322BB45302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981201"/>
          <a:ext cx="2133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600" imgH="533400" progId="Equation.3">
                  <p:embed/>
                </p:oleObj>
              </mc:Choice>
              <mc:Fallback>
                <p:oleObj name="Equation" r:id="rId4" imgW="2133600" imgH="533400" progId="Equation.3">
                  <p:embed/>
                  <p:pic>
                    <p:nvPicPr>
                      <p:cNvPr id="17414" name="Object 5">
                        <a:extLst>
                          <a:ext uri="{FF2B5EF4-FFF2-40B4-BE49-F238E27FC236}">
                            <a16:creationId xmlns:a16="http://schemas.microsoft.com/office/drawing/2014/main" id="{E071B635-8817-6146-DE49-322BB4530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981201"/>
                        <a:ext cx="2133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6">
            <a:extLst>
              <a:ext uri="{FF2B5EF4-FFF2-40B4-BE49-F238E27FC236}">
                <a16:creationId xmlns:a16="http://schemas.microsoft.com/office/drawing/2014/main" id="{3A3C2D68-D0C8-09CE-4665-5DFDF6633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733800"/>
          <a:ext cx="322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25800" imgH="609600" progId="Equation.3">
                  <p:embed/>
                </p:oleObj>
              </mc:Choice>
              <mc:Fallback>
                <p:oleObj name="Equation" r:id="rId6" imgW="3225800" imgH="609600" progId="Equation.3">
                  <p:embed/>
                  <p:pic>
                    <p:nvPicPr>
                      <p:cNvPr id="17415" name="Object 6">
                        <a:extLst>
                          <a:ext uri="{FF2B5EF4-FFF2-40B4-BE49-F238E27FC236}">
                            <a16:creationId xmlns:a16="http://schemas.microsoft.com/office/drawing/2014/main" id="{3A3C2D68-D0C8-09CE-4665-5DFDF6633C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733800"/>
                        <a:ext cx="3225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7">
            <a:extLst>
              <a:ext uri="{FF2B5EF4-FFF2-40B4-BE49-F238E27FC236}">
                <a16:creationId xmlns:a16="http://schemas.microsoft.com/office/drawing/2014/main" id="{1C641A57-B489-A419-7C84-74853DE3F1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5562601"/>
          <a:ext cx="28067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06700" imgH="533400" progId="Equation.3">
                  <p:embed/>
                </p:oleObj>
              </mc:Choice>
              <mc:Fallback>
                <p:oleObj name="Equation" r:id="rId8" imgW="2806700" imgH="533400" progId="Equation.3">
                  <p:embed/>
                  <p:pic>
                    <p:nvPicPr>
                      <p:cNvPr id="17416" name="Object 7">
                        <a:extLst>
                          <a:ext uri="{FF2B5EF4-FFF2-40B4-BE49-F238E27FC236}">
                            <a16:creationId xmlns:a16="http://schemas.microsoft.com/office/drawing/2014/main" id="{1C641A57-B489-A419-7C84-74853DE3F1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562601"/>
                        <a:ext cx="28067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8">
            <a:extLst>
              <a:ext uri="{FF2B5EF4-FFF2-40B4-BE49-F238E27FC236}">
                <a16:creationId xmlns:a16="http://schemas.microsoft.com/office/drawing/2014/main" id="{3340F555-20A0-1379-492C-ECA9D13EB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4648200"/>
            <a:ext cx="593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or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9D12361E-7390-8049-CB0D-B9254F3FC9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810" y="-709"/>
            <a:ext cx="10812379" cy="633734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4B1BBF53-E911-C105-E28D-C36AF8B01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ar-SA"/>
              <a:t>We construct the NFA         such that:</a:t>
            </a:r>
          </a:p>
          <a:p>
            <a:endParaRPr lang="en-US" altLang="ar-SA"/>
          </a:p>
          <a:p>
            <a:r>
              <a:rPr lang="en-US" altLang="ar-SA"/>
              <a:t>each  variable         corresponds to a node: </a:t>
            </a:r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F8C71740-EEDC-3341-1448-E1EEE51A9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914400"/>
          <a:ext cx="4937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85" imgH="368140" progId="Equation.3">
                  <p:embed/>
                </p:oleObj>
              </mc:Choice>
              <mc:Fallback>
                <p:oleObj name="Equation" r:id="rId2" imgW="495085" imgH="368140" progId="Equation.3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F8C71740-EEDC-3341-1448-E1EEE51A9D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914400"/>
                        <a:ext cx="4937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6">
            <a:extLst>
              <a:ext uri="{FF2B5EF4-FFF2-40B4-BE49-F238E27FC236}">
                <a16:creationId xmlns:a16="http://schemas.microsoft.com/office/drawing/2014/main" id="{02B09E67-9E45-7D93-9317-23EB07D74F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1981201"/>
          <a:ext cx="3540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446" imgH="533169" progId="Equation.3">
                  <p:embed/>
                </p:oleObj>
              </mc:Choice>
              <mc:Fallback>
                <p:oleObj name="Equation" r:id="rId4" imgW="355446" imgH="533169" progId="Equation.3">
                  <p:embed/>
                  <p:pic>
                    <p:nvPicPr>
                      <p:cNvPr id="18437" name="Object 6">
                        <a:extLst>
                          <a:ext uri="{FF2B5EF4-FFF2-40B4-BE49-F238E27FC236}">
                            <a16:creationId xmlns:a16="http://schemas.microsoft.com/office/drawing/2014/main" id="{02B09E67-9E45-7D93-9317-23EB07D74F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981201"/>
                        <a:ext cx="3540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Oval 9">
            <a:extLst>
              <a:ext uri="{FF2B5EF4-FFF2-40B4-BE49-F238E27FC236}">
                <a16:creationId xmlns:a16="http://schemas.microsoft.com/office/drawing/2014/main" id="{6AAC852D-9A17-11B3-0497-291FCCD7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7798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8439" name="Object 10">
            <a:extLst>
              <a:ext uri="{FF2B5EF4-FFF2-40B4-BE49-F238E27FC236}">
                <a16:creationId xmlns:a16="http://schemas.microsoft.com/office/drawing/2014/main" id="{5850C0EC-B47C-33B3-7BB5-55DF39FF0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9901" y="38862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13" imgH="533169" progId="Equation.3">
                  <p:embed/>
                </p:oleObj>
              </mc:Choice>
              <mc:Fallback>
                <p:oleObj name="Equation" r:id="rId6" imgW="431613" imgH="533169" progId="Equation.3">
                  <p:embed/>
                  <p:pic>
                    <p:nvPicPr>
                      <p:cNvPr id="18439" name="Object 10">
                        <a:extLst>
                          <a:ext uri="{FF2B5EF4-FFF2-40B4-BE49-F238E27FC236}">
                            <a16:creationId xmlns:a16="http://schemas.microsoft.com/office/drawing/2014/main" id="{5850C0EC-B47C-33B3-7BB5-55DF39FF02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1" y="38862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Line 12">
            <a:extLst>
              <a:ext uri="{FF2B5EF4-FFF2-40B4-BE49-F238E27FC236}">
                <a16:creationId xmlns:a16="http://schemas.microsoft.com/office/drawing/2014/main" id="{FBBFA7FA-1E5D-96ED-3199-C3F1843B8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4268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41" name="Oval 15">
            <a:extLst>
              <a:ext uri="{FF2B5EF4-FFF2-40B4-BE49-F238E27FC236}">
                <a16:creationId xmlns:a16="http://schemas.microsoft.com/office/drawing/2014/main" id="{28106F49-3E53-21CF-17BD-1A1E3690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0940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2" name="Oval 16">
            <a:extLst>
              <a:ext uri="{FF2B5EF4-FFF2-40B4-BE49-F238E27FC236}">
                <a16:creationId xmlns:a16="http://schemas.microsoft.com/office/drawing/2014/main" id="{69052804-FE62-C87F-03EB-CD4505CA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0752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3" name="Oval 17">
            <a:extLst>
              <a:ext uri="{FF2B5EF4-FFF2-40B4-BE49-F238E27FC236}">
                <a16:creationId xmlns:a16="http://schemas.microsoft.com/office/drawing/2014/main" id="{BD2C4B90-301E-9EB2-83A0-781B1F511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0940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4" name="Oval 18">
            <a:extLst>
              <a:ext uri="{FF2B5EF4-FFF2-40B4-BE49-F238E27FC236}">
                <a16:creationId xmlns:a16="http://schemas.microsoft.com/office/drawing/2014/main" id="{70760DD5-9934-9E17-D361-55F7CC255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3038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5" name="Oval 19">
            <a:extLst>
              <a:ext uri="{FF2B5EF4-FFF2-40B4-BE49-F238E27FC236}">
                <a16:creationId xmlns:a16="http://schemas.microsoft.com/office/drawing/2014/main" id="{E871C5FF-C077-9CDA-C99D-2D60DEB2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4313249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8446" name="Object 20">
            <a:extLst>
              <a:ext uri="{FF2B5EF4-FFF2-40B4-BE49-F238E27FC236}">
                <a16:creationId xmlns:a16="http://schemas.microsoft.com/office/drawing/2014/main" id="{3F7F3347-7D37-9648-2316-A16D97451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0450" y="4464050"/>
          <a:ext cx="520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474" imgH="520474" progId="Equation.3">
                  <p:embed/>
                </p:oleObj>
              </mc:Choice>
              <mc:Fallback>
                <p:oleObj name="Equation" r:id="rId8" imgW="520474" imgH="520474" progId="Equation.3">
                  <p:embed/>
                  <p:pic>
                    <p:nvPicPr>
                      <p:cNvPr id="18446" name="Object 20">
                        <a:extLst>
                          <a:ext uri="{FF2B5EF4-FFF2-40B4-BE49-F238E27FC236}">
                            <a16:creationId xmlns:a16="http://schemas.microsoft.com/office/drawing/2014/main" id="{3F7F3347-7D37-9648-2316-A16D97451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0450" y="4464050"/>
                        <a:ext cx="520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22">
            <a:extLst>
              <a:ext uri="{FF2B5EF4-FFF2-40B4-BE49-F238E27FC236}">
                <a16:creationId xmlns:a16="http://schemas.microsoft.com/office/drawing/2014/main" id="{BB1AB09C-8C05-BB81-A90B-0FB4383157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200400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300" imgH="520700" progId="Equation.3">
                  <p:embed/>
                </p:oleObj>
              </mc:Choice>
              <mc:Fallback>
                <p:oleObj name="Equation" r:id="rId10" imgW="368300" imgH="520700" progId="Equation.3">
                  <p:embed/>
                  <p:pic>
                    <p:nvPicPr>
                      <p:cNvPr id="18447" name="Object 22">
                        <a:extLst>
                          <a:ext uri="{FF2B5EF4-FFF2-40B4-BE49-F238E27FC236}">
                            <a16:creationId xmlns:a16="http://schemas.microsoft.com/office/drawing/2014/main" id="{BB1AB09C-8C05-BB81-A90B-0FB438315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200400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8" name="Object 23">
            <a:extLst>
              <a:ext uri="{FF2B5EF4-FFF2-40B4-BE49-F238E27FC236}">
                <a16:creationId xmlns:a16="http://schemas.microsoft.com/office/drawing/2014/main" id="{0126BEA7-8971-ADCA-3214-2FD4D3D1E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5638" y="5257800"/>
          <a:ext cx="430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1613" imgH="520474" progId="Equation.3">
                  <p:embed/>
                </p:oleObj>
              </mc:Choice>
              <mc:Fallback>
                <p:oleObj name="Equation" r:id="rId12" imgW="431613" imgH="520474" progId="Equation.3">
                  <p:embed/>
                  <p:pic>
                    <p:nvPicPr>
                      <p:cNvPr id="18448" name="Object 23">
                        <a:extLst>
                          <a:ext uri="{FF2B5EF4-FFF2-40B4-BE49-F238E27FC236}">
                            <a16:creationId xmlns:a16="http://schemas.microsoft.com/office/drawing/2014/main" id="{0126BEA7-8971-ADCA-3214-2FD4D3D1E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5257800"/>
                        <a:ext cx="430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24">
            <a:extLst>
              <a:ext uri="{FF2B5EF4-FFF2-40B4-BE49-F238E27FC236}">
                <a16:creationId xmlns:a16="http://schemas.microsoft.com/office/drawing/2014/main" id="{8BD50523-E154-E022-24FE-26EAE9981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6738" y="3271838"/>
          <a:ext cx="4048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224" imgH="533169" progId="Equation.3">
                  <p:embed/>
                </p:oleObj>
              </mc:Choice>
              <mc:Fallback>
                <p:oleObj name="Equation" r:id="rId14" imgW="406224" imgH="533169" progId="Equation.3">
                  <p:embed/>
                  <p:pic>
                    <p:nvPicPr>
                      <p:cNvPr id="18449" name="Object 24">
                        <a:extLst>
                          <a:ext uri="{FF2B5EF4-FFF2-40B4-BE49-F238E27FC236}">
                            <a16:creationId xmlns:a16="http://schemas.microsoft.com/office/drawing/2014/main" id="{8BD50523-E154-E022-24FE-26EAE9981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8" y="3271838"/>
                        <a:ext cx="4048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25">
            <a:extLst>
              <a:ext uri="{FF2B5EF4-FFF2-40B4-BE49-F238E27FC236}">
                <a16:creationId xmlns:a16="http://schemas.microsoft.com/office/drawing/2014/main" id="{E98D3DCC-9028-6C94-DA84-113EA44EC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9238" y="5486400"/>
          <a:ext cx="4302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613" imgH="520474" progId="Equation.3">
                  <p:embed/>
                </p:oleObj>
              </mc:Choice>
              <mc:Fallback>
                <p:oleObj name="Equation" r:id="rId16" imgW="431613" imgH="520474" progId="Equation.3">
                  <p:embed/>
                  <p:pic>
                    <p:nvPicPr>
                      <p:cNvPr id="18450" name="Object 25">
                        <a:extLst>
                          <a:ext uri="{FF2B5EF4-FFF2-40B4-BE49-F238E27FC236}">
                            <a16:creationId xmlns:a16="http://schemas.microsoft.com/office/drawing/2014/main" id="{E98D3DCC-9028-6C94-DA84-113EA44EC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5486400"/>
                        <a:ext cx="4302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Oval 26">
            <a:extLst>
              <a:ext uri="{FF2B5EF4-FFF2-40B4-BE49-F238E27FC236}">
                <a16:creationId xmlns:a16="http://schemas.microsoft.com/office/drawing/2014/main" id="{736AF0B0-AB9D-F324-DEA1-BEA8E4D3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313248"/>
            <a:ext cx="259766" cy="82230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E1C03AEB-180A-8DC1-D0CA-2C43A085BB1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6320" y="16042"/>
            <a:ext cx="10513995" cy="62885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7DAB92E-BEF4-5F69-4464-D19D80A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770D294-5819-954F-2A82-0C89D05D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4BBC90E4-CEB5-4AFA-A9C8-EF5CD599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7" y="449179"/>
            <a:ext cx="11261558" cy="564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137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E045AFE-67E8-92DF-0693-95671AFD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75BA1CE-6A68-81BB-10D6-3F538063D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9772BB7C-FCDF-F68D-E88D-3C3A02A8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7" y="220043"/>
            <a:ext cx="11405937" cy="60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198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3205849-D65B-B5CD-5DC1-9BD374BF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8E8E4E-1929-F5EE-1088-592F1D130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E837EB5D-C607-F1BD-126F-0F30A03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0" y="286603"/>
            <a:ext cx="10706500" cy="571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84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8CD9098-0EAC-3390-9233-2C364B84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0795D3-0C5B-2B0D-30C3-03A3580A2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C34104E8-C709-7950-DC7A-1917EA0B8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3" y="119429"/>
            <a:ext cx="11229473" cy="607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124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C88314E-BE90-D876-76DF-C9056482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2708922-350E-0B04-2E41-9620CE2A3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F2BA44E5-86F2-14E2-9641-D0476800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41" y="286603"/>
            <a:ext cx="10928454" cy="609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36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152A79E-3B3D-A7A7-89CD-BEBB34DA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30B6273-157B-614A-7D3F-7CECD764A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5358625-1254-99C4-F178-9360FF37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9" y="286604"/>
            <a:ext cx="10632097" cy="590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405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C58DCD-BC83-DD70-BE0C-D2B2287F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1648D0A-888C-2466-E936-861E42423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153DE0CB-7E86-5E4E-1D1C-BF37C7C2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04" y="286603"/>
            <a:ext cx="11100045" cy="600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55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95E5C38-4127-4FCF-02B8-E5FE0B7E2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E686CBE-27A7-D1AF-BDA4-7B8CE5FE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2DD251BC-57D1-C6B6-5FFB-01C9D7CFC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7" y="286603"/>
            <a:ext cx="11213431" cy="61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170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8BA9218-7C9D-ACAC-BC0B-F0AA15E1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006103-DB8F-87BD-2F59-6ECD7F192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0C11838A-A81D-0A5D-0AFD-A71B3A5A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4"/>
            <a:ext cx="10786712" cy="59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143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388AC5-4071-7DF8-6EAD-46CFBAB1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03E3F8F-379B-DD6B-619E-BC9C42042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033A49E5-39B8-54BC-9628-3FC79C332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19" y="286603"/>
            <a:ext cx="10770669" cy="56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382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عنوان 1">
            <a:extLst>
              <a:ext uri="{FF2B5EF4-FFF2-40B4-BE49-F238E27FC236}">
                <a16:creationId xmlns:a16="http://schemas.microsoft.com/office/drawing/2014/main" id="{4F3B417A-973A-E33C-CE63-9B9C2992B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ar-SA" altLang="ar-SA"/>
              <a:t>تمرين</a:t>
            </a:r>
          </a:p>
        </p:txBody>
      </p:sp>
      <p:pic>
        <p:nvPicPr>
          <p:cNvPr id="29699" name="عنصر نائب للمحتوى 4">
            <a:extLst>
              <a:ext uri="{FF2B5EF4-FFF2-40B4-BE49-F238E27FC236}">
                <a16:creationId xmlns:a16="http://schemas.microsoft.com/office/drawing/2014/main" id="{41D7DF00-9927-D46F-03F2-3FE461B7D8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6953" y="2093560"/>
            <a:ext cx="9060180" cy="4010025"/>
          </a:xfr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>
            <a:extLst>
              <a:ext uri="{FF2B5EF4-FFF2-40B4-BE49-F238E27FC236}">
                <a16:creationId xmlns:a16="http://schemas.microsoft.com/office/drawing/2014/main" id="{BCAFC4AF-DB65-439D-B080-BB49C9198F4F}"/>
              </a:ext>
            </a:extLst>
          </p:cNvPr>
          <p:cNvSpPr txBox="1">
            <a:spLocks/>
          </p:cNvSpPr>
          <p:nvPr/>
        </p:nvSpPr>
        <p:spPr>
          <a:xfrm>
            <a:off x="293452" y="183074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588E09D2-3829-4F22-B697-E4A244481631}"/>
              </a:ext>
            </a:extLst>
          </p:cNvPr>
          <p:cNvSpPr/>
          <p:nvPr/>
        </p:nvSpPr>
        <p:spPr>
          <a:xfrm>
            <a:off x="116732" y="1819871"/>
            <a:ext cx="120752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Reducibility Automaton </a:t>
            </a:r>
          </a:p>
          <a:p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Equivalence Automatons</a:t>
            </a:r>
          </a:p>
          <a:p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Chomsky Hierarchy</a:t>
            </a:r>
          </a:p>
          <a:p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Sequential Machines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Mealy and Moor Sequential Machines  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Sequential function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ar-SA" sz="2800" dirty="0">
                <a:solidFill>
                  <a:srgbClr val="008000"/>
                </a:solidFill>
                <a:cs typeface="+mj-cs"/>
              </a:rPr>
              <a:t>Analysis Machines </a:t>
            </a:r>
          </a:p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Context-Free Grammar (CFG)</a:t>
            </a:r>
            <a:endParaRPr lang="en-US" altLang="ar-SA" sz="2800" dirty="0">
              <a:solidFill>
                <a:srgbClr val="008000"/>
              </a:solidFill>
              <a:cs typeface="+mj-cs"/>
            </a:endParaRPr>
          </a:p>
          <a:p>
            <a:endParaRPr lang="en-US" altLang="ar-SA" sz="2800" dirty="0">
              <a:solidFill>
                <a:srgbClr val="008000"/>
              </a:solidFill>
              <a:cs typeface="+mj-cs"/>
            </a:endParaRPr>
          </a:p>
          <a:p>
            <a:endParaRPr lang="en-US" altLang="ar-SA" sz="2800" dirty="0">
              <a:solidFill>
                <a:srgbClr val="008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0729835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8726</TotalTime>
  <Words>2552</Words>
  <Application>Microsoft Office PowerPoint</Application>
  <PresentationFormat>شاشة عريضة</PresentationFormat>
  <Paragraphs>388</Paragraphs>
  <Slides>78</Slides>
  <Notes>1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2</vt:i4>
      </vt:variant>
      <vt:variant>
        <vt:lpstr>عناوين الشرائح</vt:lpstr>
      </vt:variant>
      <vt:variant>
        <vt:i4>78</vt:i4>
      </vt:variant>
    </vt:vector>
  </HeadingPairs>
  <TitlesOfParts>
    <vt:vector size="88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أثر رجعي</vt:lpstr>
      <vt:lpstr>Equation</vt:lpstr>
      <vt:lpstr>معادلة</vt:lpstr>
      <vt:lpstr>Formal Grammar</vt:lpstr>
      <vt:lpstr>Syllabus</vt:lpstr>
      <vt:lpstr>Introduction </vt:lpstr>
      <vt:lpstr>Why is grammar important in computing theory?</vt:lpstr>
      <vt:lpstr>Definition of Grammar </vt:lpstr>
      <vt:lpstr>Definition of Grammar </vt:lpstr>
      <vt:lpstr>Definition of Grammar </vt:lpstr>
      <vt:lpstr>Production Rules</vt:lpstr>
      <vt:lpstr>Production Rules</vt:lpstr>
      <vt:lpstr>Example</vt:lpstr>
      <vt:lpstr>Derivation</vt:lpstr>
      <vt:lpstr>Derivation</vt:lpstr>
      <vt:lpstr>More Notation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Examples</vt:lpstr>
      <vt:lpstr>Another Example</vt:lpstr>
      <vt:lpstr>عرض تقديمي في PowerPoint</vt:lpstr>
      <vt:lpstr>Example</vt:lpstr>
      <vt:lpstr>Context-free grammar</vt:lpstr>
      <vt:lpstr>Language of a Grammar</vt:lpstr>
      <vt:lpstr>Language of a Grammar</vt:lpstr>
      <vt:lpstr>Linear grammar</vt:lpstr>
      <vt:lpstr>Another Linear Grammar</vt:lpstr>
      <vt:lpstr>Right-Linear Grammars</vt:lpstr>
      <vt:lpstr>Left-Linear Grammars</vt:lpstr>
      <vt:lpstr>Regular grammar</vt:lpstr>
      <vt:lpstr>Regular Grammar</vt:lpstr>
      <vt:lpstr>Another formalism for regular languages</vt:lpstr>
      <vt:lpstr>Regular Grammars</vt:lpstr>
      <vt:lpstr>عرض تقديمي في PowerPoint</vt:lpstr>
      <vt:lpstr>Observation</vt:lpstr>
      <vt:lpstr>Observation</vt:lpstr>
      <vt:lpstr>Theorem</vt:lpstr>
      <vt:lpstr>Example 1</vt:lpstr>
      <vt:lpstr>Example 2 (1)</vt:lpstr>
      <vt:lpstr>Example 2 (2)</vt:lpstr>
      <vt:lpstr>Example 3 (2)</vt:lpstr>
      <vt:lpstr>Theorem 1(1)   G                      NDFA</vt:lpstr>
      <vt:lpstr>عرض تقديمي في PowerPoint</vt:lpstr>
      <vt:lpstr>Theorem 1(3)  G                      NDFA</vt:lpstr>
      <vt:lpstr>Theorem 1(4)  G                      NDFA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Three  ways of specifying regular languages</vt:lpstr>
      <vt:lpstr> Regular Grammars  Generate Regular Languages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In General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تمرين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Qursan</dc:creator>
  <cp:lastModifiedBy>Qursan</cp:lastModifiedBy>
  <cp:revision>409</cp:revision>
  <dcterms:created xsi:type="dcterms:W3CDTF">2025-11-01T19:28:28Z</dcterms:created>
  <dcterms:modified xsi:type="dcterms:W3CDTF">2026-08-19T21:09:00Z</dcterms:modified>
</cp:coreProperties>
</file>